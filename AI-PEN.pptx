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88" r:id="rId2"/>
    <p:sldId id="258" r:id="rId3"/>
    <p:sldId id="259" r:id="rId4"/>
    <p:sldId id="289" r:id="rId5"/>
    <p:sldId id="261" r:id="rId6"/>
    <p:sldId id="290" r:id="rId7"/>
    <p:sldId id="291" r:id="rId8"/>
    <p:sldId id="292" r:id="rId9"/>
    <p:sldId id="294" r:id="rId10"/>
    <p:sldId id="262" r:id="rId11"/>
    <p:sldId id="295" r:id="rId12"/>
    <p:sldId id="296" r:id="rId13"/>
    <p:sldId id="263" r:id="rId14"/>
    <p:sldId id="297" r:id="rId15"/>
    <p:sldId id="264" r:id="rId16"/>
    <p:sldId id="265" r:id="rId17"/>
    <p:sldId id="266" r:id="rId18"/>
    <p:sldId id="298" r:id="rId19"/>
    <p:sldId id="267" r:id="rId20"/>
    <p:sldId id="268" r:id="rId21"/>
    <p:sldId id="302" r:id="rId22"/>
    <p:sldId id="303" r:id="rId23"/>
    <p:sldId id="304" r:id="rId24"/>
    <p:sldId id="305" r:id="rId25"/>
    <p:sldId id="270" r:id="rId26"/>
    <p:sldId id="271" r:id="rId27"/>
    <p:sldId id="280" r:id="rId28"/>
    <p:sldId id="306" r:id="rId29"/>
    <p:sldId id="307" r:id="rId30"/>
    <p:sldId id="300" r:id="rId31"/>
    <p:sldId id="301" r:id="rId32"/>
    <p:sldId id="299" r:id="rId33"/>
    <p:sldId id="310" r:id="rId34"/>
    <p:sldId id="309" r:id="rId35"/>
    <p:sldId id="308" r:id="rId36"/>
    <p:sldId id="278" r:id="rId37"/>
    <p:sldId id="269" r:id="rId38"/>
    <p:sldId id="279" r:id="rId39"/>
    <p:sldId id="281" r:id="rId40"/>
    <p:sldId id="282" r:id="rId41"/>
    <p:sldId id="283" r:id="rId42"/>
    <p:sldId id="311" r:id="rId43"/>
    <p:sldId id="285" r:id="rId4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F"/>
    <a:srgbClr val="D7D7D7"/>
    <a:srgbClr val="E8F0F8"/>
    <a:srgbClr val="1F3864"/>
    <a:srgbClr val="FFFFFF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CBBA1-18FD-4AEB-9F7F-0776D3551A8D}" type="datetimeFigureOut">
              <a:rPr lang="zh-TW" altLang="en-US" smtClean="0"/>
              <a:t>2026/5/12 Tuesday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3F2C1-E825-4849-9C72-7F763F157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471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>
            <a:extLst>
              <a:ext uri="{FF2B5EF4-FFF2-40B4-BE49-F238E27FC236}">
                <a16:creationId xmlns:a16="http://schemas.microsoft.com/office/drawing/2014/main" id="{397DD397-B738-B2F6-7E79-7D006E7DEC60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1C2E2C-1492-4365-5DDA-77BA997388DA}"/>
              </a:ext>
            </a:extLst>
          </p:cNvPr>
          <p:cNvSpPr/>
          <p:nvPr userDrawn="1"/>
        </p:nvSpPr>
        <p:spPr>
          <a:xfrm>
            <a:off x="0" y="-2"/>
            <a:ext cx="7132320" cy="685800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4F1305C-99C4-C961-C904-6CD4CFBE197A}"/>
              </a:ext>
            </a:extLst>
          </p:cNvPr>
          <p:cNvSpPr/>
          <p:nvPr userDrawn="1"/>
        </p:nvSpPr>
        <p:spPr>
          <a:xfrm>
            <a:off x="7132320" y="0"/>
            <a:ext cx="164592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5CBCDCB-8F1F-59A3-119B-7B5151D17A4B}"/>
              </a:ext>
            </a:extLst>
          </p:cNvPr>
          <p:cNvSpPr/>
          <p:nvPr userDrawn="1"/>
        </p:nvSpPr>
        <p:spPr>
          <a:xfrm>
            <a:off x="0" y="6344920"/>
            <a:ext cx="7132320" cy="51308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E75B6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EB744970-30BF-DDB1-82CA-2C64B8E7777E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CCFB93D-DA6B-D73E-CDC1-134810AA8983}"/>
              </a:ext>
            </a:extLst>
          </p:cNvPr>
          <p:cNvSpPr/>
          <p:nvPr userDrawn="1"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12F545-83D2-4FF9-F098-830DB4601EEE}"/>
              </a:ext>
            </a:extLst>
          </p:cNvPr>
          <p:cNvSpPr/>
          <p:nvPr userDrawn="1"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1FCB4-B368-297B-0D90-2D6FC79060E0}"/>
              </a:ext>
            </a:extLst>
          </p:cNvPr>
          <p:cNvSpPr txBox="1"/>
          <p:nvPr userDrawn="1"/>
        </p:nvSpPr>
        <p:spPr>
          <a:xfrm>
            <a:off x="274320" y="653796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1000" b="1" i="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HUB-8735Ultra</a:t>
            </a:r>
            <a:r>
              <a:rPr lang="en-US" altLang="zh-TW" sz="10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x </a:t>
            </a:r>
            <a:r>
              <a:rPr lang="en-US" altLang="zh-TW" sz="1000" b="1" i="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HUB-PAA5163D </a:t>
            </a:r>
            <a:r>
              <a:rPr lang="zh-TW" altLang="en-US" sz="1000" b="1" i="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    </a:t>
            </a:r>
            <a:r>
              <a:rPr lang="en-US" altLang="zh-TW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HUB-PAA5163D </a:t>
            </a:r>
            <a:r>
              <a:rPr lang="zh-TW" altLang="en-US" sz="10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智慧軌跡筆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98C14524-C6A9-9146-441B-A5876E585E71}"/>
              </a:ext>
            </a:extLst>
          </p:cNvPr>
          <p:cNvSpPr/>
          <p:nvPr userDrawn="1"/>
        </p:nvSpPr>
        <p:spPr>
          <a:xfrm>
            <a:off x="0" y="1188720"/>
            <a:ext cx="91440" cy="53035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duino.cc/en/software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jpg"/><Relationship Id="rId5" Type="http://schemas.openxmlformats.org/officeDocument/2006/relationships/image" Target="../media/image21.png"/><Relationship Id="rId4" Type="http://schemas.openxmlformats.org/officeDocument/2006/relationships/image" Target="../media/image29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17E74C9C-2FEE-4047-3FB5-46DBA6EF72B8}"/>
              </a:ext>
            </a:extLst>
          </p:cNvPr>
          <p:cNvSpPr txBox="1"/>
          <p:nvPr/>
        </p:nvSpPr>
        <p:spPr>
          <a:xfrm>
            <a:off x="457200" y="822960"/>
            <a:ext cx="6400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0" b="1" i="0" dirty="0">
                <a:solidFill>
                  <a:srgbClr val="FFFFFF"/>
                </a:solidFill>
                <a:latin typeface="Microsoft JhengHei"/>
              </a:rPr>
              <a:t>AI-</a:t>
            </a:r>
            <a:r>
              <a:rPr lang="en-US" sz="6800" b="1" i="0" dirty="0">
                <a:solidFill>
                  <a:srgbClr val="FFFFFF"/>
                </a:solidFill>
                <a:latin typeface="Microsoft JhengHei"/>
              </a:rPr>
              <a:t>PEN</a:t>
            </a:r>
            <a:endParaRPr sz="68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5B4EA3C0-EDD2-5C67-6CA2-7D7BF0F575A1}"/>
              </a:ext>
            </a:extLst>
          </p:cNvPr>
          <p:cNvSpPr/>
          <p:nvPr/>
        </p:nvSpPr>
        <p:spPr>
          <a:xfrm>
            <a:off x="7498079" y="731520"/>
            <a:ext cx="4297680" cy="5943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5E1FD3CC-D7F1-05F8-6296-33124F47B6E2}"/>
              </a:ext>
            </a:extLst>
          </p:cNvPr>
          <p:cNvSpPr txBox="1"/>
          <p:nvPr/>
        </p:nvSpPr>
        <p:spPr>
          <a:xfrm>
            <a:off x="7589520" y="804672"/>
            <a:ext cx="4114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本專題</a:t>
            </a:r>
            <a:r>
              <a:rPr lang="zh-TW" altLang="en-US" sz="2400" b="1" i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使用的</a:t>
            </a:r>
            <a:r>
              <a:rPr lang="zh-TW" altLang="en-US" sz="2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元件清單</a:t>
            </a:r>
            <a:endParaRPr sz="2400" b="1" i="0" dirty="0">
              <a:solidFill>
                <a:srgbClr val="FFFFFF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7B0ADAD7-D98C-11F8-E231-C3922E4A435C}"/>
              </a:ext>
            </a:extLst>
          </p:cNvPr>
          <p:cNvSpPr/>
          <p:nvPr/>
        </p:nvSpPr>
        <p:spPr>
          <a:xfrm>
            <a:off x="7498079" y="1417320"/>
            <a:ext cx="4297680" cy="9601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3">
            <a:extLst>
              <a:ext uri="{FF2B5EF4-FFF2-40B4-BE49-F238E27FC236}">
                <a16:creationId xmlns:a16="http://schemas.microsoft.com/office/drawing/2014/main" id="{E4D5C851-F577-6E8A-A1C1-9ACDB3DB1093}"/>
              </a:ext>
            </a:extLst>
          </p:cNvPr>
          <p:cNvSpPr/>
          <p:nvPr/>
        </p:nvSpPr>
        <p:spPr>
          <a:xfrm>
            <a:off x="7498079" y="1417320"/>
            <a:ext cx="109728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7BB492B2-C973-49F1-89B2-0002D83D0828}"/>
              </a:ext>
            </a:extLst>
          </p:cNvPr>
          <p:cNvSpPr txBox="1"/>
          <p:nvPr/>
        </p:nvSpPr>
        <p:spPr>
          <a:xfrm>
            <a:off x="8686800" y="1688274"/>
            <a:ext cx="301752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 dirty="0">
                <a:solidFill>
                  <a:srgbClr val="1F3864"/>
                </a:solidFill>
                <a:latin typeface="Microsoft JhengHei"/>
              </a:rPr>
              <a:t>HUB 8735 Ultra</a:t>
            </a:r>
          </a:p>
        </p:txBody>
      </p:sp>
      <p:sp>
        <p:nvSpPr>
          <p:cNvPr id="31" name="Rectangle 16">
            <a:extLst>
              <a:ext uri="{FF2B5EF4-FFF2-40B4-BE49-F238E27FC236}">
                <a16:creationId xmlns:a16="http://schemas.microsoft.com/office/drawing/2014/main" id="{EF3FB29B-3F6A-BFC0-A20C-2E10F4D28D1A}"/>
              </a:ext>
            </a:extLst>
          </p:cNvPr>
          <p:cNvSpPr/>
          <p:nvPr/>
        </p:nvSpPr>
        <p:spPr>
          <a:xfrm>
            <a:off x="7498079" y="2514600"/>
            <a:ext cx="4297680" cy="9601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D5A1EFEB-9EED-7EBA-3BC2-2F86CF9AF0A0}"/>
              </a:ext>
            </a:extLst>
          </p:cNvPr>
          <p:cNvSpPr/>
          <p:nvPr/>
        </p:nvSpPr>
        <p:spPr>
          <a:xfrm>
            <a:off x="7498079" y="2514600"/>
            <a:ext cx="109728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9">
            <a:extLst>
              <a:ext uri="{FF2B5EF4-FFF2-40B4-BE49-F238E27FC236}">
                <a16:creationId xmlns:a16="http://schemas.microsoft.com/office/drawing/2014/main" id="{091851F1-4DC2-2F87-551D-CE8AC407224D}"/>
              </a:ext>
            </a:extLst>
          </p:cNvPr>
          <p:cNvSpPr txBox="1"/>
          <p:nvPr/>
        </p:nvSpPr>
        <p:spPr>
          <a:xfrm>
            <a:off x="8686800" y="2654478"/>
            <a:ext cx="3017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2400" b="1" i="0">
                <a:solidFill>
                  <a:srgbClr val="1F3864"/>
                </a:solidFill>
                <a:latin typeface="Microsoft JhengHei"/>
              </a:defRPr>
            </a:lvl1pPr>
          </a:lstStyle>
          <a:p>
            <a:r>
              <a:rPr lang="en-US" sz="2000" dirty="0"/>
              <a:t>HUB-PAA5163D</a:t>
            </a:r>
            <a:r>
              <a:rPr sz="2000" dirty="0"/>
              <a:t> </a:t>
            </a:r>
            <a:endParaRPr lang="en-US" sz="2000" dirty="0"/>
          </a:p>
          <a:p>
            <a:r>
              <a:rPr sz="2000" dirty="0" err="1"/>
              <a:t>光學流量感測模組</a:t>
            </a:r>
            <a:endParaRPr sz="2000" dirty="0"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0C811087-D30D-4461-CB19-F8CE578C50FE}"/>
              </a:ext>
            </a:extLst>
          </p:cNvPr>
          <p:cNvSpPr/>
          <p:nvPr/>
        </p:nvSpPr>
        <p:spPr>
          <a:xfrm>
            <a:off x="7498079" y="3611880"/>
            <a:ext cx="4297680" cy="9601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21">
            <a:extLst>
              <a:ext uri="{FF2B5EF4-FFF2-40B4-BE49-F238E27FC236}">
                <a16:creationId xmlns:a16="http://schemas.microsoft.com/office/drawing/2014/main" id="{CF90D234-214D-B6FA-19D7-7C9F2CF44DC2}"/>
              </a:ext>
            </a:extLst>
          </p:cNvPr>
          <p:cNvSpPr/>
          <p:nvPr/>
        </p:nvSpPr>
        <p:spPr>
          <a:xfrm>
            <a:off x="7498079" y="3611880"/>
            <a:ext cx="109728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BDB680ED-541F-7833-1C95-B0C947CC0D77}"/>
              </a:ext>
            </a:extLst>
          </p:cNvPr>
          <p:cNvSpPr txBox="1"/>
          <p:nvPr/>
        </p:nvSpPr>
        <p:spPr>
          <a:xfrm>
            <a:off x="8686800" y="3687704"/>
            <a:ext cx="3017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2400" b="1" i="0">
                <a:solidFill>
                  <a:srgbClr val="1F3864"/>
                </a:solidFill>
                <a:latin typeface="Microsoft JhengHei"/>
              </a:defRPr>
            </a:lvl1pPr>
          </a:lstStyle>
          <a:p>
            <a:r>
              <a:rPr sz="2000" dirty="0"/>
              <a:t>SSD1306  </a:t>
            </a:r>
            <a:endParaRPr lang="en-US" sz="2000" dirty="0"/>
          </a:p>
          <a:p>
            <a:r>
              <a:rPr sz="2000" dirty="0"/>
              <a:t>128×32 OLED</a:t>
            </a:r>
          </a:p>
        </p:txBody>
      </p:sp>
      <p:sp>
        <p:nvSpPr>
          <p:cNvPr id="37" name="Rectangle 24">
            <a:extLst>
              <a:ext uri="{FF2B5EF4-FFF2-40B4-BE49-F238E27FC236}">
                <a16:creationId xmlns:a16="http://schemas.microsoft.com/office/drawing/2014/main" id="{5873CFC9-9838-32C0-FDAB-8309B96F430B}"/>
              </a:ext>
            </a:extLst>
          </p:cNvPr>
          <p:cNvSpPr/>
          <p:nvPr/>
        </p:nvSpPr>
        <p:spPr>
          <a:xfrm>
            <a:off x="7498079" y="4709160"/>
            <a:ext cx="4297680" cy="9601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25">
            <a:extLst>
              <a:ext uri="{FF2B5EF4-FFF2-40B4-BE49-F238E27FC236}">
                <a16:creationId xmlns:a16="http://schemas.microsoft.com/office/drawing/2014/main" id="{10F5E6E6-9AEF-FD84-CF43-A62BF029E642}"/>
              </a:ext>
            </a:extLst>
          </p:cNvPr>
          <p:cNvSpPr/>
          <p:nvPr/>
        </p:nvSpPr>
        <p:spPr>
          <a:xfrm>
            <a:off x="7498079" y="4709160"/>
            <a:ext cx="1097280" cy="9601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27">
            <a:extLst>
              <a:ext uri="{FF2B5EF4-FFF2-40B4-BE49-F238E27FC236}">
                <a16:creationId xmlns:a16="http://schemas.microsoft.com/office/drawing/2014/main" id="{DEBE9D89-CB20-7588-D8F2-197F7A1C5581}"/>
              </a:ext>
            </a:extLst>
          </p:cNvPr>
          <p:cNvSpPr txBox="1"/>
          <p:nvPr/>
        </p:nvSpPr>
        <p:spPr>
          <a:xfrm>
            <a:off x="8686800" y="4835276"/>
            <a:ext cx="30175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algn="ctr">
              <a:defRPr sz="2400" b="1" i="0">
                <a:solidFill>
                  <a:srgbClr val="1F3864"/>
                </a:solidFill>
                <a:latin typeface="Microsoft JhengHei"/>
              </a:defRPr>
            </a:lvl1pPr>
          </a:lstStyle>
          <a:p>
            <a:r>
              <a:rPr sz="2000" dirty="0"/>
              <a:t>YOLOv4-Tiny  </a:t>
            </a:r>
            <a:endParaRPr lang="en-US" sz="2000" dirty="0"/>
          </a:p>
          <a:p>
            <a:r>
              <a:rPr sz="2000" dirty="0"/>
              <a:t>14 </a:t>
            </a:r>
            <a:r>
              <a:rPr sz="2000" dirty="0" err="1"/>
              <a:t>類手寫識別</a:t>
            </a:r>
            <a:endParaRPr sz="2000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056FE434-BBD3-FC23-5366-7A0947C29E63}"/>
              </a:ext>
            </a:extLst>
          </p:cNvPr>
          <p:cNvSpPr txBox="1"/>
          <p:nvPr/>
        </p:nvSpPr>
        <p:spPr>
          <a:xfrm>
            <a:off x="7608137" y="17036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開發板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3FE26F2-F6D9-9784-F709-F51A67198191}"/>
              </a:ext>
            </a:extLst>
          </p:cNvPr>
          <p:cNvSpPr txBox="1"/>
          <p:nvPr/>
        </p:nvSpPr>
        <p:spPr>
          <a:xfrm>
            <a:off x="7608137" y="282375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感測器</a:t>
            </a: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AF221023-0777-97E6-3B3D-D5FE84862760}"/>
              </a:ext>
            </a:extLst>
          </p:cNvPr>
          <p:cNvSpPr txBox="1"/>
          <p:nvPr/>
        </p:nvSpPr>
        <p:spPr>
          <a:xfrm>
            <a:off x="7608137" y="39072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顯示器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004C095A-3BC1-97B0-C63F-961BCCED8B48}"/>
              </a:ext>
            </a:extLst>
          </p:cNvPr>
          <p:cNvSpPr txBox="1"/>
          <p:nvPr/>
        </p:nvSpPr>
        <p:spPr>
          <a:xfrm>
            <a:off x="7576076" y="5004553"/>
            <a:ext cx="941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Microsoft JhengHei"/>
              </a:rPr>
              <a:t>AI 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模型</a:t>
            </a: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394D7647-0425-DF2F-9D05-FC597D2CCCB2}"/>
              </a:ext>
            </a:extLst>
          </p:cNvPr>
          <p:cNvGrpSpPr>
            <a:grpSpLocks noChangeAspect="1"/>
          </p:cNvGrpSpPr>
          <p:nvPr/>
        </p:nvGrpSpPr>
        <p:grpSpPr>
          <a:xfrm>
            <a:off x="12700" y="6381812"/>
            <a:ext cx="2352676" cy="461665"/>
            <a:chOff x="7862315" y="6059668"/>
            <a:chExt cx="2311868" cy="453656"/>
          </a:xfrm>
        </p:grpSpPr>
        <p:pic>
          <p:nvPicPr>
            <p:cNvPr id="45" name="圖片 44">
              <a:extLst>
                <a:ext uri="{FF2B5EF4-FFF2-40B4-BE49-F238E27FC236}">
                  <a16:creationId xmlns:a16="http://schemas.microsoft.com/office/drawing/2014/main" id="{EB055C1F-E5E7-1FA9-240B-130F5F73F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7862315" y="6059668"/>
              <a:ext cx="410778" cy="397527"/>
            </a:xfrm>
            <a:prstGeom prst="rect">
              <a:avLst/>
            </a:prstGeom>
          </p:spPr>
        </p:pic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DEED1EDC-C7C0-9701-A6F9-584759536B3B}"/>
                </a:ext>
              </a:extLst>
            </p:cNvPr>
            <p:cNvSpPr txBox="1"/>
            <p:nvPr/>
          </p:nvSpPr>
          <p:spPr>
            <a:xfrm>
              <a:off x="8195981" y="6059668"/>
              <a:ext cx="1978202" cy="453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TW" altLang="en-US" sz="1200" b="1" dirty="0"/>
                <a:t>瑞創框架科技股份有限公司</a:t>
              </a:r>
              <a:endParaRPr lang="en-US" altLang="zh-TW" sz="1200" b="1" dirty="0"/>
            </a:p>
            <a:p>
              <a:pPr algn="dist"/>
              <a:r>
                <a:rPr lang="en-US" altLang="zh-TW" sz="1200" b="1" dirty="0" err="1"/>
                <a:t>Recsframe</a:t>
              </a:r>
              <a:r>
                <a:rPr lang="en-US" altLang="zh-TW" sz="1200" b="1" dirty="0"/>
                <a:t> Technology</a:t>
              </a:r>
            </a:p>
          </p:txBody>
        </p:sp>
      </p:grpSp>
      <p:sp>
        <p:nvSpPr>
          <p:cNvPr id="6" name="TextBox 9">
            <a:extLst>
              <a:ext uri="{FF2B5EF4-FFF2-40B4-BE49-F238E27FC236}">
                <a16:creationId xmlns:a16="http://schemas.microsoft.com/office/drawing/2014/main" id="{5B190F4A-F5B9-643A-AA35-D385804A8FB5}"/>
              </a:ext>
            </a:extLst>
          </p:cNvPr>
          <p:cNvSpPr txBox="1"/>
          <p:nvPr/>
        </p:nvSpPr>
        <p:spPr>
          <a:xfrm>
            <a:off x="462280" y="2088384"/>
            <a:ext cx="6400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000" b="1" i="0" dirty="0">
                <a:solidFill>
                  <a:srgbClr val="FFFFFF"/>
                </a:solidFill>
                <a:latin typeface="+mj-lt"/>
              </a:rPr>
              <a:t>國產</a:t>
            </a:r>
            <a:r>
              <a:rPr lang="en-US" altLang="zh-TW" sz="2000" b="1" i="0" dirty="0">
                <a:solidFill>
                  <a:srgbClr val="FFFFFF"/>
                </a:solidFill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rPr>
              <a:t>IC x </a:t>
            </a:r>
            <a:r>
              <a:rPr lang="en-US" altLang="zh-TW" sz="2000" b="1" i="0" dirty="0" err="1">
                <a:solidFill>
                  <a:srgbClr val="FFFFFF"/>
                </a:solidFill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rPr>
              <a:t>ALgoHUB</a:t>
            </a:r>
            <a:r>
              <a:rPr lang="en-US" altLang="zh-TW" sz="2000" b="1" i="0" dirty="0">
                <a:solidFill>
                  <a:srgbClr val="FFFFFF"/>
                </a:solidFill>
                <a:latin typeface="+mj-lt"/>
                <a:ea typeface="Arial Unicode MS" panose="020B0604020202020204" pitchFamily="34" charset="-120"/>
                <a:cs typeface="Arial Unicode MS" panose="020B0604020202020204" pitchFamily="34" charset="-120"/>
              </a:rPr>
              <a:t> </a:t>
            </a:r>
            <a:r>
              <a:rPr lang="zh-TW" altLang="en-US" sz="2000" b="1" i="0" dirty="0">
                <a:solidFill>
                  <a:srgbClr val="FFFFFF"/>
                </a:solidFill>
                <a:latin typeface="+mj-lt"/>
              </a:rPr>
              <a:t>智造實作日</a:t>
            </a:r>
            <a:endParaRPr lang="en-US" altLang="zh-TW" sz="2000" b="1" i="0" dirty="0">
              <a:solidFill>
                <a:srgbClr val="FFFFFF"/>
              </a:solidFill>
              <a:latin typeface="+mj-lt"/>
            </a:endParaRPr>
          </a:p>
          <a:p>
            <a:pPr algn="l"/>
            <a:endParaRPr lang="en-US" altLang="zh-TW" sz="2000" b="1" i="0" dirty="0">
              <a:solidFill>
                <a:srgbClr val="FFFFFF"/>
              </a:solidFill>
              <a:latin typeface="+mj-lt"/>
            </a:endParaRPr>
          </a:p>
          <a:p>
            <a:pPr algn="l"/>
            <a:r>
              <a:rPr lang="en-US" altLang="zh-TW" sz="2000" b="1" i="0" dirty="0">
                <a:solidFill>
                  <a:srgbClr val="FFFFFF"/>
                </a:solidFill>
                <a:latin typeface="+mj-lt"/>
              </a:rPr>
              <a:t>HUB-8735Ultra</a:t>
            </a:r>
            <a:r>
              <a:rPr lang="zh-TW" altLang="en-US" sz="2000" b="1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altLang="zh-TW" sz="2000" b="1" dirty="0">
                <a:solidFill>
                  <a:srgbClr val="FFFFFF"/>
                </a:solidFill>
                <a:latin typeface="+mj-lt"/>
              </a:rPr>
              <a:t>x</a:t>
            </a:r>
            <a:r>
              <a:rPr lang="zh-TW" altLang="en-US" sz="2000" b="1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US" altLang="zh-TW" sz="2000" b="1" i="0" dirty="0">
                <a:solidFill>
                  <a:srgbClr val="FFFFFF"/>
                </a:solidFill>
                <a:latin typeface="+mj-lt"/>
              </a:rPr>
              <a:t>HUB-PAA5163D</a:t>
            </a:r>
            <a:r>
              <a:rPr sz="2000" b="1" i="0" dirty="0">
                <a:solidFill>
                  <a:srgbClr val="FFFFFF"/>
                </a:solidFill>
                <a:latin typeface="+mj-lt"/>
              </a:rPr>
              <a:t> </a:t>
            </a:r>
            <a:endParaRPr lang="en-US" sz="2000" b="1" i="0" dirty="0">
              <a:solidFill>
                <a:srgbClr val="FFFFFF"/>
              </a:solidFill>
              <a:latin typeface="+mj-lt"/>
            </a:endParaRPr>
          </a:p>
          <a:p>
            <a:r>
              <a:rPr lang="en-US" altLang="zh-TW" sz="2000" dirty="0">
                <a:solidFill>
                  <a:srgbClr val="FFFFFF"/>
                </a:solidFill>
                <a:latin typeface="+mj-lt"/>
              </a:rPr>
              <a:t>HUB-PAA5163D </a:t>
            </a:r>
            <a:r>
              <a:rPr lang="zh-TW" altLang="en-US" sz="2000" dirty="0">
                <a:solidFill>
                  <a:srgbClr val="FFFFFF"/>
                </a:solidFill>
                <a:latin typeface="+mj-lt"/>
              </a:rPr>
              <a:t>智慧軌跡筆</a:t>
            </a:r>
            <a:endParaRPr lang="en-US" altLang="zh-TW" sz="2000" dirty="0">
              <a:solidFill>
                <a:srgbClr val="FFFF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61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2260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專題概述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340" y="1795706"/>
            <a:ext cx="530352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2780" y="185971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這個專題要解決什麼問題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337310"/>
            <a:ext cx="5303520" cy="109168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" y="3520440"/>
            <a:ext cx="530352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8"/>
            <a:ext cx="5029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Microsoft JhengHei"/>
              </a:rPr>
              <a:t>AI-</a:t>
            </a:r>
            <a:r>
              <a:rPr lang="en-US" sz="1400" b="1" i="0" dirty="0">
                <a:solidFill>
                  <a:srgbClr val="FFFFFF"/>
                </a:solidFill>
                <a:latin typeface="Microsoft JhengHei"/>
              </a:rPr>
              <a:t>PEN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的運作流程</a:t>
            </a:r>
            <a:endParaRPr sz="14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8600" y="402336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279392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7040" y="4039041"/>
            <a:ext cx="4846320" cy="2180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sz="1400" b="0" i="0" dirty="0">
                <a:solidFill>
                  <a:srgbClr val="1F3864"/>
                </a:solidFill>
                <a:latin typeface="Microsoft JhengHei"/>
              </a:rPr>
              <a:t>① </a:t>
            </a:r>
            <a:r>
              <a:rPr sz="1400" b="0" i="0" dirty="0" err="1">
                <a:solidFill>
                  <a:srgbClr val="1F3864"/>
                </a:solidFill>
                <a:latin typeface="Microsoft JhengHei"/>
              </a:rPr>
              <a:t>用筆在感測器上方書寫數字或運算符號</a:t>
            </a:r>
            <a:endParaRPr lang="en-US" sz="1400" b="0" i="0" dirty="0">
              <a:solidFill>
                <a:srgbClr val="1F3864"/>
              </a:solidFill>
              <a:latin typeface="Microsoft JhengHei"/>
            </a:endParaRPr>
          </a:p>
          <a:p>
            <a:pPr>
              <a:lnSpc>
                <a:spcPct val="200000"/>
              </a:lnSpc>
            </a:pP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② 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HUB-PAA5163D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 感測器捕捉筆尖移動軌跡（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X/Y 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座標）</a:t>
            </a:r>
            <a:endParaRPr lang="en-US" altLang="zh-TW" sz="1400" dirty="0">
              <a:solidFill>
                <a:srgbClr val="1F3864"/>
              </a:solidFill>
              <a:latin typeface="Microsoft JhengHei"/>
            </a:endParaRPr>
          </a:p>
          <a:p>
            <a:pPr>
              <a:lnSpc>
                <a:spcPct val="200000"/>
              </a:lnSpc>
            </a:pP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③ 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HUB 8735 Ultra 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將軌跡轉換成 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128×128 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點陣圖</a:t>
            </a:r>
          </a:p>
          <a:p>
            <a:pPr>
              <a:lnSpc>
                <a:spcPct val="200000"/>
              </a:lnSpc>
            </a:pP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④ 內建 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YOLOv4-Tiny 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模型辨識是哪個數字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/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符號</a:t>
            </a:r>
          </a:p>
          <a:p>
            <a:pPr>
              <a:lnSpc>
                <a:spcPct val="200000"/>
              </a:lnSpc>
            </a:pP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⑤ 累積算式後計算結果，顯示在 </a:t>
            </a:r>
            <a:r>
              <a:rPr lang="en-US" altLang="zh-TW" sz="1400" dirty="0">
                <a:solidFill>
                  <a:srgbClr val="1F3864"/>
                </a:solidFill>
                <a:latin typeface="Microsoft JhengHei"/>
              </a:rPr>
              <a:t>OLED </a:t>
            </a:r>
            <a:r>
              <a:rPr lang="zh-TW" altLang="en-US" sz="1400" dirty="0">
                <a:solidFill>
                  <a:srgbClr val="1F3864"/>
                </a:solidFill>
                <a:latin typeface="Microsoft JhengHei"/>
              </a:rPr>
              <a:t>螢幕上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709160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5138928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5568696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5998464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52790" y="5241544"/>
            <a:ext cx="2217654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+mj-lt"/>
              </a:rPr>
              <a:t>HUB-PAA5163D
</a:t>
            </a:r>
            <a:r>
              <a:rPr lang="zh-TW" altLang="en-US" b="1" dirty="0">
                <a:solidFill>
                  <a:srgbClr val="FFFFFF"/>
                </a:solidFill>
                <a:latin typeface="+mj-lt"/>
              </a:rPr>
              <a:t>光流感測器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56372" y="2252906"/>
            <a:ext cx="2217654" cy="10058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/>
              <a:t>SSD1306
OLED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6404" y="1280160"/>
            <a:ext cx="2232586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latin typeface="+mj-lt"/>
              </a:rPr>
              <a:t>SD </a:t>
            </a:r>
            <a:r>
              <a:rPr lang="zh-TW" altLang="en-US" b="1" dirty="0">
                <a:latin typeface="+mj-lt"/>
              </a:rPr>
              <a:t>卡
模型 </a:t>
            </a:r>
            <a:r>
              <a:rPr lang="en-US" altLang="zh-TW" b="1" dirty="0">
                <a:latin typeface="+mj-lt"/>
              </a:rPr>
              <a:t>+ </a:t>
            </a:r>
            <a:r>
              <a:rPr lang="zh-TW" altLang="en-US" b="1" dirty="0">
                <a:latin typeface="+mj-lt"/>
              </a:rPr>
              <a:t>資料</a:t>
            </a:r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D5C72C60-5846-FE5B-968B-9F1C9C95C334}"/>
              </a:ext>
            </a:extLst>
          </p:cNvPr>
          <p:cNvGrpSpPr/>
          <p:nvPr/>
        </p:nvGrpSpPr>
        <p:grpSpPr>
          <a:xfrm>
            <a:off x="5792587" y="2475705"/>
            <a:ext cx="2200222" cy="2142961"/>
            <a:chOff x="7861009" y="2412782"/>
            <a:chExt cx="2200222" cy="2142961"/>
          </a:xfrm>
        </p:grpSpPr>
        <p:sp>
          <p:nvSpPr>
            <p:cNvPr id="29" name="Rectangle 28"/>
            <p:cNvSpPr/>
            <p:nvPr/>
          </p:nvSpPr>
          <p:spPr>
            <a:xfrm>
              <a:off x="7861009" y="2412782"/>
              <a:ext cx="2200222" cy="2142961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8075087" y="2549492"/>
              <a:ext cx="1708993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>
                <a:defRPr b="1" i="0">
                  <a:solidFill>
                    <a:srgbClr val="FFFFFF"/>
                  </a:solidFill>
                  <a:latin typeface="Microsoft JhengHei"/>
                </a:defRPr>
              </a:lvl1pPr>
            </a:lstStyle>
            <a:p>
              <a:r>
                <a:rPr dirty="0">
                  <a:latin typeface="+mj-lt"/>
                </a:rPr>
                <a:t>HUB 8735 Ultra
</a:t>
              </a:r>
              <a:r>
                <a:rPr dirty="0" err="1">
                  <a:latin typeface="+mj-lt"/>
                </a:rPr>
                <a:t>主控板</a:t>
              </a:r>
              <a:endParaRPr dirty="0">
                <a:latin typeface="+mj-lt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8046720" y="3321304"/>
              <a:ext cx="1828800" cy="1005840"/>
            </a:xfrm>
            <a:prstGeom prst="rect">
              <a:avLst/>
            </a:prstGeom>
            <a:solidFill>
              <a:srgbClr val="C030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234350" y="3412744"/>
              <a:ext cx="1453539" cy="64633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>
              <a:defPPr>
                <a:defRPr lang="en-US"/>
              </a:defPPr>
              <a:lvl1pPr algn="ctr">
                <a:defRPr b="1" i="0">
                  <a:solidFill>
                    <a:srgbClr val="FFFFFF"/>
                  </a:solidFill>
                  <a:latin typeface="Microsoft JhengHei"/>
                </a:defRPr>
              </a:lvl1pPr>
            </a:lstStyle>
            <a:p>
              <a:r>
                <a:rPr lang="en-US" dirty="0">
                  <a:latin typeface="+mj-lt"/>
                </a:rPr>
                <a:t>YOLOv4-Tiny
AI </a:t>
              </a:r>
              <a:r>
                <a:rPr lang="zh-TW" altLang="en-US" dirty="0">
                  <a:latin typeface="+mj-lt"/>
                </a:rPr>
                <a:t>模型 </a:t>
              </a:r>
              <a:r>
                <a:rPr lang="en-US" altLang="zh-TW" dirty="0">
                  <a:latin typeface="+mj-lt"/>
                </a:rPr>
                <a:t>(.</a:t>
              </a:r>
              <a:r>
                <a:rPr lang="en-US" dirty="0" err="1">
                  <a:latin typeface="+mj-lt"/>
                </a:rPr>
                <a:t>nb</a:t>
              </a:r>
              <a:r>
                <a:rPr lang="en-US" dirty="0">
                  <a:latin typeface="+mj-lt"/>
                </a:rPr>
                <a:t>)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8138160" y="4064441"/>
              <a:ext cx="1645920" cy="3200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000" b="0" i="0">
                  <a:solidFill>
                    <a:srgbClr val="BDD7EE"/>
                  </a:solidFill>
                  <a:latin typeface="Microsoft JhengHei"/>
                </a:rPr>
                <a:t>推論</a:t>
              </a:r>
            </a:p>
          </p:txBody>
        </p:sp>
      </p:grpSp>
      <p:pic>
        <p:nvPicPr>
          <p:cNvPr id="4" name="圖片 3">
            <a:extLst>
              <a:ext uri="{FF2B5EF4-FFF2-40B4-BE49-F238E27FC236}">
                <a16:creationId xmlns:a16="http://schemas.microsoft.com/office/drawing/2014/main" id="{50700488-BD08-D860-439F-88DFB7FFE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670" r="34670"/>
          <a:stretch>
            <a:fillRect/>
          </a:stretch>
        </p:blipFill>
        <p:spPr>
          <a:xfrm>
            <a:off x="8146150" y="1179669"/>
            <a:ext cx="1247134" cy="5425111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25">
            <a:extLst>
              <a:ext uri="{FF2B5EF4-FFF2-40B4-BE49-F238E27FC236}">
                <a16:creationId xmlns:a16="http://schemas.microsoft.com/office/drawing/2014/main" id="{45E08BCD-9C76-23BE-56F7-F4E03F5C8F7A}"/>
              </a:ext>
            </a:extLst>
          </p:cNvPr>
          <p:cNvSpPr/>
          <p:nvPr/>
        </p:nvSpPr>
        <p:spPr>
          <a:xfrm>
            <a:off x="9852790" y="3877056"/>
            <a:ext cx="2217654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+mj-lt"/>
              </a:rPr>
              <a:t>微動按鈕模組</a:t>
            </a:r>
          </a:p>
        </p:txBody>
      </p: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E69038A2-C368-8071-A832-655C48E85A04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9124950" y="5744464"/>
            <a:ext cx="727840" cy="18846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679A475-3A10-0FEC-691A-70EA283091DE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8829675" y="4379976"/>
            <a:ext cx="1023115" cy="78638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接點: 肘形 48">
            <a:extLst>
              <a:ext uri="{FF2B5EF4-FFF2-40B4-BE49-F238E27FC236}">
                <a16:creationId xmlns:a16="http://schemas.microsoft.com/office/drawing/2014/main" id="{70BEE521-2800-7557-0DFB-24479CA2AE0A}"/>
              </a:ext>
            </a:extLst>
          </p:cNvPr>
          <p:cNvCxnSpPr>
            <a:cxnSpLocks/>
            <a:endCxn id="32" idx="1"/>
          </p:cNvCxnSpPr>
          <p:nvPr/>
        </p:nvCxnSpPr>
        <p:spPr>
          <a:xfrm flipV="1">
            <a:off x="8953500" y="2755826"/>
            <a:ext cx="902872" cy="13342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接點: 肘形 53">
            <a:extLst>
              <a:ext uri="{FF2B5EF4-FFF2-40B4-BE49-F238E27FC236}">
                <a16:creationId xmlns:a16="http://schemas.microsoft.com/office/drawing/2014/main" id="{BB21B114-0EA2-6782-F69C-14BF3529C005}"/>
              </a:ext>
            </a:extLst>
          </p:cNvPr>
          <p:cNvCxnSpPr>
            <a:cxnSpLocks/>
            <a:endCxn id="38" idx="3"/>
          </p:cNvCxnSpPr>
          <p:nvPr/>
        </p:nvCxnSpPr>
        <p:spPr>
          <a:xfrm rot="10800000">
            <a:off x="8008990" y="1783080"/>
            <a:ext cx="455560" cy="44280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6ABA37E2-EB0E-FC27-D1A6-5650118A6521}"/>
              </a:ext>
            </a:extLst>
          </p:cNvPr>
          <p:cNvCxnSpPr>
            <a:cxnSpLocks/>
            <a:stCxn id="61" idx="1"/>
            <a:endCxn id="29" idx="3"/>
          </p:cNvCxnSpPr>
          <p:nvPr/>
        </p:nvCxnSpPr>
        <p:spPr>
          <a:xfrm rot="10800000" flipV="1">
            <a:off x="7992810" y="2225888"/>
            <a:ext cx="494333" cy="1321298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D8B03B81-AA83-0E4C-222F-D8371E82562D}"/>
              </a:ext>
            </a:extLst>
          </p:cNvPr>
          <p:cNvSpPr/>
          <p:nvPr/>
        </p:nvSpPr>
        <p:spPr>
          <a:xfrm>
            <a:off x="8487142" y="1990975"/>
            <a:ext cx="565150" cy="46982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EE711C8B-D6CD-15F4-EB7B-22BF14549A0A}"/>
              </a:ext>
            </a:extLst>
          </p:cNvPr>
          <p:cNvSpPr txBox="1"/>
          <p:nvPr/>
        </p:nvSpPr>
        <p:spPr>
          <a:xfrm>
            <a:off x="222804" y="1187336"/>
            <a:ext cx="5340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本課程所需程式碼連結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https://github.com/mcgee0916/ai_pen</a:t>
            </a: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47849AEE-7FAB-960D-FA46-056DD5648865}"/>
              </a:ext>
            </a:extLst>
          </p:cNvPr>
          <p:cNvSpPr txBox="1"/>
          <p:nvPr/>
        </p:nvSpPr>
        <p:spPr>
          <a:xfrm>
            <a:off x="350888" y="2411660"/>
            <a:ext cx="3844823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zh-TW" altLang="en-US" sz="1200" b="0" dirty="0">
                <a:solidFill>
                  <a:srgbClr val="303040"/>
                </a:solidFill>
                <a:latin typeface="Microsoft JhengHei"/>
              </a:rPr>
              <a:t>傳統計算機需要按鍵輸入，不夠直覺</a:t>
            </a:r>
          </a:p>
          <a:p>
            <a:pPr>
              <a:spcBef>
                <a:spcPts val="300"/>
              </a:spcBef>
            </a:pPr>
            <a:endParaRPr lang="zh-TW" altLang="en-US" sz="1200" b="0" dirty="0">
              <a:solidFill>
                <a:srgbClr val="303040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lang="zh-TW" altLang="en-US" sz="1200" b="1" dirty="0">
                <a:solidFill>
                  <a:srgbClr val="1F3864"/>
                </a:solidFill>
                <a:latin typeface="Microsoft JhengHei"/>
              </a:rPr>
              <a:t>→ 能不能用「手寫」來輸入數學算式？</a:t>
            </a:r>
          </a:p>
          <a:p>
            <a:pPr>
              <a:spcBef>
                <a:spcPts val="300"/>
              </a:spcBef>
            </a:pPr>
            <a:r>
              <a:rPr lang="zh-TW" altLang="en-US" sz="1200" b="1" dirty="0">
                <a:solidFill>
                  <a:srgbClr val="1F3864"/>
                </a:solidFill>
                <a:latin typeface="Microsoft JhengHei"/>
              </a:rPr>
              <a:t>→ 讓嵌入式裝置直接辨識手寫筆跡，自動計算結果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Microsoft JhengHei"/>
              </a:rPr>
              <a:t>HUB 8735 Ultra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介紹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636905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44168"/>
            <a:ext cx="55103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HUB 8735 Ultra 是什麼？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83080"/>
            <a:ext cx="636905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057" y="1874519"/>
            <a:ext cx="6264593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400" b="0" dirty="0">
                <a:solidFill>
                  <a:srgbClr val="303040"/>
                </a:solidFill>
                <a:latin typeface="Microsoft JhengHei"/>
              </a:rPr>
              <a:t>HUB 8735 Ultra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是一款由振邦科技（WinsTec）推出的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AIoT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開發板，搭載瑞昱（Realtek）RTL8735B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晶片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。</a:t>
            </a:r>
          </a:p>
          <a:p>
            <a:pPr>
              <a:spcBef>
                <a:spcPts val="300"/>
              </a:spcBef>
            </a:pP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它的外型大小約為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Arduino Uno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的一半，但功能遠超傳統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Arduino：內建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Wi-Fi、BLE、攝影機介面，並支援硬體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 AI </a:t>
            </a:r>
            <a:r>
              <a:rPr sz="1400" b="0" dirty="0" err="1">
                <a:solidFill>
                  <a:srgbClr val="303040"/>
                </a:solidFill>
                <a:latin typeface="Microsoft JhengHei"/>
              </a:rPr>
              <a:t>推論加速</a:t>
            </a:r>
            <a:r>
              <a:rPr sz="1400" b="0" dirty="0">
                <a:solidFill>
                  <a:srgbClr val="303040"/>
                </a:solidFill>
                <a:latin typeface="Microsoft JhengHei"/>
              </a:rPr>
              <a:t>。</a:t>
            </a:r>
          </a:p>
          <a:p>
            <a:pPr>
              <a:spcBef>
                <a:spcPts val="300"/>
              </a:spcBef>
            </a:pPr>
            <a:r>
              <a:rPr sz="1400" b="1" dirty="0" err="1">
                <a:solidFill>
                  <a:srgbClr val="1F3864"/>
                </a:solidFill>
                <a:latin typeface="Microsoft JhengHei"/>
              </a:rPr>
              <a:t>透過</a:t>
            </a:r>
            <a:r>
              <a:rPr sz="1400" b="1" dirty="0">
                <a:solidFill>
                  <a:srgbClr val="1F3864"/>
                </a:solidFill>
                <a:latin typeface="Microsoft JhengHei"/>
              </a:rPr>
              <a:t> Arduino IDE </a:t>
            </a:r>
            <a:r>
              <a:rPr sz="1400" b="1" dirty="0" err="1">
                <a:solidFill>
                  <a:srgbClr val="1F3864"/>
                </a:solidFill>
                <a:latin typeface="Microsoft JhengHei"/>
              </a:rPr>
              <a:t>開發，降低嵌入式</a:t>
            </a:r>
            <a:r>
              <a:rPr sz="1400" b="1" dirty="0">
                <a:solidFill>
                  <a:srgbClr val="1F3864"/>
                </a:solidFill>
                <a:latin typeface="Microsoft JhengHei"/>
              </a:rPr>
              <a:t> AI </a:t>
            </a:r>
            <a:r>
              <a:rPr sz="1400" b="1" dirty="0" err="1">
                <a:solidFill>
                  <a:srgbClr val="1F3864"/>
                </a:solidFill>
                <a:latin typeface="Microsoft JhengHei"/>
              </a:rPr>
              <a:t>的入門門檻</a:t>
            </a:r>
            <a:r>
              <a:rPr sz="1400" b="1" dirty="0">
                <a:solidFill>
                  <a:srgbClr val="1F3864"/>
                </a:solidFill>
                <a:latin typeface="Microsoft JhengHei"/>
              </a:rPr>
              <a:t>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8529D16-2AB0-BB7C-6151-448E95E7F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04821"/>
              </p:ext>
            </p:extLst>
          </p:nvPr>
        </p:nvGraphicFramePr>
        <p:xfrm>
          <a:off x="228600" y="3253475"/>
          <a:ext cx="6369050" cy="29616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8877">
                  <a:extLst>
                    <a:ext uri="{9D8B030D-6E8A-4147-A177-3AD203B41FA5}">
                      <a16:colId xmlns:a16="http://schemas.microsoft.com/office/drawing/2014/main" val="4166264978"/>
                    </a:ext>
                  </a:extLst>
                </a:gridCol>
                <a:gridCol w="4880173">
                  <a:extLst>
                    <a:ext uri="{9D8B030D-6E8A-4147-A177-3AD203B41FA5}">
                      <a16:colId xmlns:a16="http://schemas.microsoft.com/office/drawing/2014/main" val="1640932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FFFFFF"/>
                          </a:solidFill>
                          <a:latin typeface="Microsoft JhengHei"/>
                        </a:rPr>
                        <a:t>功能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rgbClr val="FFFFFF"/>
                          </a:solidFill>
                          <a:latin typeface="Microsoft JhengHei"/>
                        </a:rPr>
                        <a:t>HUB 8735 Ultra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07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處理器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32-bit ARM Cortex-A @ 500MHz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1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無線通訊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Wi-Fi 2.4/5GHz 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 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 BLE 4.2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   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RTSP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 </a:t>
                      </a:r>
                      <a:endParaRPr lang="en-US" altLang="zh-TW" sz="1800" b="1" i="0" dirty="0">
                        <a:solidFill>
                          <a:schemeClr val="tx1"/>
                        </a:solidFill>
                        <a:latin typeface="Microsoft JhengHei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87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攝影機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FPC 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攝影機介面（最高 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FHD 30fps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4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AI </a:t>
                      </a: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推論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支援多種辨識模型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65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電源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USB Type-C 5V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3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尺寸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53 × 27 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47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i="0" dirty="0">
                          <a:solidFill>
                            <a:srgbClr val="1F3864"/>
                          </a:solidFill>
                          <a:latin typeface="Microsoft JhengHei"/>
                        </a:rPr>
                        <a:t>其他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LED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燈、多組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UART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介面、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I2C</a:t>
                      </a:r>
                      <a:r>
                        <a:rPr lang="zh-TW" altLang="en-US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、</a:t>
                      </a:r>
                      <a:r>
                        <a:rPr lang="en-US" altLang="zh-TW" sz="1800" b="1" i="0" dirty="0">
                          <a:solidFill>
                            <a:schemeClr val="tx1"/>
                          </a:solidFill>
                          <a:latin typeface="Microsoft JhengHei"/>
                        </a:rPr>
                        <a:t>SPI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642733"/>
                  </a:ext>
                </a:extLst>
              </a:tr>
            </a:tbl>
          </a:graphicData>
        </a:graphic>
      </p:graphicFrame>
      <p:pic>
        <p:nvPicPr>
          <p:cNvPr id="5" name="圖片 4" descr="智造工具包- ideas Hatch 智造加速器">
            <a:extLst>
              <a:ext uri="{FF2B5EF4-FFF2-40B4-BE49-F238E27FC236}">
                <a16:creationId xmlns:a16="http://schemas.microsoft.com/office/drawing/2014/main" id="{CC0BFBD7-19D2-E4AA-549C-187548C19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799" y="1344168"/>
            <a:ext cx="4867057" cy="46946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93B02-D61E-88F9-D621-B35DADD9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40B465B-6C23-FEAB-7461-759695043E6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207" y="1193546"/>
            <a:ext cx="12101618" cy="5283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B4416-3307-0972-DA54-044BA484AD77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03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A666A1-FCC6-8D58-150D-6735C1EF5DCC}"/>
              </a:ext>
            </a:extLst>
          </p:cNvPr>
          <p:cNvSpPr txBox="1"/>
          <p:nvPr/>
        </p:nvSpPr>
        <p:spPr>
          <a:xfrm>
            <a:off x="1143000" y="228600"/>
            <a:ext cx="5496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硬體規格與腳位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8B9445B-0312-3728-BEED-8C1F6107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45" t="9232" r="4957" b="19629"/>
          <a:stretch>
            <a:fillRect/>
          </a:stretch>
        </p:blipFill>
        <p:spPr>
          <a:xfrm>
            <a:off x="1270670" y="1237528"/>
            <a:ext cx="8511081" cy="4769669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E4EEC98-CEF4-E9A5-E398-601A39E87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357" t="86933" r="25672" b="4430"/>
          <a:stretch>
            <a:fillRect/>
          </a:stretch>
        </p:blipFill>
        <p:spPr>
          <a:xfrm>
            <a:off x="7551639" y="5620472"/>
            <a:ext cx="4186280" cy="65668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F61330B-7CC8-5276-E54A-CF398BAF1ED9}"/>
              </a:ext>
            </a:extLst>
          </p:cNvPr>
          <p:cNvSpPr txBox="1"/>
          <p:nvPr/>
        </p:nvSpPr>
        <p:spPr>
          <a:xfrm>
            <a:off x="10371474" y="5467633"/>
            <a:ext cx="6509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303040"/>
                </a:solidFill>
                <a:latin typeface="Microsoft JhengHei"/>
              </a:rPr>
              <a:t>12-bit</a:t>
            </a: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1F7E5D53-928F-B7DC-4CFF-5106795E1259}"/>
              </a:ext>
            </a:extLst>
          </p:cNvPr>
          <p:cNvSpPr txBox="1"/>
          <p:nvPr/>
        </p:nvSpPr>
        <p:spPr>
          <a:xfrm>
            <a:off x="9677146" y="1790114"/>
            <a:ext cx="101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按鈕 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S</a:t>
            </a:r>
          </a:p>
        </p:txBody>
      </p:sp>
      <p:sp>
        <p:nvSpPr>
          <p:cNvPr id="105" name="文字方塊 104">
            <a:extLst>
              <a:ext uri="{FF2B5EF4-FFF2-40B4-BE49-F238E27FC236}">
                <a16:creationId xmlns:a16="http://schemas.microsoft.com/office/drawing/2014/main" id="{93D4CC52-5F67-8794-C826-DE03AF4962D4}"/>
              </a:ext>
            </a:extLst>
          </p:cNvPr>
          <p:cNvSpPr txBox="1"/>
          <p:nvPr/>
        </p:nvSpPr>
        <p:spPr>
          <a:xfrm>
            <a:off x="9677146" y="1384208"/>
            <a:ext cx="1200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按鈕 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VCC(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中間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)</a:t>
            </a: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C8F6C80C-908B-0015-CA98-82C82346D70B}"/>
              </a:ext>
            </a:extLst>
          </p:cNvPr>
          <p:cNvSpPr txBox="1"/>
          <p:nvPr/>
        </p:nvSpPr>
        <p:spPr>
          <a:xfrm>
            <a:off x="9677146" y="2038470"/>
            <a:ext cx="1200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按鈕 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GND(-)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5A37ADC-33C5-1B2E-BED2-6B5FE936BC5A}"/>
              </a:ext>
            </a:extLst>
          </p:cNvPr>
          <p:cNvSpPr txBox="1"/>
          <p:nvPr/>
        </p:nvSpPr>
        <p:spPr>
          <a:xfrm>
            <a:off x="9692414" y="2441864"/>
            <a:ext cx="1203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PAA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5V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279F41F-C7DB-8B8E-93F2-DC4FF20A29DD}"/>
              </a:ext>
            </a:extLst>
          </p:cNvPr>
          <p:cNvSpPr txBox="1"/>
          <p:nvPr/>
        </p:nvSpPr>
        <p:spPr>
          <a:xfrm>
            <a:off x="9698766" y="2890821"/>
            <a:ext cx="1203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PAA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GND</a:t>
            </a:r>
            <a:endParaRPr lang="en-US" altLang="zh-TW"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1CB3EDE2-8AC0-8F7D-F2C4-BC8DB70947E8}"/>
              </a:ext>
            </a:extLst>
          </p:cNvPr>
          <p:cNvSpPr txBox="1"/>
          <p:nvPr/>
        </p:nvSpPr>
        <p:spPr>
          <a:xfrm>
            <a:off x="411479" y="2496107"/>
            <a:ext cx="10198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OLED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SDA</a:t>
            </a:r>
          </a:p>
          <a:p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OLED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SCL</a:t>
            </a:r>
            <a:endParaRPr lang="zh-TW" altLang="en-US" sz="1200" dirty="0"/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06978F00-D7D1-8204-07E2-713F0FA9C903}"/>
              </a:ext>
            </a:extLst>
          </p:cNvPr>
          <p:cNvSpPr txBox="1"/>
          <p:nvPr/>
        </p:nvSpPr>
        <p:spPr>
          <a:xfrm>
            <a:off x="401955" y="1598226"/>
            <a:ext cx="101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OLED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GND</a:t>
            </a:r>
            <a:endParaRPr lang="en-US" altLang="zh-TW"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FC6BEAD5-CEC5-77D4-06B5-20820CA685A5}"/>
              </a:ext>
            </a:extLst>
          </p:cNvPr>
          <p:cNvSpPr txBox="1"/>
          <p:nvPr/>
        </p:nvSpPr>
        <p:spPr>
          <a:xfrm>
            <a:off x="401955" y="1361351"/>
            <a:ext cx="101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OLED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VCC</a:t>
            </a:r>
            <a:endParaRPr lang="en-US" altLang="zh-TW"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E1840BC-651E-1497-D1D8-15135CB044F6}"/>
              </a:ext>
            </a:extLst>
          </p:cNvPr>
          <p:cNvSpPr txBox="1"/>
          <p:nvPr/>
        </p:nvSpPr>
        <p:spPr>
          <a:xfrm>
            <a:off x="132079" y="3345364"/>
            <a:ext cx="1203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PAA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UART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TX</a:t>
            </a:r>
            <a:endParaRPr lang="en-US" altLang="zh-TW"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9182356-ED81-8893-1768-B043F2A1EDCA}"/>
              </a:ext>
            </a:extLst>
          </p:cNvPr>
          <p:cNvSpPr txBox="1"/>
          <p:nvPr/>
        </p:nvSpPr>
        <p:spPr>
          <a:xfrm>
            <a:off x="132079" y="2906144"/>
            <a:ext cx="1203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PAA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UART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RX</a:t>
            </a:r>
            <a:endParaRPr lang="en-US" altLang="zh-TW" sz="1200" b="0" i="0" dirty="0">
              <a:solidFill>
                <a:srgbClr val="303040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49088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Arduino IDE 環境設定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604" y="1591056"/>
            <a:ext cx="10058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036" y="1911096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JhengHei"/>
              </a:rPr>
              <a:t>步驟</a:t>
            </a:r>
            <a:r>
              <a:rPr sz="2000" b="1" i="0" dirty="0">
                <a:solidFill>
                  <a:srgbClr val="FFFFFF"/>
                </a:solidFill>
                <a:latin typeface="Microsoft JhengHei"/>
              </a:rPr>
              <a:t>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6164" y="1591056"/>
            <a:ext cx="10652760" cy="10789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07604" y="164592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1F3864"/>
                </a:solidFill>
                <a:latin typeface="Microsoft JhengHei"/>
              </a:rPr>
              <a:t>安裝</a:t>
            </a:r>
            <a:r>
              <a:rPr sz="1300" b="1" i="0" dirty="0">
                <a:solidFill>
                  <a:srgbClr val="1F3864"/>
                </a:solidFill>
                <a:latin typeface="Microsoft JhengHei"/>
              </a:rPr>
              <a:t> Arduino IDE ≥ 1.8.19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7604" y="1975104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前往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arduino.cc/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en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/Main/Software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下載並安裝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。
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建議使用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1.8.19 或 2.x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版，支援第三方開發板套件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4604" y="2706624"/>
            <a:ext cx="1005840" cy="10789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036" y="3026664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步驟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6164" y="2706624"/>
            <a:ext cx="106527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07604" y="2761488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Microsoft JhengHei"/>
              </a:rPr>
              <a:t>新增開發板來源 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7604" y="3090672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開啟 Arduino IDE → 檔案 → 偏好設定
在「其他開發板管理員網址」貼上：
github.com/ideashatch/HUB-8735/raw/main/amebapro2_arduino/Arduino_package/ideasHatch.json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4604" y="3822192"/>
            <a:ext cx="1005840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2036" y="414223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步驟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6164" y="3822192"/>
            <a:ext cx="10652760" cy="10789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07604" y="3877056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Microsoft JhengHei"/>
              </a:rPr>
              <a:t>安裝開發板套件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7604" y="4206240"/>
            <a:ext cx="10424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工具 → 開發板 → 開發板管理員
搜尋「HUB 8735 ultra」或「ideasHatch」
找到「IdeasHatch Ameba Boards (32-bit ARM v8M @500MHz)」
安裝版本 4.0.10-Release 或更新版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4604" y="4937760"/>
            <a:ext cx="1005840" cy="10789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036" y="525780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JhengHei"/>
              </a:rPr>
              <a:t>步驟</a:t>
            </a:r>
            <a:r>
              <a:rPr sz="2000" b="1" i="0" dirty="0">
                <a:solidFill>
                  <a:srgbClr val="FFFFFF"/>
                </a:solidFill>
                <a:latin typeface="Microsoft JhengHei"/>
              </a:rPr>
              <a:t>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16164" y="4937760"/>
            <a:ext cx="1065276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07604" y="4992624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300" b="1" dirty="0">
                <a:solidFill>
                  <a:srgbClr val="1F3864"/>
                </a:solidFill>
                <a:latin typeface="Microsoft JhengHei"/>
              </a:rPr>
              <a:t>連接裝置 </a:t>
            </a:r>
            <a:r>
              <a:rPr lang="en-US" altLang="zh-TW" sz="1300" b="1" dirty="0">
                <a:solidFill>
                  <a:srgbClr val="1F3864"/>
                </a:solidFill>
                <a:latin typeface="Microsoft JhengHei"/>
              </a:rPr>
              <a:t>COM Port </a:t>
            </a:r>
            <a:r>
              <a:rPr lang="zh-TW" altLang="en-US" sz="1300" b="1" dirty="0">
                <a:solidFill>
                  <a:srgbClr val="1F3864"/>
                </a:solidFill>
                <a:latin typeface="Microsoft JhengHei"/>
              </a:rPr>
              <a:t>設置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7604" y="5321808"/>
            <a:ext cx="104241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用 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USB Type-C 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線連接電腦，並設置上傳程式預先流程。 （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Windows 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裝置管理員可確認 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USB-SERIAL 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的編號）</a:t>
            </a:r>
          </a:p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開發板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→ AmebaPro2 ARM(32-bits) Boards -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ideasHatch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
→ 選擇「HUB-8735_ultra」</a:t>
            </a:r>
            <a:endParaRPr lang="en-US" sz="1100" b="0" i="0" dirty="0">
              <a:solidFill>
                <a:srgbClr val="303040"/>
              </a:solidFill>
              <a:latin typeface="Microsoft JhengHei"/>
            </a:endParaRPr>
          </a:p>
          <a:p>
            <a:pPr algn="l"/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7FFD-6913-074D-5496-0441BD912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F64EBC0-2199-F61C-032E-4FEA15A67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68" y="1972877"/>
            <a:ext cx="10538647" cy="42715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72B362-5CA6-ECC2-7732-4918F1A0FB39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97E5D-93A8-5D72-BD0D-40820B71BAC9}"/>
              </a:ext>
            </a:extLst>
          </p:cNvPr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Arduino IDE 環境設定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DC75C603-FF0D-8C9F-A6E4-A6BBFB933345}"/>
              </a:ext>
            </a:extLst>
          </p:cNvPr>
          <p:cNvSpPr/>
          <p:nvPr/>
        </p:nvSpPr>
        <p:spPr>
          <a:xfrm>
            <a:off x="182880" y="1234440"/>
            <a:ext cx="100584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A1AB3C2-0DDA-FDEC-4D45-859813615FB9}"/>
              </a:ext>
            </a:extLst>
          </p:cNvPr>
          <p:cNvSpPr txBox="1"/>
          <p:nvPr/>
        </p:nvSpPr>
        <p:spPr>
          <a:xfrm>
            <a:off x="210312" y="1554480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JhengHei"/>
              </a:rPr>
              <a:t>步驟</a:t>
            </a:r>
            <a:r>
              <a:rPr sz="2000" b="1" i="0" dirty="0">
                <a:solidFill>
                  <a:srgbClr val="FFFFFF"/>
                </a:solidFill>
                <a:latin typeface="Microsoft JhengHei"/>
              </a:rPr>
              <a:t> 1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FC1F21D6-E5CE-90C0-2F95-54E4293E17DA}"/>
              </a:ext>
            </a:extLst>
          </p:cNvPr>
          <p:cNvSpPr txBox="1"/>
          <p:nvPr/>
        </p:nvSpPr>
        <p:spPr>
          <a:xfrm>
            <a:off x="1325880" y="1289304"/>
            <a:ext cx="4251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F3864"/>
                </a:solidFill>
                <a:latin typeface="Microsoft JhengHei"/>
              </a:rPr>
              <a:t>安裝</a:t>
            </a:r>
            <a:r>
              <a:rPr sz="2000" b="1" i="0" dirty="0">
                <a:solidFill>
                  <a:srgbClr val="1F3864"/>
                </a:solidFill>
                <a:latin typeface="Microsoft JhengHei"/>
              </a:rPr>
              <a:t> Arduino IDE ≥ 1.8.19</a:t>
            </a:r>
          </a:p>
        </p:txBody>
      </p:sp>
      <p:sp>
        <p:nvSpPr>
          <p:cNvPr id="37" name="TextBox 12">
            <a:extLst>
              <a:ext uri="{FF2B5EF4-FFF2-40B4-BE49-F238E27FC236}">
                <a16:creationId xmlns:a16="http://schemas.microsoft.com/office/drawing/2014/main" id="{9F05A772-0FCA-9E4A-D81E-196A3D827C8C}"/>
              </a:ext>
            </a:extLst>
          </p:cNvPr>
          <p:cNvSpPr txBox="1"/>
          <p:nvPr/>
        </p:nvSpPr>
        <p:spPr>
          <a:xfrm>
            <a:off x="4589780" y="1250697"/>
            <a:ext cx="3591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前往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arduino.cc/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en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/Main/Software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下載並安裝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。
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建議使用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1.8.19 或 2.x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版，支援第三方開發板套件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。</a:t>
            </a:r>
          </a:p>
        </p:txBody>
      </p:sp>
      <p:sp>
        <p:nvSpPr>
          <p:cNvPr id="39" name="文字方塊 38">
            <a:hlinkClick r:id="rId3"/>
            <a:extLst>
              <a:ext uri="{FF2B5EF4-FFF2-40B4-BE49-F238E27FC236}">
                <a16:creationId xmlns:a16="http://schemas.microsoft.com/office/drawing/2014/main" id="{A5B52B9A-9765-6315-68B7-5BD6CF536493}"/>
              </a:ext>
            </a:extLst>
          </p:cNvPr>
          <p:cNvSpPr txBox="1"/>
          <p:nvPr/>
        </p:nvSpPr>
        <p:spPr>
          <a:xfrm>
            <a:off x="8028305" y="1573205"/>
            <a:ext cx="4029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https://www.arduino.cc/en/software/</a:t>
            </a:r>
          </a:p>
        </p:txBody>
      </p:sp>
      <p:sp>
        <p:nvSpPr>
          <p:cNvPr id="40" name="箭號: 向下 39">
            <a:extLst>
              <a:ext uri="{FF2B5EF4-FFF2-40B4-BE49-F238E27FC236}">
                <a16:creationId xmlns:a16="http://schemas.microsoft.com/office/drawing/2014/main" id="{BC66838B-E6A3-48E5-3760-23526A7B9269}"/>
              </a:ext>
            </a:extLst>
          </p:cNvPr>
          <p:cNvSpPr/>
          <p:nvPr/>
        </p:nvSpPr>
        <p:spPr>
          <a:xfrm rot="10800000">
            <a:off x="10648519" y="4564705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32FD94C-A3EC-4EAF-2118-F12B3C3461B1}"/>
              </a:ext>
            </a:extLst>
          </p:cNvPr>
          <p:cNvSpPr txBox="1"/>
          <p:nvPr/>
        </p:nvSpPr>
        <p:spPr>
          <a:xfrm>
            <a:off x="10922204" y="5004125"/>
            <a:ext cx="33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1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505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B88D1EEA-09EC-EB8E-15DD-7381F4ECD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718" y="2879759"/>
            <a:ext cx="4678063" cy="31244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2776B77-708D-8ADA-224C-1EB9975B5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23"/>
          <a:stretch>
            <a:fillRect/>
          </a:stretch>
        </p:blipFill>
        <p:spPr>
          <a:xfrm>
            <a:off x="459162" y="2454707"/>
            <a:ext cx="2094205" cy="37820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C264FBB-EE17-4213-7FC4-678DD6B8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543" y="1493813"/>
            <a:ext cx="4181067" cy="20657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13">
            <a:extLst>
              <a:ext uri="{FF2B5EF4-FFF2-40B4-BE49-F238E27FC236}">
                <a16:creationId xmlns:a16="http://schemas.microsoft.com/office/drawing/2014/main" id="{096B93EF-0FC4-03C9-365E-DE4A2C61AE0F}"/>
              </a:ext>
            </a:extLst>
          </p:cNvPr>
          <p:cNvSpPr/>
          <p:nvPr/>
        </p:nvSpPr>
        <p:spPr>
          <a:xfrm>
            <a:off x="164592" y="1248664"/>
            <a:ext cx="1005840" cy="10789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14">
            <a:extLst>
              <a:ext uri="{FF2B5EF4-FFF2-40B4-BE49-F238E27FC236}">
                <a16:creationId xmlns:a16="http://schemas.microsoft.com/office/drawing/2014/main" id="{8FBC6EDF-CA81-916B-484C-074F100D7B73}"/>
              </a:ext>
            </a:extLst>
          </p:cNvPr>
          <p:cNvSpPr txBox="1"/>
          <p:nvPr/>
        </p:nvSpPr>
        <p:spPr>
          <a:xfrm>
            <a:off x="192024" y="1568704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JhengHei"/>
              </a:rPr>
              <a:t>步驟 2</a:t>
            </a:r>
          </a:p>
        </p:txBody>
      </p:sp>
      <p:sp>
        <p:nvSpPr>
          <p:cNvPr id="5" name="TextBox 16">
            <a:extLst>
              <a:ext uri="{FF2B5EF4-FFF2-40B4-BE49-F238E27FC236}">
                <a16:creationId xmlns:a16="http://schemas.microsoft.com/office/drawing/2014/main" id="{3EBA742F-B68B-42B1-0E37-3C24FEDC9619}"/>
              </a:ext>
            </a:extLst>
          </p:cNvPr>
          <p:cNvSpPr txBox="1"/>
          <p:nvPr/>
        </p:nvSpPr>
        <p:spPr>
          <a:xfrm>
            <a:off x="1307592" y="1303528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1F3864"/>
                </a:solidFill>
                <a:latin typeface="Microsoft JhengHei"/>
              </a:rPr>
              <a:t>新增開發板來源</a:t>
            </a:r>
            <a:r>
              <a:rPr sz="2000" b="1" i="0" dirty="0">
                <a:solidFill>
                  <a:srgbClr val="1F3864"/>
                </a:solidFill>
                <a:latin typeface="Microsoft JhengHei"/>
              </a:rPr>
              <a:t> URL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E08641AB-4BAB-7BBA-0BAD-DC6665C33B8F}"/>
              </a:ext>
            </a:extLst>
          </p:cNvPr>
          <p:cNvSpPr txBox="1"/>
          <p:nvPr/>
        </p:nvSpPr>
        <p:spPr>
          <a:xfrm>
            <a:off x="1307592" y="1616605"/>
            <a:ext cx="55723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開啟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Arduino IDE →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檔案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→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偏好設定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
在「其他開發板管理員網址」貼上：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github.com/</a:t>
            </a:r>
            <a:r>
              <a:rPr lang="en-US" altLang="zh-TW" sz="1100" dirty="0" err="1">
                <a:solidFill>
                  <a:srgbClr val="303040"/>
                </a:solidFill>
                <a:latin typeface="Microsoft JhengHei"/>
              </a:rPr>
              <a:t>ideashatch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/HUB-8735/raw/main/amebapro2_arduino/</a:t>
            </a:r>
            <a:r>
              <a:rPr lang="en-US" altLang="zh-TW" sz="1100" dirty="0" err="1">
                <a:solidFill>
                  <a:srgbClr val="303040"/>
                </a:solidFill>
                <a:latin typeface="Microsoft JhengHei"/>
              </a:rPr>
              <a:t>Arduino_package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/</a:t>
            </a:r>
            <a:r>
              <a:rPr lang="en-US" altLang="zh-TW" sz="1100" dirty="0" err="1">
                <a:solidFill>
                  <a:srgbClr val="303040"/>
                </a:solidFill>
                <a:latin typeface="Microsoft JhengHei"/>
              </a:rPr>
              <a:t>ideasHatch.json</a:t>
            </a:r>
            <a:endParaRPr lang="zh-TW" altLang="en-US" sz="1100" dirty="0"/>
          </a:p>
          <a:p>
            <a:pPr algn="l"/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並點選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OK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 儲存設定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212B2C36-56C5-37DF-AB04-C49581809887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04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EAADB1D7-EC38-ADB3-BDC3-30F4B7BE8327}"/>
              </a:ext>
            </a:extLst>
          </p:cNvPr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Arduino IDE 環境設定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2F965DA-CA74-98C2-3618-C92A17011D4D}"/>
              </a:ext>
            </a:extLst>
          </p:cNvPr>
          <p:cNvSpPr txBox="1"/>
          <p:nvPr/>
        </p:nvSpPr>
        <p:spPr>
          <a:xfrm>
            <a:off x="8238569" y="5389871"/>
            <a:ext cx="35611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400" b="0" i="0" dirty="0">
                <a:solidFill>
                  <a:srgbClr val="303040"/>
                </a:solidFill>
                <a:latin typeface="Microsoft JhengHei"/>
              </a:rPr>
              <a:t>github.com/</a:t>
            </a:r>
            <a:r>
              <a:rPr lang="en-US" altLang="zh-TW" sz="1400" b="0" i="0" dirty="0" err="1">
                <a:solidFill>
                  <a:srgbClr val="303040"/>
                </a:solidFill>
                <a:latin typeface="Microsoft JhengHei"/>
              </a:rPr>
              <a:t>ideashatch</a:t>
            </a:r>
            <a:r>
              <a:rPr lang="en-US" altLang="zh-TW" sz="1400" b="0" i="0" dirty="0">
                <a:solidFill>
                  <a:srgbClr val="303040"/>
                </a:solidFill>
                <a:latin typeface="Microsoft JhengHei"/>
              </a:rPr>
              <a:t>/HUB-8735/raw/main/amebapro2_arduino/</a:t>
            </a:r>
            <a:r>
              <a:rPr lang="en-US" altLang="zh-TW" sz="1400" b="0" i="0" dirty="0" err="1">
                <a:solidFill>
                  <a:srgbClr val="303040"/>
                </a:solidFill>
                <a:latin typeface="Microsoft JhengHei"/>
              </a:rPr>
              <a:t>Arduino_package</a:t>
            </a:r>
            <a:r>
              <a:rPr lang="en-US" altLang="zh-TW" sz="1400" b="0" i="0" dirty="0">
                <a:solidFill>
                  <a:srgbClr val="303040"/>
                </a:solidFill>
                <a:latin typeface="Microsoft JhengHei"/>
              </a:rPr>
              <a:t>/</a:t>
            </a:r>
            <a:r>
              <a:rPr lang="en-US" altLang="zh-TW" sz="1400" b="0" i="0" dirty="0" err="1">
                <a:solidFill>
                  <a:srgbClr val="303040"/>
                </a:solidFill>
                <a:latin typeface="Microsoft JhengHei"/>
              </a:rPr>
              <a:t>ideasHatch.json</a:t>
            </a:r>
            <a:endParaRPr lang="zh-TW" altLang="en-US" sz="1400" dirty="0"/>
          </a:p>
        </p:txBody>
      </p:sp>
      <p:sp>
        <p:nvSpPr>
          <p:cNvPr id="15" name="箭號: 向下 14">
            <a:extLst>
              <a:ext uri="{FF2B5EF4-FFF2-40B4-BE49-F238E27FC236}">
                <a16:creationId xmlns:a16="http://schemas.microsoft.com/office/drawing/2014/main" id="{11A7D756-FB1D-E166-DDD0-198E5DC4B9FF}"/>
              </a:ext>
            </a:extLst>
          </p:cNvPr>
          <p:cNvSpPr/>
          <p:nvPr/>
        </p:nvSpPr>
        <p:spPr>
          <a:xfrm rot="3589619">
            <a:off x="2274843" y="4740944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6" name="箭號: 向下 15">
            <a:extLst>
              <a:ext uri="{FF2B5EF4-FFF2-40B4-BE49-F238E27FC236}">
                <a16:creationId xmlns:a16="http://schemas.microsoft.com/office/drawing/2014/main" id="{0F5BEB74-F274-AEB5-DD23-9412F7F5A4A8}"/>
              </a:ext>
            </a:extLst>
          </p:cNvPr>
          <p:cNvSpPr/>
          <p:nvPr/>
        </p:nvSpPr>
        <p:spPr>
          <a:xfrm rot="8340716">
            <a:off x="7316123" y="5177179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278B45BB-38E4-9E62-4CAF-1403BC859A92}"/>
              </a:ext>
            </a:extLst>
          </p:cNvPr>
          <p:cNvSpPr/>
          <p:nvPr/>
        </p:nvSpPr>
        <p:spPr>
          <a:xfrm rot="3589619">
            <a:off x="10469417" y="1637771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2E8AC68C-83C1-FFCA-9BD2-FD93D911969B}"/>
              </a:ext>
            </a:extLst>
          </p:cNvPr>
          <p:cNvSpPr/>
          <p:nvPr/>
        </p:nvSpPr>
        <p:spPr>
          <a:xfrm rot="10800000">
            <a:off x="11070159" y="3313441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B70902BE-49B3-38B6-40C9-9948A3135200}"/>
              </a:ext>
            </a:extLst>
          </p:cNvPr>
          <p:cNvSpPr txBox="1"/>
          <p:nvPr/>
        </p:nvSpPr>
        <p:spPr>
          <a:xfrm>
            <a:off x="10019147" y="1162151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在空白處貼上網址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3F9E191-E6EA-4311-D12F-AA19B4A239FC}"/>
              </a:ext>
            </a:extLst>
          </p:cNvPr>
          <p:cNvSpPr txBox="1"/>
          <p:nvPr/>
        </p:nvSpPr>
        <p:spPr>
          <a:xfrm>
            <a:off x="10617013" y="4257340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303040"/>
                </a:solidFill>
                <a:latin typeface="Microsoft JhengHei"/>
              </a:rPr>
              <a:t>點選</a:t>
            </a:r>
            <a:r>
              <a:rPr lang="en-US" altLang="zh-TW" dirty="0">
                <a:solidFill>
                  <a:srgbClr val="303040"/>
                </a:solidFill>
                <a:latin typeface="Microsoft JhengHei"/>
              </a:rPr>
              <a:t>OK</a:t>
            </a:r>
            <a:r>
              <a:rPr lang="zh-TW" altLang="en-US" dirty="0">
                <a:solidFill>
                  <a:srgbClr val="303040"/>
                </a:solidFill>
                <a:latin typeface="Microsoft JhengHei"/>
              </a:rPr>
              <a:t> 儲存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8C9C778F-2AC6-3DD9-3C43-DF78801307B5}"/>
              </a:ext>
            </a:extLst>
          </p:cNvPr>
          <p:cNvSpPr txBox="1"/>
          <p:nvPr/>
        </p:nvSpPr>
        <p:spPr>
          <a:xfrm>
            <a:off x="11343844" y="3662620"/>
            <a:ext cx="331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4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7739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0FDB-E8F7-26F4-69FC-B89A8F8C8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00704CE5-3C21-8E36-2BE2-E7F2C2319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957" y="2125064"/>
            <a:ext cx="5738485" cy="27684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60B2ABE-1C50-20F7-B273-96AF2EDF9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929" y="1893604"/>
            <a:ext cx="3424889" cy="45808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16">
            <a:extLst>
              <a:ext uri="{FF2B5EF4-FFF2-40B4-BE49-F238E27FC236}">
                <a16:creationId xmlns:a16="http://schemas.microsoft.com/office/drawing/2014/main" id="{FEF53237-EAC2-323B-DFEC-439945173084}"/>
              </a:ext>
            </a:extLst>
          </p:cNvPr>
          <p:cNvSpPr txBox="1"/>
          <p:nvPr/>
        </p:nvSpPr>
        <p:spPr>
          <a:xfrm>
            <a:off x="1307592" y="1303528"/>
            <a:ext cx="10424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b="1" dirty="0">
                <a:solidFill>
                  <a:srgbClr val="1F3864"/>
                </a:solidFill>
                <a:latin typeface="Microsoft JhengHei"/>
              </a:rPr>
              <a:t>安裝</a:t>
            </a:r>
            <a:r>
              <a:rPr sz="2000" b="1" i="0" dirty="0" err="1">
                <a:solidFill>
                  <a:srgbClr val="1F3864"/>
                </a:solidFill>
                <a:latin typeface="Microsoft JhengHei"/>
              </a:rPr>
              <a:t>開發板</a:t>
            </a:r>
            <a:r>
              <a:rPr lang="zh-TW" altLang="en-US" sz="2000" b="1" dirty="0">
                <a:solidFill>
                  <a:srgbClr val="1F3864"/>
                </a:solidFill>
                <a:latin typeface="Microsoft JhengHei"/>
              </a:rPr>
              <a:t>套件</a:t>
            </a:r>
            <a:endParaRPr sz="2000" b="1" i="0" dirty="0">
              <a:solidFill>
                <a:srgbClr val="1F3864"/>
              </a:solidFill>
              <a:latin typeface="Microsoft JhengHei"/>
            </a:endParaRP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A9D80FD5-502F-6B5D-0C95-C6CC43225B5D}"/>
              </a:ext>
            </a:extLst>
          </p:cNvPr>
          <p:cNvSpPr txBox="1"/>
          <p:nvPr/>
        </p:nvSpPr>
        <p:spPr>
          <a:xfrm>
            <a:off x="1307592" y="1616605"/>
            <a:ext cx="7678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點選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Board Manager 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並在輸入框輸入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”</a:t>
            </a:r>
            <a:r>
              <a:rPr lang="en-US" altLang="zh-TW" sz="1200" dirty="0"/>
              <a:t> </a:t>
            </a:r>
            <a:r>
              <a:rPr lang="en-US" altLang="zh-TW" sz="1200" dirty="0" err="1"/>
              <a:t>ideasHatch</a:t>
            </a:r>
            <a:r>
              <a:rPr lang="en-US" altLang="zh-TW" sz="1200" dirty="0"/>
              <a:t> “</a:t>
            </a:r>
            <a:r>
              <a:rPr lang="zh-TW" altLang="en-US" sz="1200" dirty="0"/>
              <a:t> 或 </a:t>
            </a:r>
            <a:r>
              <a:rPr lang="en-US" altLang="zh-TW" sz="1200" dirty="0"/>
              <a:t>”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8735”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，將</a:t>
            </a:r>
            <a:r>
              <a:rPr lang="en-US" altLang="zh-TW" sz="1200" b="0" i="0" dirty="0">
                <a:solidFill>
                  <a:srgbClr val="303040"/>
                </a:solidFill>
                <a:latin typeface="Microsoft JhengHei"/>
              </a:rPr>
              <a:t>HUB8735ULTRA</a:t>
            </a:r>
            <a:r>
              <a:rPr lang="zh-TW" altLang="en-US" sz="1200" b="0" i="0" dirty="0">
                <a:solidFill>
                  <a:srgbClr val="303040"/>
                </a:solidFill>
                <a:latin typeface="Microsoft JhengHei"/>
              </a:rPr>
              <a:t>的韌體安裝。</a:t>
            </a:r>
            <a:endParaRPr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35FC01FC-75CD-D8C1-9D53-A032DB84520A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04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D1623B54-28CB-3242-7E2E-37B1376A8429}"/>
              </a:ext>
            </a:extLst>
          </p:cNvPr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Arduino IDE 環境設定</a:t>
            </a:r>
          </a:p>
        </p:txBody>
      </p:sp>
      <p:sp>
        <p:nvSpPr>
          <p:cNvPr id="9" name="箭號: 向下 8">
            <a:extLst>
              <a:ext uri="{FF2B5EF4-FFF2-40B4-BE49-F238E27FC236}">
                <a16:creationId xmlns:a16="http://schemas.microsoft.com/office/drawing/2014/main" id="{622B9E34-9F95-E63F-C2DF-291782C8083F}"/>
              </a:ext>
            </a:extLst>
          </p:cNvPr>
          <p:cNvSpPr/>
          <p:nvPr/>
        </p:nvSpPr>
        <p:spPr>
          <a:xfrm rot="3589619">
            <a:off x="4077045" y="2258405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AD1F51A0-552C-F444-57ED-3D91BE3DE521}"/>
              </a:ext>
            </a:extLst>
          </p:cNvPr>
          <p:cNvSpPr/>
          <p:nvPr/>
        </p:nvSpPr>
        <p:spPr>
          <a:xfrm rot="8340716">
            <a:off x="3812930" y="5151874"/>
            <a:ext cx="878840" cy="8788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AA63F1E4-1855-6C1B-7610-9B76FA039E21}"/>
              </a:ext>
            </a:extLst>
          </p:cNvPr>
          <p:cNvGrpSpPr/>
          <p:nvPr/>
        </p:nvGrpSpPr>
        <p:grpSpPr>
          <a:xfrm>
            <a:off x="228600" y="1303528"/>
            <a:ext cx="1005840" cy="1078992"/>
            <a:chOff x="124196" y="2889504"/>
            <a:chExt cx="1005840" cy="1078992"/>
          </a:xfrm>
        </p:grpSpPr>
        <p:sp>
          <p:nvSpPr>
            <p:cNvPr id="26" name="Rectangle 18">
              <a:extLst>
                <a:ext uri="{FF2B5EF4-FFF2-40B4-BE49-F238E27FC236}">
                  <a16:creationId xmlns:a16="http://schemas.microsoft.com/office/drawing/2014/main" id="{64DEC601-4E1F-D2AE-CEB5-B21D8EEE60C3}"/>
                </a:ext>
              </a:extLst>
            </p:cNvPr>
            <p:cNvSpPr/>
            <p:nvPr/>
          </p:nvSpPr>
          <p:spPr>
            <a:xfrm>
              <a:off x="124196" y="2889504"/>
              <a:ext cx="1005840" cy="107899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19">
              <a:extLst>
                <a:ext uri="{FF2B5EF4-FFF2-40B4-BE49-F238E27FC236}">
                  <a16:creationId xmlns:a16="http://schemas.microsoft.com/office/drawing/2014/main" id="{7C225BDB-FA5F-7495-81E6-052A4D5F99F6}"/>
                </a:ext>
              </a:extLst>
            </p:cNvPr>
            <p:cNvSpPr txBox="1"/>
            <p:nvPr/>
          </p:nvSpPr>
          <p:spPr>
            <a:xfrm>
              <a:off x="151628" y="3209544"/>
              <a:ext cx="9144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000" b="1" i="0" dirty="0" err="1">
                  <a:solidFill>
                    <a:srgbClr val="FFFFFF"/>
                  </a:solidFill>
                  <a:latin typeface="Microsoft JhengHei"/>
                </a:rPr>
                <a:t>步驟</a:t>
              </a:r>
              <a:r>
                <a:rPr sz="2000" b="1" i="0" dirty="0">
                  <a:solidFill>
                    <a:srgbClr val="FFFFFF"/>
                  </a:solidFill>
                  <a:latin typeface="Microsoft JhengHei"/>
                </a:rPr>
                <a:t> 3</a:t>
              </a:r>
            </a:p>
          </p:txBody>
        </p:sp>
      </p:grpSp>
      <p:sp>
        <p:nvSpPr>
          <p:cNvPr id="31" name="箭號: 向下 30">
            <a:extLst>
              <a:ext uri="{FF2B5EF4-FFF2-40B4-BE49-F238E27FC236}">
                <a16:creationId xmlns:a16="http://schemas.microsoft.com/office/drawing/2014/main" id="{CC3DFC0C-1030-8610-95A0-98D20E991BB4}"/>
              </a:ext>
            </a:extLst>
          </p:cNvPr>
          <p:cNvSpPr/>
          <p:nvPr/>
        </p:nvSpPr>
        <p:spPr>
          <a:xfrm rot="10800000">
            <a:off x="8087360" y="4566921"/>
            <a:ext cx="995680" cy="98755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0C4703EC-5737-28F4-4FFA-A0C527EA5557}"/>
              </a:ext>
            </a:extLst>
          </p:cNvPr>
          <p:cNvSpPr txBox="1"/>
          <p:nvPr/>
        </p:nvSpPr>
        <p:spPr>
          <a:xfrm>
            <a:off x="5491480" y="5591294"/>
            <a:ext cx="6420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顯示</a:t>
            </a:r>
            <a:r>
              <a:rPr lang="en-US" altLang="zh-TW" dirty="0"/>
              <a:t>Platform ideasHatch:AmebaPro2@4.1.1-Release installed</a:t>
            </a:r>
          </a:p>
          <a:p>
            <a:pPr algn="ctr"/>
            <a:r>
              <a:rPr lang="zh-TW" altLang="en-US" dirty="0"/>
              <a:t>代表安裝完成</a:t>
            </a:r>
            <a:r>
              <a:rPr lang="en-US" altLang="zh-TW" dirty="0"/>
              <a:t>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47822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6045-FFD9-EA76-ACC9-533AC3512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【雙Type-C頭】, OPPO 閃充傳輸線 (Type-C to Type-C)">
            <a:extLst>
              <a:ext uri="{FF2B5EF4-FFF2-40B4-BE49-F238E27FC236}">
                <a16:creationId xmlns:a16="http://schemas.microsoft.com/office/drawing/2014/main" id="{0854C8B2-F271-12E6-B46F-441A6E1A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43" t="26674" r="24280" b="42003"/>
          <a:stretch>
            <a:fillRect/>
          </a:stretch>
        </p:blipFill>
        <p:spPr>
          <a:xfrm>
            <a:off x="2594261" y="4758834"/>
            <a:ext cx="608304" cy="120763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ADEEE1-D78C-6F60-97C4-265EFFC7E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933" y="2016715"/>
            <a:ext cx="3257971" cy="3389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DEC634A-A616-AD53-30E7-5890E9A30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029" y="1938565"/>
            <a:ext cx="4843463" cy="34773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Rectangle 23">
            <a:extLst>
              <a:ext uri="{FF2B5EF4-FFF2-40B4-BE49-F238E27FC236}">
                <a16:creationId xmlns:a16="http://schemas.microsoft.com/office/drawing/2014/main" id="{0F4D432B-42FB-9568-1812-067D6C91DF8F}"/>
              </a:ext>
            </a:extLst>
          </p:cNvPr>
          <p:cNvSpPr/>
          <p:nvPr/>
        </p:nvSpPr>
        <p:spPr>
          <a:xfrm>
            <a:off x="192024" y="1303528"/>
            <a:ext cx="1005840" cy="107899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2206DCF5-1CC9-1D04-81F1-A9C12C18F2C8}"/>
              </a:ext>
            </a:extLst>
          </p:cNvPr>
          <p:cNvSpPr txBox="1"/>
          <p:nvPr/>
        </p:nvSpPr>
        <p:spPr>
          <a:xfrm>
            <a:off x="237744" y="1616605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JhengHei"/>
              </a:rPr>
              <a:t>步驟</a:t>
            </a:r>
            <a:r>
              <a:rPr sz="2000" b="1" i="0" dirty="0">
                <a:solidFill>
                  <a:srgbClr val="FFFFFF"/>
                </a:solidFill>
                <a:latin typeface="Microsoft JhengHei"/>
              </a:rPr>
              <a:t> 4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6E0132F4-5B7A-C9F6-8B66-30F435E48D43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04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43F71F51-D73A-0D96-323E-851F21678A46}"/>
              </a:ext>
            </a:extLst>
          </p:cNvPr>
          <p:cNvSpPr txBox="1"/>
          <p:nvPr/>
        </p:nvSpPr>
        <p:spPr>
          <a:xfrm>
            <a:off x="1143000" y="228600"/>
            <a:ext cx="662729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Arduino IDE 環境設定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99611F31-1908-6867-E75A-978E4C1C14B0}"/>
              </a:ext>
            </a:extLst>
          </p:cNvPr>
          <p:cNvSpPr txBox="1"/>
          <p:nvPr/>
        </p:nvSpPr>
        <p:spPr>
          <a:xfrm>
            <a:off x="1325880" y="1673152"/>
            <a:ext cx="8524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 dirty="0">
                <a:solidFill>
                  <a:srgbClr val="303040"/>
                </a:solidFill>
                <a:latin typeface="Microsoft JhengHei"/>
              </a:rPr>
              <a:t>用 USB Type-C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線連接電腦</a:t>
            </a:r>
            <a:r>
              <a:rPr lang="zh-TW" altLang="en-US" sz="1100" b="0" i="0" dirty="0">
                <a:solidFill>
                  <a:srgbClr val="303040"/>
                </a:solidFill>
                <a:latin typeface="Microsoft JhengHei"/>
              </a:rPr>
              <a:t>，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並設置上傳程式預先流程。 （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Windows 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裝置管理員可確認 </a:t>
            </a:r>
            <a:r>
              <a:rPr lang="en-US" altLang="zh-TW" sz="1100" dirty="0">
                <a:solidFill>
                  <a:srgbClr val="303040"/>
                </a:solidFill>
                <a:latin typeface="Microsoft JhengHei"/>
              </a:rPr>
              <a:t>USB-SERIAL </a:t>
            </a:r>
            <a:r>
              <a:rPr lang="zh-TW" altLang="en-US" sz="1100" dirty="0">
                <a:solidFill>
                  <a:srgbClr val="303040"/>
                </a:solidFill>
                <a:latin typeface="Microsoft JhengHei"/>
              </a:rPr>
              <a:t>的編號）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20" name="TextBox 31">
            <a:extLst>
              <a:ext uri="{FF2B5EF4-FFF2-40B4-BE49-F238E27FC236}">
                <a16:creationId xmlns:a16="http://schemas.microsoft.com/office/drawing/2014/main" id="{1B8FEC8A-F304-C074-D4A6-C49202A602B3}"/>
              </a:ext>
            </a:extLst>
          </p:cNvPr>
          <p:cNvSpPr txBox="1"/>
          <p:nvPr/>
        </p:nvSpPr>
        <p:spPr>
          <a:xfrm>
            <a:off x="1325880" y="1323997"/>
            <a:ext cx="2098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300" b="1" i="0" dirty="0">
                <a:solidFill>
                  <a:srgbClr val="1F3864"/>
                </a:solidFill>
                <a:latin typeface="Microsoft JhengHei"/>
              </a:rPr>
              <a:t>連接裝置</a:t>
            </a:r>
            <a:r>
              <a:rPr sz="1300" b="1" i="0" dirty="0">
                <a:solidFill>
                  <a:srgbClr val="1F3864"/>
                </a:solidFill>
                <a:latin typeface="Microsoft JhengHei"/>
              </a:rPr>
              <a:t> COM Port</a:t>
            </a:r>
            <a:r>
              <a:rPr lang="zh-TW" altLang="en-US" sz="1300" b="1" i="0" dirty="0">
                <a:solidFill>
                  <a:srgbClr val="1F3864"/>
                </a:solidFill>
                <a:latin typeface="Microsoft JhengHei"/>
              </a:rPr>
              <a:t> 設置</a:t>
            </a:r>
            <a:endParaRPr sz="1300" b="1" i="0" dirty="0">
              <a:solidFill>
                <a:srgbClr val="1F3864"/>
              </a:solidFill>
              <a:latin typeface="Microsoft JhengHei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72A085B9-C953-E332-8B16-A99B240F1F5B}"/>
              </a:ext>
            </a:extLst>
          </p:cNvPr>
          <p:cNvSpPr txBox="1"/>
          <p:nvPr/>
        </p:nvSpPr>
        <p:spPr>
          <a:xfrm>
            <a:off x="888147" y="6140889"/>
            <a:ext cx="29735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Type C</a:t>
            </a:r>
            <a:r>
              <a:rPr lang="zh-TW" altLang="en-US" sz="1400" dirty="0"/>
              <a:t>線 連接</a:t>
            </a:r>
            <a:r>
              <a:rPr lang="en-US" altLang="zh-TW" sz="1400" dirty="0"/>
              <a:t>HUB8735Ultra </a:t>
            </a:r>
            <a:r>
              <a:rPr lang="zh-TW" altLang="en-US" sz="1400" dirty="0"/>
              <a:t>及電腦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156410D-1475-62D9-EC33-BCBA22539623}"/>
              </a:ext>
            </a:extLst>
          </p:cNvPr>
          <p:cNvSpPr txBox="1"/>
          <p:nvPr/>
        </p:nvSpPr>
        <p:spPr>
          <a:xfrm>
            <a:off x="3587319" y="5437842"/>
            <a:ext cx="3420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/>
              <a:t>選擇設備連接後 出現的</a:t>
            </a:r>
            <a:r>
              <a:rPr lang="en-US" altLang="zh-TW" sz="1400" dirty="0"/>
              <a:t>unknow</a:t>
            </a:r>
            <a:r>
              <a:rPr lang="zh-TW" altLang="en-US" sz="1400" dirty="0"/>
              <a:t> </a:t>
            </a:r>
            <a:r>
              <a:rPr lang="en-US" altLang="zh-TW" sz="1400" dirty="0"/>
              <a:t>COM port</a:t>
            </a:r>
            <a:endParaRPr lang="zh-TW" altLang="en-US" sz="1400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7A9C09A-DC78-0D6E-9214-0238E820CC0D}"/>
              </a:ext>
            </a:extLst>
          </p:cNvPr>
          <p:cNvSpPr txBox="1"/>
          <p:nvPr/>
        </p:nvSpPr>
        <p:spPr>
          <a:xfrm>
            <a:off x="7915409" y="5437842"/>
            <a:ext cx="34587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BOARDS </a:t>
            </a:r>
            <a:r>
              <a:rPr lang="zh-TW" altLang="en-US" sz="1400" dirty="0"/>
              <a:t>輸入</a:t>
            </a:r>
            <a:r>
              <a:rPr lang="en-US" altLang="zh-TW" sz="1400" dirty="0"/>
              <a:t>8735</a:t>
            </a:r>
            <a:r>
              <a:rPr lang="zh-TW" altLang="en-US" sz="1400" dirty="0"/>
              <a:t> 並選擇</a:t>
            </a:r>
            <a:r>
              <a:rPr lang="en-US" altLang="zh-TW" sz="1400" dirty="0"/>
              <a:t>HUB-8735_ultra</a:t>
            </a:r>
            <a:endParaRPr lang="zh-TW" altLang="en-US" sz="1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29DCE1-EDA5-7C32-E450-891A1950AF56}"/>
              </a:ext>
            </a:extLst>
          </p:cNvPr>
          <p:cNvSpPr/>
          <p:nvPr/>
        </p:nvSpPr>
        <p:spPr>
          <a:xfrm>
            <a:off x="7365081" y="2920183"/>
            <a:ext cx="2279680" cy="3876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" name="圖片 4" descr="智造工具包- ideas Hatch 智造加速器">
            <a:extLst>
              <a:ext uri="{FF2B5EF4-FFF2-40B4-BE49-F238E27FC236}">
                <a16:creationId xmlns:a16="http://schemas.microsoft.com/office/drawing/2014/main" id="{EB51F34F-4573-1CAE-DC96-C661F3662E7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000"/>
          <a:stretch>
            <a:fillRect/>
          </a:stretch>
        </p:blipFill>
        <p:spPr>
          <a:xfrm>
            <a:off x="1885562" y="2219559"/>
            <a:ext cx="1317003" cy="2540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70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程式燒錄流程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61288"/>
            <a:ext cx="1170432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216152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燒錄準備：讓開發板進入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Bootloader（燒錄）模式</a:t>
            </a:r>
            <a:endParaRPr sz="14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74320" y="1664208"/>
            <a:ext cx="566928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709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方法 A  |  按鍵操作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21408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350008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2083816"/>
            <a:ext cx="5166360" cy="2057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20000"/>
              </a:lnSpc>
            </a:pPr>
            <a:r>
              <a:rPr sz="1200" b="0" i="0" dirty="0">
                <a:solidFill>
                  <a:srgbClr val="303040"/>
                </a:solidFill>
                <a:latin typeface="Microsoft JhengHei"/>
              </a:rPr>
              <a:t>① 用 USB Type-C </a:t>
            </a:r>
            <a:r>
              <a:rPr sz="1200" b="0" i="0" dirty="0" err="1">
                <a:solidFill>
                  <a:srgbClr val="303040"/>
                </a:solidFill>
                <a:latin typeface="Microsoft JhengHei"/>
              </a:rPr>
              <a:t>連接電腦</a:t>
            </a:r>
            <a:endParaRPr lang="en-US" sz="1200" b="0" i="0" dirty="0">
              <a:solidFill>
                <a:srgbClr val="303040"/>
              </a:solidFill>
              <a:latin typeface="Microsoft JhengHei"/>
            </a:endParaRP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② 長按「功能鍵」（不放）</a:t>
            </a:r>
            <a:endParaRPr lang="en-US" altLang="zh-TW" sz="1200" dirty="0">
              <a:solidFill>
                <a:srgbClr val="303040"/>
              </a:solidFill>
              <a:latin typeface="Microsoft JhengHei"/>
            </a:endParaRP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③ 按一下「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Reset 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鍵」後放開</a:t>
            </a: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④ 放開「功能鍵」</a:t>
            </a: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70AD47"/>
                </a:solidFill>
                <a:latin typeface="Microsoft JhengHei"/>
              </a:rPr>
              <a:t>→ 裝置進入 </a:t>
            </a:r>
            <a:r>
              <a:rPr lang="en-US" altLang="zh-TW" sz="1200" dirty="0">
                <a:solidFill>
                  <a:srgbClr val="70AD47"/>
                </a:solidFill>
                <a:latin typeface="Microsoft JhengHei"/>
              </a:rPr>
              <a:t>Bootloader </a:t>
            </a:r>
            <a:r>
              <a:rPr lang="zh-TW" altLang="en-US" sz="1200" dirty="0">
                <a:solidFill>
                  <a:srgbClr val="70AD47"/>
                </a:solidFill>
                <a:latin typeface="Microsoft JhengHei"/>
              </a:rPr>
              <a:t>模式</a:t>
            </a:r>
            <a:endParaRPr lang="zh-TW" altLang="en-US" sz="120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11480" y="2743200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136392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529584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922776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1664208"/>
            <a:ext cx="566928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1709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方法 B  |  短路 BOOT 引腳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2121408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350008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64808" y="218541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① 用跳線短接 BOOT_MODE（Pin 14）與 BOOT_V3P3（3.3V）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743200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808" y="2578608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② 按下 Reset 鍵後放開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136392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64808" y="2971800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③ 移除跳線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3529584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64808" y="3364992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AD47"/>
                </a:solidFill>
                <a:latin typeface="Microsoft JhengHei"/>
              </a:rPr>
              <a:t>→ 裝置進入 Bootloader 模式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922776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64808" y="3758184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（適合無法操作按鍵的場合）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24528"/>
            <a:ext cx="117043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4279392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程式上傳步驟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727448"/>
            <a:ext cx="11704320" cy="3108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47640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F3864"/>
                </a:solidFill>
                <a:latin typeface="Microsoft JhengHei"/>
              </a:rPr>
              <a:t>編寫程式</a:t>
            </a:r>
            <a:endParaRPr sz="1100" b="1" i="0" dirty="0">
              <a:solidFill>
                <a:srgbClr val="1F3864"/>
              </a:solidFill>
              <a:latin typeface="Microsoft JhengHe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68880" y="4764024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在 Arduino IDE 撰寫或開啟 .ino 專案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5056632"/>
            <a:ext cx="11704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5760" y="509320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驗證編譯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5093208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點選草稿碼 → 驗證/編譯（Ctrl+R），確認無錯誤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385816"/>
            <a:ext cx="11704320" cy="3108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542239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進燒錄模式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8880" y="5422392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依上方方法 A 或 B 讓裝置進入 Bootloader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5715000"/>
            <a:ext cx="117043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5751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上傳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8880" y="5751576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點選上傳（Ctrl+U），觀察輸出視窗出現「Start Upload Flash → End Upload Flash」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044184"/>
            <a:ext cx="11704320" cy="31089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65760" y="60807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重啟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68880" y="6080760"/>
            <a:ext cx="9326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上傳完成後按 Reset 鍵，程式開始執行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D40F-B414-A682-78BC-09BC2C454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C2108D-9AB8-9753-1A48-2799B3780D70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42BAA-1BBB-28B0-D37C-2F969FDB4295}"/>
              </a:ext>
            </a:extLst>
          </p:cNvPr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HUB 8735 Ultra — 程式燒錄流程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51D5A5-1336-F6F0-B7D5-562ED5716405}"/>
              </a:ext>
            </a:extLst>
          </p:cNvPr>
          <p:cNvSpPr/>
          <p:nvPr/>
        </p:nvSpPr>
        <p:spPr>
          <a:xfrm>
            <a:off x="274320" y="1161288"/>
            <a:ext cx="11704320" cy="43891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F90352-FCEE-7C6A-CFB4-DB5BA8E26C29}"/>
              </a:ext>
            </a:extLst>
          </p:cNvPr>
          <p:cNvSpPr txBox="1"/>
          <p:nvPr/>
        </p:nvSpPr>
        <p:spPr>
          <a:xfrm>
            <a:off x="365760" y="1216152"/>
            <a:ext cx="1143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燒錄準備：讓開發板進入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Bootloader（燒錄）模式</a:t>
            </a:r>
            <a:endParaRPr sz="14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16B62D-FF05-F7EB-A071-8CC847DBACC0}"/>
              </a:ext>
            </a:extLst>
          </p:cNvPr>
          <p:cNvSpPr/>
          <p:nvPr/>
        </p:nvSpPr>
        <p:spPr>
          <a:xfrm>
            <a:off x="274320" y="1664208"/>
            <a:ext cx="29413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32AFF-95A8-2522-094A-C2ECC470A202}"/>
              </a:ext>
            </a:extLst>
          </p:cNvPr>
          <p:cNvSpPr txBox="1"/>
          <p:nvPr/>
        </p:nvSpPr>
        <p:spPr>
          <a:xfrm>
            <a:off x="365760" y="17099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方法 A  |  按鍵操作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374E8B-3B9D-8467-5EC2-676C923421BD}"/>
              </a:ext>
            </a:extLst>
          </p:cNvPr>
          <p:cNvSpPr/>
          <p:nvPr/>
        </p:nvSpPr>
        <p:spPr>
          <a:xfrm>
            <a:off x="274320" y="2121408"/>
            <a:ext cx="2941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81B40D-AB92-F016-77E9-B98A431B578C}"/>
              </a:ext>
            </a:extLst>
          </p:cNvPr>
          <p:cNvSpPr/>
          <p:nvPr/>
        </p:nvSpPr>
        <p:spPr>
          <a:xfrm>
            <a:off x="411480" y="2350008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1996A-87A6-9A9E-D219-BF360FBD4932}"/>
              </a:ext>
            </a:extLst>
          </p:cNvPr>
          <p:cNvSpPr txBox="1"/>
          <p:nvPr/>
        </p:nvSpPr>
        <p:spPr>
          <a:xfrm>
            <a:off x="566928" y="2083816"/>
            <a:ext cx="2469220" cy="2057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20000"/>
              </a:lnSpc>
            </a:pPr>
            <a:r>
              <a:rPr sz="1200" b="0" i="0" dirty="0">
                <a:solidFill>
                  <a:srgbClr val="303040"/>
                </a:solidFill>
                <a:latin typeface="Microsoft JhengHei"/>
              </a:rPr>
              <a:t>① 用 USB Type-C </a:t>
            </a:r>
            <a:r>
              <a:rPr sz="1200" b="0" i="0" dirty="0" err="1">
                <a:solidFill>
                  <a:srgbClr val="303040"/>
                </a:solidFill>
                <a:latin typeface="Microsoft JhengHei"/>
              </a:rPr>
              <a:t>連接電腦</a:t>
            </a:r>
            <a:endParaRPr lang="en-US" sz="1200" b="0" i="0" dirty="0">
              <a:solidFill>
                <a:srgbClr val="303040"/>
              </a:solidFill>
              <a:latin typeface="Microsoft JhengHei"/>
            </a:endParaRP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② 長按「功能鍵」（不放）</a:t>
            </a:r>
            <a:endParaRPr lang="en-US" altLang="zh-TW" sz="1200" dirty="0">
              <a:solidFill>
                <a:srgbClr val="303040"/>
              </a:solidFill>
              <a:latin typeface="Microsoft JhengHei"/>
            </a:endParaRP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③ 按一下「</a:t>
            </a:r>
            <a:r>
              <a:rPr lang="en-US" altLang="zh-TW" sz="1200" dirty="0">
                <a:solidFill>
                  <a:srgbClr val="303040"/>
                </a:solidFill>
                <a:latin typeface="Microsoft JhengHei"/>
              </a:rPr>
              <a:t>Reset </a:t>
            </a: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鍵」後放開</a:t>
            </a: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303040"/>
                </a:solidFill>
                <a:latin typeface="Microsoft JhengHei"/>
              </a:rPr>
              <a:t>④ 放開「功能鍵」</a:t>
            </a:r>
          </a:p>
          <a:p>
            <a:pPr>
              <a:lnSpc>
                <a:spcPct val="220000"/>
              </a:lnSpc>
            </a:pPr>
            <a:r>
              <a:rPr lang="zh-TW" altLang="en-US" sz="1200" dirty="0">
                <a:solidFill>
                  <a:srgbClr val="70AD47"/>
                </a:solidFill>
                <a:latin typeface="Microsoft JhengHei"/>
              </a:rPr>
              <a:t>→ 裝置進入 </a:t>
            </a:r>
            <a:r>
              <a:rPr lang="en-US" altLang="zh-TW" sz="1200" dirty="0">
                <a:solidFill>
                  <a:srgbClr val="70AD47"/>
                </a:solidFill>
                <a:latin typeface="Microsoft JhengHei"/>
              </a:rPr>
              <a:t>Bootloader </a:t>
            </a:r>
            <a:r>
              <a:rPr lang="zh-TW" altLang="en-US" sz="1200" dirty="0">
                <a:solidFill>
                  <a:srgbClr val="70AD47"/>
                </a:solidFill>
                <a:latin typeface="Microsoft JhengHei"/>
              </a:rPr>
              <a:t>模式</a:t>
            </a:r>
            <a:endParaRPr lang="zh-TW" altLang="en-US" sz="120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7676B1-F1E7-EC4A-F272-0F763FB705AA}"/>
              </a:ext>
            </a:extLst>
          </p:cNvPr>
          <p:cNvSpPr/>
          <p:nvPr/>
        </p:nvSpPr>
        <p:spPr>
          <a:xfrm>
            <a:off x="411480" y="2743200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3B0D4D-40F5-64B8-D1B6-C93DB80CBA0D}"/>
              </a:ext>
            </a:extLst>
          </p:cNvPr>
          <p:cNvSpPr/>
          <p:nvPr/>
        </p:nvSpPr>
        <p:spPr>
          <a:xfrm>
            <a:off x="411480" y="3136392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7DD23E-A46F-2492-8519-9CF522E2E1DD}"/>
              </a:ext>
            </a:extLst>
          </p:cNvPr>
          <p:cNvSpPr/>
          <p:nvPr/>
        </p:nvSpPr>
        <p:spPr>
          <a:xfrm>
            <a:off x="411480" y="3529584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549EFC-B855-CAD7-2C60-33C3A2DFE55F}"/>
              </a:ext>
            </a:extLst>
          </p:cNvPr>
          <p:cNvSpPr/>
          <p:nvPr/>
        </p:nvSpPr>
        <p:spPr>
          <a:xfrm>
            <a:off x="411480" y="3922776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56D77439-DCA4-8887-7F56-4604DC5791C2}"/>
              </a:ext>
            </a:extLst>
          </p:cNvPr>
          <p:cNvGrpSpPr/>
          <p:nvPr/>
        </p:nvGrpSpPr>
        <p:grpSpPr>
          <a:xfrm>
            <a:off x="1801538" y="1482860"/>
            <a:ext cx="7663108" cy="4790987"/>
            <a:chOff x="4525717" y="1417960"/>
            <a:chExt cx="7663108" cy="4790987"/>
          </a:xfrm>
        </p:grpSpPr>
        <p:grpSp>
          <p:nvGrpSpPr>
            <p:cNvPr id="4" name="群組 3">
              <a:extLst>
                <a:ext uri="{FF2B5EF4-FFF2-40B4-BE49-F238E27FC236}">
                  <a16:creationId xmlns:a16="http://schemas.microsoft.com/office/drawing/2014/main" id="{652C9147-D996-F223-327D-3E7546DB7990}"/>
                </a:ext>
              </a:extLst>
            </p:cNvPr>
            <p:cNvGrpSpPr/>
            <p:nvPr/>
          </p:nvGrpSpPr>
          <p:grpSpPr>
            <a:xfrm>
              <a:off x="6711541" y="1417960"/>
              <a:ext cx="2441136" cy="4790987"/>
              <a:chOff x="7707336" y="1445768"/>
              <a:chExt cx="2441136" cy="4790987"/>
            </a:xfrm>
          </p:grpSpPr>
          <p:pic>
            <p:nvPicPr>
              <p:cNvPr id="2" name="Picture 2">
                <a:extLst>
                  <a:ext uri="{FF2B5EF4-FFF2-40B4-BE49-F238E27FC236}">
                    <a16:creationId xmlns:a16="http://schemas.microsoft.com/office/drawing/2014/main" id="{4BB22D77-15D3-8A4F-FFA7-A7911D2297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lum bright="70000" contrast="-70000"/>
              </a:blip>
              <a:srcRect l="817" r="817"/>
              <a:stretch/>
            </p:blipFill>
            <p:spPr bwMode="auto">
              <a:xfrm>
                <a:off x="7707336" y="1445768"/>
                <a:ext cx="2441136" cy="47909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E46EF23-78BD-6810-5FD6-8AFDE5122A9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/>
              <a:srcRect t="38512" b="38512"/>
              <a:stretch/>
            </p:blipFill>
            <p:spPr bwMode="auto">
              <a:xfrm>
                <a:off x="7707336" y="4436872"/>
                <a:ext cx="2441136" cy="108282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箭號: 向上 4">
              <a:extLst>
                <a:ext uri="{FF2B5EF4-FFF2-40B4-BE49-F238E27FC236}">
                  <a16:creationId xmlns:a16="http://schemas.microsoft.com/office/drawing/2014/main" id="{2F2843B8-DD5D-83D1-1910-EA94A5FC3B2A}"/>
                </a:ext>
              </a:extLst>
            </p:cNvPr>
            <p:cNvSpPr/>
            <p:nvPr/>
          </p:nvSpPr>
          <p:spPr>
            <a:xfrm rot="5400000">
              <a:off x="6170814" y="4056280"/>
              <a:ext cx="927099" cy="1442719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A4A927D3-C202-54C3-F4D4-AF3052A1C339}"/>
                </a:ext>
              </a:extLst>
            </p:cNvPr>
            <p:cNvSpPr txBox="1"/>
            <p:nvPr/>
          </p:nvSpPr>
          <p:spPr>
            <a:xfrm>
              <a:off x="6456563" y="4592973"/>
              <a:ext cx="355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>
                  <a:solidFill>
                    <a:schemeClr val="bg1"/>
                  </a:solidFill>
                </a:rPr>
                <a:t>1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7" name="箭號: 向上 16">
              <a:extLst>
                <a:ext uri="{FF2B5EF4-FFF2-40B4-BE49-F238E27FC236}">
                  <a16:creationId xmlns:a16="http://schemas.microsoft.com/office/drawing/2014/main" id="{D5DA686B-B876-C452-926F-E3FD1EE8B4AE}"/>
                </a:ext>
              </a:extLst>
            </p:cNvPr>
            <p:cNvSpPr/>
            <p:nvPr/>
          </p:nvSpPr>
          <p:spPr>
            <a:xfrm rot="17328253">
              <a:off x="8774261" y="4709332"/>
              <a:ext cx="927099" cy="1442719"/>
            </a:xfrm>
            <a:prstGeom prst="up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2</a:t>
              </a:r>
              <a:endParaRPr lang="zh-TW" altLang="en-US" dirty="0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CA33ED47-544E-8F3A-AE60-66EA05832989}"/>
                </a:ext>
              </a:extLst>
            </p:cNvPr>
            <p:cNvSpPr txBox="1"/>
            <p:nvPr/>
          </p:nvSpPr>
          <p:spPr>
            <a:xfrm>
              <a:off x="4525717" y="4621698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按住功能鍵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152F277-95C2-76BE-7339-D314B156E012}"/>
                </a:ext>
              </a:extLst>
            </p:cNvPr>
            <p:cNvSpPr txBox="1"/>
            <p:nvPr/>
          </p:nvSpPr>
          <p:spPr>
            <a:xfrm>
              <a:off x="9926667" y="5556418"/>
              <a:ext cx="2262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dirty="0"/>
                <a:t>按住功能鍵狀態點擊</a:t>
              </a:r>
              <a:endParaRPr lang="en-US" altLang="zh-TW" dirty="0"/>
            </a:p>
            <a:p>
              <a:r>
                <a:rPr lang="en-US" altLang="zh-TW" dirty="0"/>
                <a:t>Reset</a:t>
              </a:r>
              <a:r>
                <a:rPr lang="zh-TW" altLang="en-US" dirty="0"/>
                <a:t>鍵</a:t>
              </a: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CADE2AAA-A139-3B36-3C1C-3978CF70EF91}"/>
              </a:ext>
            </a:extLst>
          </p:cNvPr>
          <p:cNvSpPr/>
          <p:nvPr/>
        </p:nvSpPr>
        <p:spPr>
          <a:xfrm>
            <a:off x="3031054" y="5164118"/>
            <a:ext cx="9144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AFBAB296-610B-9385-1543-452493E0B272}"/>
              </a:ext>
            </a:extLst>
          </p:cNvPr>
          <p:cNvSpPr txBox="1"/>
          <p:nvPr/>
        </p:nvSpPr>
        <p:spPr>
          <a:xfrm>
            <a:off x="2818840" y="607634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放開功能鍵</a:t>
            </a:r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DD27AA5A-6A97-9421-3ACF-216C1EA26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20682" y="2350008"/>
            <a:ext cx="4656648" cy="20784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724DFF83-3FB3-5533-A4FB-AE6EFCF11EA3}"/>
              </a:ext>
            </a:extLst>
          </p:cNvPr>
          <p:cNvSpPr txBox="1"/>
          <p:nvPr/>
        </p:nvSpPr>
        <p:spPr>
          <a:xfrm>
            <a:off x="7527610" y="4428444"/>
            <a:ext cx="3642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若成功進入</a:t>
            </a:r>
            <a:r>
              <a:rPr lang="en-US" altLang="zh-TW" dirty="0"/>
              <a:t>Bootloader</a:t>
            </a:r>
            <a:r>
              <a:rPr lang="zh-TW" altLang="en-US" dirty="0"/>
              <a:t>模式 </a:t>
            </a:r>
            <a:endParaRPr lang="en-US" altLang="zh-TW" dirty="0"/>
          </a:p>
          <a:p>
            <a:pPr algn="ctr"/>
            <a:r>
              <a:rPr lang="zh-TW" altLang="en-US" dirty="0"/>
              <a:t>可看到</a:t>
            </a:r>
            <a:r>
              <a:rPr lang="en-US" altLang="zh-TW" dirty="0"/>
              <a:t>Serial Monitor</a:t>
            </a:r>
            <a:r>
              <a:rPr lang="zh-TW" altLang="en-US" dirty="0"/>
              <a:t>顯示以上資訊</a:t>
            </a:r>
          </a:p>
        </p:txBody>
      </p:sp>
    </p:spTree>
    <p:extLst>
      <p:ext uri="{BB962C8B-B14F-4D97-AF65-F5344CB8AC3E}">
        <p14:creationId xmlns:p14="http://schemas.microsoft.com/office/powerpoint/2010/main" val="3293855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>
          <a:xfrm>
            <a:off x="386080" y="1417319"/>
            <a:ext cx="5897880" cy="43891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520" y="1472183"/>
            <a:ext cx="5669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Microsoft JhengHei"/>
              </a:rPr>
              <a:t>HUB-</a:t>
            </a:r>
            <a:r>
              <a:rPr lang="en-US" sz="14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模組外觀</a:t>
            </a:r>
            <a:endParaRPr sz="14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86080" y="1901951"/>
            <a:ext cx="58978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520" y="199339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dirty="0">
                <a:solidFill>
                  <a:srgbClr val="303040"/>
                </a:solidFill>
                <a:latin typeface="Microsoft JhengHei"/>
              </a:rPr>
              <a:t>PCB </a:t>
            </a: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板尺寸：約</a:t>
            </a:r>
            <a:r>
              <a:rPr sz="1300" b="0" dirty="0">
                <a:solidFill>
                  <a:srgbClr val="303040"/>
                </a:solidFill>
                <a:latin typeface="Microsoft JhengHei"/>
              </a:rPr>
              <a:t> 35 × 35mm（郵票大小）</a:t>
            </a:r>
          </a:p>
          <a:p>
            <a:pPr>
              <a:spcBef>
                <a:spcPts val="300"/>
              </a:spcBef>
            </a:pPr>
            <a:r>
              <a:rPr sz="1300" b="0" dirty="0">
                <a:solidFill>
                  <a:srgbClr val="303040"/>
                </a:solidFill>
                <a:latin typeface="Microsoft JhengHei"/>
              </a:rPr>
              <a:t>正面：HT32F49153 MCU + </a:t>
            </a: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感測器孔（朝下</a:t>
            </a:r>
            <a:r>
              <a:rPr sz="1300" b="0" dirty="0">
                <a:solidFill>
                  <a:srgbClr val="303040"/>
                </a:solidFill>
                <a:latin typeface="Microsoft JhengHei"/>
              </a:rPr>
              <a:t>）</a:t>
            </a:r>
          </a:p>
          <a:p>
            <a:pPr>
              <a:spcBef>
                <a:spcPts val="300"/>
              </a:spcBef>
            </a:pPr>
            <a:r>
              <a:rPr sz="1300" b="0" dirty="0">
                <a:solidFill>
                  <a:srgbClr val="303040"/>
                </a:solidFill>
                <a:latin typeface="Microsoft JhengHei"/>
              </a:rPr>
              <a:t>背面：PAA5163 </a:t>
            </a: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光流鏡頭</a:t>
            </a:r>
            <a:endParaRPr sz="1300" b="0" dirty="0">
              <a:solidFill>
                <a:srgbClr val="303040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接頭：USB-C（電源</a:t>
            </a:r>
            <a:r>
              <a:rPr sz="1300" b="0" dirty="0">
                <a:solidFill>
                  <a:srgbClr val="303040"/>
                </a:solidFill>
                <a:latin typeface="Microsoft JhengHei"/>
              </a:rPr>
              <a:t>/UART）+ UART </a:t>
            </a: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引腳</a:t>
            </a:r>
            <a:r>
              <a:rPr sz="1300" b="0" dirty="0">
                <a:solidFill>
                  <a:srgbClr val="303040"/>
                </a:solidFill>
                <a:latin typeface="Microsoft JhengHei"/>
              </a:rPr>
              <a:t> + I2C </a:t>
            </a:r>
            <a:r>
              <a:rPr sz="1300" b="0" dirty="0" err="1">
                <a:solidFill>
                  <a:srgbClr val="303040"/>
                </a:solidFill>
                <a:latin typeface="Microsoft JhengHei"/>
              </a:rPr>
              <a:t>引腳</a:t>
            </a:r>
            <a:endParaRPr sz="1300" b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86080" y="3657599"/>
            <a:ext cx="5897880" cy="4389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520" y="3712463"/>
            <a:ext cx="5669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Microsoft JhengHei"/>
              </a:rPr>
              <a:t>在 AI-</a:t>
            </a:r>
            <a:r>
              <a:rPr lang="en-US" sz="1300" b="1" i="0" dirty="0">
                <a:solidFill>
                  <a:srgbClr val="FFFFFF"/>
                </a:solidFill>
                <a:latin typeface="Microsoft JhengHei"/>
              </a:rPr>
              <a:t>PEN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中的接線方式</a:t>
            </a:r>
            <a:endParaRPr sz="13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6080" y="4178807"/>
            <a:ext cx="320040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77520" y="4251959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2E75B6"/>
                </a:solidFill>
                <a:latin typeface="Microsoft JhengHei"/>
              </a:rPr>
              <a:t>HUB-PAA5163D</a:t>
            </a:r>
            <a:r>
              <a:rPr sz="1100" b="1" i="0" dirty="0">
                <a:solidFill>
                  <a:srgbClr val="2E75B6"/>
                </a:solidFill>
                <a:latin typeface="Microsoft JhengHei"/>
              </a:rPr>
              <a:t>  UART TX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77920" y="4178807"/>
            <a:ext cx="260604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69360" y="419099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03040"/>
                </a:solidFill>
                <a:latin typeface="Microsoft JhengHei"/>
              </a:rPr>
              <a:t>HUB 8735 Ultra  Pin 5 (SERIAL3_RX)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6080" y="4681727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7520" y="4754879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2E75B6"/>
                </a:solidFill>
                <a:latin typeface="Microsoft JhengHei"/>
              </a:rPr>
              <a:t>HUB-PAA5163D</a:t>
            </a:r>
            <a:r>
              <a:rPr sz="1100" b="1" i="0" dirty="0">
                <a:solidFill>
                  <a:srgbClr val="2E75B6"/>
                </a:solidFill>
                <a:latin typeface="Microsoft JhengHei"/>
              </a:rPr>
              <a:t>  UART RX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77920" y="4681727"/>
            <a:ext cx="2606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769360" y="469391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  Pin 6 (SERIAL3_TX)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6080" y="5184647"/>
            <a:ext cx="320040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7520" y="5257799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FF9200"/>
                </a:solidFill>
                <a:latin typeface="Microsoft JhengHei"/>
              </a:rPr>
              <a:t>HUB-PAA5163D</a:t>
            </a:r>
            <a:r>
              <a:rPr sz="1100" b="1" i="0" dirty="0">
                <a:solidFill>
                  <a:srgbClr val="FF9200"/>
                </a:solidFill>
                <a:latin typeface="Microsoft JhengHei"/>
              </a:rPr>
              <a:t>  5V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77920" y="5184647"/>
            <a:ext cx="2606040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69360" y="525779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  5V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6080" y="5687567"/>
            <a:ext cx="320040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77520" y="5760719"/>
            <a:ext cx="3017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303040"/>
                </a:solidFill>
                <a:latin typeface="Microsoft JhengHei"/>
              </a:rPr>
              <a:t>HUB-PAA5163D</a:t>
            </a:r>
            <a:r>
              <a:rPr sz="1100" b="1" i="0" dirty="0">
                <a:solidFill>
                  <a:srgbClr val="303040"/>
                </a:solidFill>
                <a:latin typeface="Microsoft JhengHei"/>
              </a:rPr>
              <a:t>  GND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77920" y="5687567"/>
            <a:ext cx="26060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69360" y="576071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  GND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8E02465A-22FF-6F12-9C4F-7824B512B3A3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06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CB994E7-62CE-43B8-3C52-DD2EC9E280BA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光學流量感測原理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pic>
        <p:nvPicPr>
          <p:cNvPr id="13" name="圖片 12" descr="智造工具包- ideas Hatch 智造加速器">
            <a:extLst>
              <a:ext uri="{FF2B5EF4-FFF2-40B4-BE49-F238E27FC236}">
                <a16:creationId xmlns:a16="http://schemas.microsoft.com/office/drawing/2014/main" id="{2EF707A7-4764-1542-3C3A-22811936D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608333" y="1392817"/>
            <a:ext cx="3018207" cy="47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160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光學流量感測原理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grpSp>
        <p:nvGrpSpPr>
          <p:cNvPr id="69" name="群組 68">
            <a:extLst>
              <a:ext uri="{FF2B5EF4-FFF2-40B4-BE49-F238E27FC236}">
                <a16:creationId xmlns:a16="http://schemas.microsoft.com/office/drawing/2014/main" id="{32998D93-55D7-7970-258D-A89920AD38CC}"/>
              </a:ext>
            </a:extLst>
          </p:cNvPr>
          <p:cNvGrpSpPr/>
          <p:nvPr/>
        </p:nvGrpSpPr>
        <p:grpSpPr>
          <a:xfrm>
            <a:off x="182879" y="1364564"/>
            <a:ext cx="4485640" cy="2770632"/>
            <a:chOff x="182880" y="1000641"/>
            <a:chExt cx="4485640" cy="2770632"/>
          </a:xfrm>
        </p:grpSpPr>
        <p:sp>
          <p:nvSpPr>
            <p:cNvPr id="9" name="Rectangle 8"/>
            <p:cNvSpPr/>
            <p:nvPr/>
          </p:nvSpPr>
          <p:spPr>
            <a:xfrm>
              <a:off x="182880" y="1000641"/>
              <a:ext cx="4262120" cy="438912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4320" y="1055505"/>
              <a:ext cx="37541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400" b="1" i="0" dirty="0" err="1">
                  <a:solidFill>
                    <a:srgbClr val="FFFFFF"/>
                  </a:solidFill>
                  <a:latin typeface="Microsoft JhengHei"/>
                </a:rPr>
                <a:t>什麼是光學流量感測器（Optical</a:t>
              </a:r>
              <a:r>
                <a:rPr sz="1400" b="1" i="0" dirty="0">
                  <a:solidFill>
                    <a:srgbClr val="FFFFFF"/>
                  </a:solidFill>
                  <a:latin typeface="Microsoft JhengHei"/>
                </a:rPr>
                <a:t> Flow）？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2880" y="1485273"/>
              <a:ext cx="4262120" cy="2286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74320" y="1576712"/>
              <a:ext cx="4394200" cy="1931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sz="1300" b="1" dirty="0" err="1">
                  <a:solidFill>
                    <a:srgbClr val="1F3864"/>
                  </a:solidFill>
                  <a:latin typeface="Microsoft JhengHei"/>
                </a:rPr>
                <a:t>光學流量感測器的原理類似光學滑鼠</a:t>
              </a:r>
              <a:r>
                <a:rPr sz="1300" b="1" dirty="0">
                  <a:solidFill>
                    <a:srgbClr val="1F3864"/>
                  </a:solidFill>
                  <a:latin typeface="Microsoft JhengHei"/>
                </a:rPr>
                <a:t>：</a:t>
              </a:r>
            </a:p>
            <a:p>
              <a:pPr>
                <a:spcBef>
                  <a:spcPts val="300"/>
                </a:spcBef>
              </a:pPr>
              <a:endParaRPr sz="1300" b="1" dirty="0">
                <a:solidFill>
                  <a:srgbClr val="1F3864"/>
                </a:solidFill>
                <a:latin typeface="Microsoft JhengHei"/>
              </a:endParaRPr>
            </a:p>
            <a:p>
              <a:pPr>
                <a:spcBef>
                  <a:spcPts val="300"/>
                </a:spcBef>
              </a:pPr>
              <a:r>
                <a:rPr sz="1300" b="0" dirty="0" err="1">
                  <a:solidFill>
                    <a:srgbClr val="303040"/>
                  </a:solidFill>
                  <a:latin typeface="Microsoft JhengHei"/>
                </a:rPr>
                <a:t>底部有一個微型攝影鏡頭，持續拍攝下方表面影像</a:t>
              </a:r>
              <a:endParaRPr sz="1300" b="0" dirty="0">
                <a:solidFill>
                  <a:srgbClr val="303040"/>
                </a:solidFill>
                <a:latin typeface="Microsoft JhengHei"/>
              </a:endParaRPr>
            </a:p>
            <a:p>
              <a:pPr>
                <a:spcBef>
                  <a:spcPts val="300"/>
                </a:spcBef>
              </a:pPr>
              <a:r>
                <a:rPr sz="1300" b="0" dirty="0" err="1">
                  <a:solidFill>
                    <a:srgbClr val="303040"/>
                  </a:solidFill>
                  <a:latin typeface="Microsoft JhengHei"/>
                </a:rPr>
                <a:t>比對連續兩張影像的像素移動，計算</a:t>
              </a:r>
              <a:r>
                <a:rPr sz="1300" b="0" dirty="0">
                  <a:solidFill>
                    <a:srgbClr val="303040"/>
                  </a:solidFill>
                  <a:latin typeface="Microsoft JhengHei"/>
                </a:rPr>
                <a:t> X/Y </a:t>
              </a:r>
              <a:r>
                <a:rPr sz="1300" b="0" dirty="0" err="1">
                  <a:solidFill>
                    <a:srgbClr val="303040"/>
                  </a:solidFill>
                  <a:latin typeface="Microsoft JhengHei"/>
                </a:rPr>
                <a:t>方向位移</a:t>
              </a:r>
              <a:endParaRPr sz="1300" b="0" dirty="0">
                <a:solidFill>
                  <a:srgbClr val="303040"/>
                </a:solidFill>
                <a:latin typeface="Microsoft JhengHei"/>
              </a:endParaRPr>
            </a:p>
            <a:p>
              <a:pPr>
                <a:spcBef>
                  <a:spcPts val="300"/>
                </a:spcBef>
              </a:pPr>
              <a:r>
                <a:rPr sz="1300" b="0" dirty="0" err="1">
                  <a:solidFill>
                    <a:srgbClr val="303040"/>
                  </a:solidFill>
                  <a:latin typeface="Microsoft JhengHei"/>
                </a:rPr>
                <a:t>輸出累積位移值（單位：counts</a:t>
              </a:r>
              <a:r>
                <a:rPr sz="1300" b="0" dirty="0">
                  <a:solidFill>
                    <a:srgbClr val="303040"/>
                  </a:solidFill>
                  <a:latin typeface="Microsoft JhengHei"/>
                </a:rPr>
                <a:t> per inch, CPI）</a:t>
              </a:r>
            </a:p>
            <a:p>
              <a:pPr>
                <a:spcBef>
                  <a:spcPts val="300"/>
                </a:spcBef>
              </a:pPr>
              <a:endParaRPr sz="1300" b="0" dirty="0">
                <a:solidFill>
                  <a:srgbClr val="303040"/>
                </a:solidFill>
                <a:latin typeface="Microsoft JhengHei"/>
              </a:endParaRPr>
            </a:p>
            <a:p>
              <a:pPr>
                <a:spcBef>
                  <a:spcPts val="300"/>
                </a:spcBef>
              </a:pPr>
              <a:r>
                <a:rPr sz="1200" b="1" dirty="0" err="1">
                  <a:solidFill>
                    <a:srgbClr val="70AD47"/>
                  </a:solidFill>
                  <a:latin typeface="Microsoft JhengHei"/>
                </a:rPr>
                <a:t>優點：不需要觸碰感測器，懸空即可感測</a:t>
              </a:r>
              <a:endParaRPr sz="1200" b="1" dirty="0">
                <a:solidFill>
                  <a:srgbClr val="70AD47"/>
                </a:solidFill>
                <a:latin typeface="Microsoft JhengHei"/>
              </a:endParaRPr>
            </a:p>
            <a:p>
              <a:pPr>
                <a:spcBef>
                  <a:spcPts val="300"/>
                </a:spcBef>
              </a:pPr>
              <a:r>
                <a:rPr sz="1200" b="1" dirty="0" err="1">
                  <a:solidFill>
                    <a:srgbClr val="2E75B6"/>
                  </a:solidFill>
                  <a:latin typeface="Microsoft JhengHei"/>
                </a:rPr>
                <a:t>本專題應用：感測器朝下，筆在感測器下方</a:t>
              </a:r>
              <a:r>
                <a:rPr sz="1200" b="1" dirty="0">
                  <a:solidFill>
                    <a:srgbClr val="2E75B6"/>
                  </a:solidFill>
                  <a:latin typeface="Microsoft JhengHei"/>
                </a:rPr>
                <a:t> 5–40mm </a:t>
              </a:r>
              <a:r>
                <a:rPr sz="1200" b="1" dirty="0" err="1">
                  <a:solidFill>
                    <a:srgbClr val="2E75B6"/>
                  </a:solidFill>
                  <a:latin typeface="Microsoft JhengHei"/>
                </a:rPr>
                <a:t>書寫</a:t>
              </a:r>
              <a:endParaRPr sz="1200" b="1" dirty="0">
                <a:solidFill>
                  <a:srgbClr val="2E75B6"/>
                </a:solidFill>
                <a:latin typeface="Microsoft JhengHei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82880" y="4244804"/>
            <a:ext cx="4262119" cy="4389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感測器 </a:t>
            </a:r>
            <a:r>
              <a:rPr lang="en-US" altLang="zh-TW" b="1" dirty="0">
                <a:solidFill>
                  <a:srgbClr val="FFFFFF"/>
                </a:solidFill>
                <a:latin typeface="Microsoft JhengHei"/>
              </a:rPr>
              <a:t>vs 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滑鼠的比較</a:t>
            </a: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A06ED1AD-8EB1-F554-7F6E-C8B18DB8B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18622"/>
              </p:ext>
            </p:extLst>
          </p:nvPr>
        </p:nvGraphicFramePr>
        <p:xfrm>
          <a:off x="182881" y="4699972"/>
          <a:ext cx="426211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959">
                  <a:extLst>
                    <a:ext uri="{9D8B030D-6E8A-4147-A177-3AD203B41FA5}">
                      <a16:colId xmlns:a16="http://schemas.microsoft.com/office/drawing/2014/main" val="3594478198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4083865492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8669158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Microsoft JhengHei"/>
                        </a:rPr>
                        <a:t>特性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i="0" dirty="0">
                          <a:solidFill>
                            <a:srgbClr val="FFFFFF"/>
                          </a:solidFill>
                          <a:latin typeface="Microsoft JhengHei"/>
                        </a:rPr>
                        <a:t>電腦滑鼠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b="1" i="0" dirty="0">
                          <a:solidFill>
                            <a:srgbClr val="FFFFFF"/>
                          </a:solidFill>
                          <a:latin typeface="Microsoft JhengHei"/>
                        </a:rPr>
                        <a:t>HUB-HUB-PAA5163D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104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輸出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相對 </a:t>
                      </a:r>
                      <a:r>
                        <a:rPr lang="en-US" altLang="zh-TW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X/Y </a:t>
                      </a: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位移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累積 </a:t>
                      </a:r>
                      <a:r>
                        <a:rPr lang="en-US" altLang="zh-TW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X/Y </a:t>
                      </a: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座標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388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介面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USB HID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UART / I2C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60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附加功能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陀螺儀 </a:t>
                      </a:r>
                      <a:r>
                        <a:rPr lang="en-US" altLang="zh-TW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+ </a:t>
                      </a:r>
                      <a:r>
                        <a:rPr lang="zh-TW" altLang="en-US" sz="1400" b="0" i="0" dirty="0">
                          <a:solidFill>
                            <a:srgbClr val="303040"/>
                          </a:solidFill>
                          <a:latin typeface="Microsoft JhengHei"/>
                        </a:rPr>
                        <a:t>電子羅盤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61280"/>
                  </a:ext>
                </a:extLst>
              </a:tr>
            </a:tbl>
          </a:graphicData>
        </a:graphic>
      </p:graphicFrame>
      <p:sp>
        <p:nvSpPr>
          <p:cNvPr id="64" name="文字方塊 63">
            <a:extLst>
              <a:ext uri="{FF2B5EF4-FFF2-40B4-BE49-F238E27FC236}">
                <a16:creationId xmlns:a16="http://schemas.microsoft.com/office/drawing/2014/main" id="{BCB46DEB-BF8A-9D67-E7DC-A07219C9B1A2}"/>
              </a:ext>
            </a:extLst>
          </p:cNvPr>
          <p:cNvSpPr txBox="1"/>
          <p:nvPr/>
        </p:nvSpPr>
        <p:spPr>
          <a:xfrm>
            <a:off x="7278396" y="5494527"/>
            <a:ext cx="195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b="1" dirty="0">
                <a:solidFill>
                  <a:srgbClr val="1F3864"/>
                </a:solidFill>
                <a:latin typeface="Microsoft JhengHei"/>
              </a:rPr>
              <a:t>光學流量感測器</a:t>
            </a:r>
            <a:endParaRPr lang="zh-TW" altLang="en-US" dirty="0"/>
          </a:p>
        </p:txBody>
      </p: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E5D90B75-1F4A-11EE-5D20-E8509A0E7BAC}"/>
              </a:ext>
            </a:extLst>
          </p:cNvPr>
          <p:cNvGrpSpPr/>
          <p:nvPr/>
        </p:nvGrpSpPr>
        <p:grpSpPr>
          <a:xfrm>
            <a:off x="4668520" y="1578304"/>
            <a:ext cx="7176822" cy="3914630"/>
            <a:chOff x="4668520" y="1578304"/>
            <a:chExt cx="7176822" cy="3914630"/>
          </a:xfrm>
        </p:grpSpPr>
        <p:pic>
          <p:nvPicPr>
            <p:cNvPr id="62" name="圖片 61">
              <a:extLst>
                <a:ext uri="{FF2B5EF4-FFF2-40B4-BE49-F238E27FC236}">
                  <a16:creationId xmlns:a16="http://schemas.microsoft.com/office/drawing/2014/main" id="{29BA64B4-8669-102F-3409-9F7438350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4668520" y="1578304"/>
              <a:ext cx="7176822" cy="391463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66CB13F-951D-F081-A46C-706F107CF5C9}"/>
                </a:ext>
              </a:extLst>
            </p:cNvPr>
            <p:cNvSpPr/>
            <p:nvPr/>
          </p:nvSpPr>
          <p:spPr>
            <a:xfrm>
              <a:off x="5146675" y="4619625"/>
              <a:ext cx="180975" cy="1873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群組 16">
            <a:extLst>
              <a:ext uri="{FF2B5EF4-FFF2-40B4-BE49-F238E27FC236}">
                <a16:creationId xmlns:a16="http://schemas.microsoft.com/office/drawing/2014/main" id="{936FB683-7AB2-B666-9FDC-AC10A9D8B204}"/>
              </a:ext>
            </a:extLst>
          </p:cNvPr>
          <p:cNvGrpSpPr>
            <a:grpSpLocks noChangeAspect="1"/>
          </p:cNvGrpSpPr>
          <p:nvPr/>
        </p:nvGrpSpPr>
        <p:grpSpPr>
          <a:xfrm>
            <a:off x="2533650" y="1231137"/>
            <a:ext cx="9358312" cy="5104533"/>
            <a:chOff x="618172" y="6987554"/>
            <a:chExt cx="9753600" cy="5320144"/>
          </a:xfrm>
        </p:grpSpPr>
        <p:pic>
          <p:nvPicPr>
            <p:cNvPr id="68" name="圖片 67">
              <a:extLst>
                <a:ext uri="{FF2B5EF4-FFF2-40B4-BE49-F238E27FC236}">
                  <a16:creationId xmlns:a16="http://schemas.microsoft.com/office/drawing/2014/main" id="{B0CD65DF-A5A6-2863-86B8-DA92D5FE3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618172" y="6987554"/>
              <a:ext cx="9753600" cy="5320144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38880D-5AB0-E7E3-6248-C1E4E6304870}"/>
                </a:ext>
              </a:extLst>
            </p:cNvPr>
            <p:cNvSpPr/>
            <p:nvPr/>
          </p:nvSpPr>
          <p:spPr>
            <a:xfrm>
              <a:off x="867982" y="7756525"/>
              <a:ext cx="1776793" cy="1023938"/>
            </a:xfrm>
            <a:prstGeom prst="rect">
              <a:avLst/>
            </a:prstGeom>
            <a:solidFill>
              <a:srgbClr val="EEEE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E047ED7C-6F8D-AF04-C5FD-796E6FE0A7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372047" y="7777120"/>
              <a:ext cx="1134918" cy="1008341"/>
              <a:chOff x="-4433094" y="6117058"/>
              <a:chExt cx="3751290" cy="3332912"/>
            </a:xfrm>
          </p:grpSpPr>
          <p:pic>
            <p:nvPicPr>
              <p:cNvPr id="3" name="圖片 2">
                <a:extLst>
                  <a:ext uri="{FF2B5EF4-FFF2-40B4-BE49-F238E27FC236}">
                    <a16:creationId xmlns:a16="http://schemas.microsoft.com/office/drawing/2014/main" id="{548C021F-A63E-6135-84BF-F449E07E0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1616" t="13568" r="35322"/>
              <a:stretch>
                <a:fillRect/>
              </a:stretch>
            </p:blipFill>
            <p:spPr>
              <a:xfrm>
                <a:off x="-4433094" y="6117058"/>
                <a:ext cx="3751290" cy="3332912"/>
              </a:xfrm>
              <a:prstGeom prst="rect">
                <a:avLst/>
              </a:prstGeom>
              <a:ln>
                <a:noFill/>
              </a:ln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8E8110FA-3390-4D50-5F59-5B50BA554F48}"/>
                  </a:ext>
                </a:extLst>
              </p:cNvPr>
              <p:cNvSpPr/>
              <p:nvPr/>
            </p:nvSpPr>
            <p:spPr>
              <a:xfrm>
                <a:off x="-4433094" y="7251700"/>
                <a:ext cx="880270" cy="2667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67684F42-7689-9390-B636-B2443CCE3D43}"/>
                  </a:ext>
                </a:extLst>
              </p:cNvPr>
              <p:cNvSpPr/>
              <p:nvPr/>
            </p:nvSpPr>
            <p:spPr>
              <a:xfrm>
                <a:off x="-2128044" y="7096124"/>
                <a:ext cx="972345" cy="3492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699A523-A66D-13EA-96F1-3F0C9E55C142}"/>
                  </a:ext>
                </a:extLst>
              </p:cNvPr>
              <p:cNvSpPr/>
              <p:nvPr/>
            </p:nvSpPr>
            <p:spPr>
              <a:xfrm>
                <a:off x="-1204118" y="6117058"/>
                <a:ext cx="522314" cy="5086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</p:grp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DC297182-3B20-6EBD-AD8F-8B56F36A01BC}"/>
              </a:ext>
            </a:extLst>
          </p:cNvPr>
          <p:cNvSpPr txBox="1"/>
          <p:nvPr/>
        </p:nvSpPr>
        <p:spPr>
          <a:xfrm>
            <a:off x="365375" y="237428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/>
              <a:t>讀取移動路徑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5CE9705-A5A4-911D-7C87-E3178FB4E01B}"/>
              </a:ext>
            </a:extLst>
          </p:cNvPr>
          <p:cNvSpPr txBox="1"/>
          <p:nvPr/>
        </p:nvSpPr>
        <p:spPr>
          <a:xfrm>
            <a:off x="211486" y="399415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/>
              <a:t>檢測傾腳、俯角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A9CB026-8A06-CAB6-F130-75DBC94C2F95}"/>
              </a:ext>
            </a:extLst>
          </p:cNvPr>
          <p:cNvSpPr txBox="1"/>
          <p:nvPr/>
        </p:nvSpPr>
        <p:spPr>
          <a:xfrm>
            <a:off x="673151" y="540061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/>
              <a:t>檢測方位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5B68F06-1FFD-D41C-9785-586AD83BFFDD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06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B0F373D0-F42A-4FC1-01A2-30692706CB7B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光學流量感測原理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BFFAF9-DFD4-BC04-DA62-8FF4FC95FDCE}"/>
              </a:ext>
            </a:extLst>
          </p:cNvPr>
          <p:cNvSpPr/>
          <p:nvPr/>
        </p:nvSpPr>
        <p:spPr>
          <a:xfrm>
            <a:off x="8044306" y="1690111"/>
            <a:ext cx="1785493" cy="260350"/>
          </a:xfrm>
          <a:prstGeom prst="rect">
            <a:avLst/>
          </a:prstGeom>
          <a:solidFill>
            <a:srgbClr val="D7D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b="1" dirty="0">
                <a:solidFill>
                  <a:schemeClr val="tx1"/>
                </a:solidFill>
              </a:rPr>
              <a:t>數據融合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3D7F2B-4888-0D7A-FA91-060605FF39E0}"/>
              </a:ext>
            </a:extLst>
          </p:cNvPr>
          <p:cNvSpPr/>
          <p:nvPr/>
        </p:nvSpPr>
        <p:spPr>
          <a:xfrm>
            <a:off x="8488805" y="2085659"/>
            <a:ext cx="972696" cy="260350"/>
          </a:xfrm>
          <a:prstGeom prst="rect">
            <a:avLst/>
          </a:prstGeom>
          <a:solidFill>
            <a:srgbClr val="EEE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195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硬體規格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6711" y="1240018"/>
            <a:ext cx="27432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9863" y="128573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MCU 控制器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711" y="1697218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9863" y="176122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型號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2591" y="176122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HT32F49153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711" y="2117842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9863" y="218185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2591" y="211794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03040"/>
                </a:solidFill>
                <a:latin typeface="Microsoft JhengHei"/>
              </a:rPr>
              <a:t>32-bit ARM Cortex-M4F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6711" y="2538466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863" y="260247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時脈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2591" y="260247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144 MHz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6711" y="2959090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9863" y="302309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2591" y="302309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128KB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711" y="3379714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9863" y="344372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SRAM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2591" y="344372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48KB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6711" y="3800338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9863" y="386434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EEPROM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8583" y="3864346"/>
            <a:ext cx="145389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03040"/>
                </a:solidFill>
                <a:latin typeface="Microsoft JhengHei"/>
              </a:rPr>
              <a:t>1KB（Flash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模擬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27071" y="1240018"/>
            <a:ext cx="27432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00223" y="128573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PAA5163 光流感測器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27071" y="1697218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00223" y="176122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解析度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04233" y="1761226"/>
            <a:ext cx="16987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03040"/>
                </a:solidFill>
                <a:latin typeface="Microsoft JhengHei"/>
              </a:rPr>
              <a:t>1000 CPI</a:t>
            </a:r>
            <a:r>
              <a:rPr lang="en-US" altLang="zh-TW" sz="1100" b="0" i="0" dirty="0">
                <a:solidFill>
                  <a:srgbClr val="303040"/>
                </a:solidFill>
                <a:latin typeface="Microsoft JhengHei"/>
              </a:rPr>
              <a:t>-</a:t>
            </a:r>
            <a:r>
              <a:rPr lang="zh-TW" altLang="en-US" sz="1100" b="0" i="0" dirty="0">
                <a:solidFill>
                  <a:srgbClr val="303040"/>
                </a:solidFill>
                <a:latin typeface="Microsoft JhengHei"/>
              </a:rPr>
              <a:t>約 </a:t>
            </a:r>
            <a:r>
              <a:rPr lang="en-US" altLang="zh-TW" sz="1100" b="0" i="0" dirty="0">
                <a:solidFill>
                  <a:srgbClr val="303040"/>
                </a:solidFill>
                <a:latin typeface="Microsoft JhengHei"/>
              </a:rPr>
              <a:t>0.025 </a:t>
            </a:r>
            <a:r>
              <a:rPr lang="en-US" sz="1100" b="0" i="0" dirty="0">
                <a:solidFill>
                  <a:srgbClr val="303040"/>
                </a:solidFill>
                <a:latin typeface="Microsoft JhengHei"/>
              </a:rPr>
              <a:t>cm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7071" y="2117842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00223" y="218185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感測高度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6111" y="2181850"/>
            <a:ext cx="1442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5 – 40 mm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27071" y="2538466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00223" y="260247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最大速度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6111" y="2602474"/>
            <a:ext cx="1442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&gt;100 inch/s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27071" y="2959090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00223" y="302309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介面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6111" y="3023098"/>
            <a:ext cx="14427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SPI（最高 2MHz）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07431" y="1240018"/>
            <a:ext cx="274320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80583" y="128573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ICM42688 六軸 IMU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07431" y="1697218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0583" y="176122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陀螺儀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3311" y="176122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±2000 dps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07431" y="2117842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180583" y="218185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加速度計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3311" y="218185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±16g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07431" y="2538466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0583" y="260247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更新率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33311" y="260247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500 Hz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7431" y="2959090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180583" y="302309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介面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33311" y="302309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I2C 400kHz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987791" y="1240018"/>
            <a:ext cx="274320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60943" y="128573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QMC5883P 電子羅盤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87791" y="1697218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60943" y="176122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量程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13671" y="1761226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±8 Gauss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7791" y="2117842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060943" y="218185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解析度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13671" y="218185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12-bit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987791" y="2538466"/>
            <a:ext cx="2743200" cy="40233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060943" y="260247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更新率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13671" y="2602474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50 Hz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87791" y="2959090"/>
            <a:ext cx="2743200" cy="402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060943" y="302309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功能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13671" y="302309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傾斜補償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6711" y="4284601"/>
            <a:ext cx="11521440" cy="384048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38151" y="4330321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電源規格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32911" y="4284601"/>
            <a:ext cx="2377440" cy="38404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324351" y="433032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工作電壓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38751" y="4330321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03040"/>
                </a:solidFill>
                <a:latin typeface="Microsoft JhengHei"/>
              </a:rPr>
              <a:t>5V（USB供電）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93231" y="4284601"/>
            <a:ext cx="2377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884671" y="433032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工作電流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890511" y="433032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約 150mA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353551" y="4284601"/>
            <a:ext cx="2377440" cy="38404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444991" y="4330321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功耗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50831" y="4330321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約 0.75W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46711" y="4727448"/>
            <a:ext cx="1152144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38151" y="4773168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三種資料輸出模式（可切換）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46711" y="5166360"/>
            <a:ext cx="3749039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46711" y="5166360"/>
            <a:ext cx="3749039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38151" y="52029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ATR+  原始模式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38151" y="5577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輸出原始位移量 dX, dY（整數）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32911" y="5166360"/>
            <a:ext cx="3749039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4232911" y="5166360"/>
            <a:ext cx="3749039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324351" y="52029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ATX+  座標模式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24351" y="5577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輸出累積絕對座標 X, 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119111" y="5166360"/>
            <a:ext cx="3749039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119111" y="5166360"/>
            <a:ext cx="3749039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10551" y="520293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ATC+  完整模式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10551" y="55778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輸出座標 + 陀螺儀 + 羅盤完整資料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通訊介面：UART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vs I2C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117043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Microsoft JhengHei"/>
              </a:rPr>
              <a:t>HUB-</a:t>
            </a:r>
            <a:r>
              <a:rPr lang="en-US" sz="14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14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Microsoft JhengHei"/>
              </a:rPr>
              <a:t>提供兩種通訊介面，可根據應用選擇</a:t>
            </a:r>
            <a:endParaRPr sz="14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28600" y="5532120"/>
            <a:ext cx="11717972" cy="777240"/>
          </a:xfrm>
          <a:prstGeom prst="rect">
            <a:avLst/>
          </a:prstGeom>
          <a:solidFill>
            <a:srgbClr val="E8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28600" y="5532120"/>
            <a:ext cx="502920" cy="7772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6032" y="5687568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Microsoft JhengHei"/>
              </a:rPr>
              <a:t>AI-</a:t>
            </a:r>
            <a:r>
              <a:rPr lang="en-US" sz="900" b="1" i="0" dirty="0">
                <a:solidFill>
                  <a:srgbClr val="FFFFFF"/>
                </a:solidFill>
                <a:latin typeface="Microsoft JhengHei"/>
              </a:rPr>
              <a:t>PEN</a:t>
            </a:r>
            <a:endParaRPr sz="9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22959" y="5577840"/>
            <a:ext cx="11000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本專題使用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 UART 介面（Serial3, 115200bps）：MCU </a:t>
            </a:r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解析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 "X=NNN Y=NNN" </a:t>
            </a:r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格式的文字輸出，取得手寫軌跡座標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。
</a:t>
            </a:r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若偵測到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 3 </a:t>
            </a:r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秒無資料，韌體會自動重新初始化感測器（發送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 ATX+ </a:t>
            </a:r>
            <a:r>
              <a:rPr sz="1400" b="1" i="0" dirty="0" err="1">
                <a:solidFill>
                  <a:srgbClr val="1F3864"/>
                </a:solidFill>
                <a:latin typeface="Microsoft JhengHei"/>
              </a:rPr>
              <a:t>切換到座標模式</a:t>
            </a:r>
            <a:r>
              <a:rPr sz="1400" b="1" i="0" dirty="0">
                <a:solidFill>
                  <a:srgbClr val="1F3864"/>
                </a:solidFill>
                <a:latin typeface="Microsoft JhengHei"/>
              </a:rPr>
              <a:t>）。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0850B6D-6C48-560D-F8A7-3FA8C3DED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05595"/>
              </p:ext>
            </p:extLst>
          </p:nvPr>
        </p:nvGraphicFramePr>
        <p:xfrm>
          <a:off x="242252" y="1847088"/>
          <a:ext cx="11704320" cy="33020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83129">
                  <a:extLst>
                    <a:ext uri="{9D8B030D-6E8A-4147-A177-3AD203B41FA5}">
                      <a16:colId xmlns:a16="http://schemas.microsoft.com/office/drawing/2014/main" val="4166264978"/>
                    </a:ext>
                  </a:extLst>
                </a:gridCol>
                <a:gridCol w="4543586">
                  <a:extLst>
                    <a:ext uri="{9D8B030D-6E8A-4147-A177-3AD203B41FA5}">
                      <a16:colId xmlns:a16="http://schemas.microsoft.com/office/drawing/2014/main" val="1640932905"/>
                    </a:ext>
                  </a:extLst>
                </a:gridCol>
                <a:gridCol w="5077605">
                  <a:extLst>
                    <a:ext uri="{9D8B030D-6E8A-4147-A177-3AD203B41FA5}">
                      <a16:colId xmlns:a16="http://schemas.microsoft.com/office/drawing/2014/main" val="214032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1" i="0" dirty="0">
                          <a:solidFill>
                            <a:srgbClr val="FFFFFF"/>
                          </a:solidFill>
                          <a:latin typeface="+mj-lt"/>
                        </a:rPr>
                        <a:t>特性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1" i="0" dirty="0">
                          <a:solidFill>
                            <a:srgbClr val="FFFFFF"/>
                          </a:solidFill>
                          <a:latin typeface="+mj-lt"/>
                        </a:rPr>
                        <a:t>UART / USB </a:t>
                      </a:r>
                      <a:r>
                        <a:rPr lang="zh-TW" altLang="en-US" sz="1600" b="1" i="0" dirty="0">
                          <a:solidFill>
                            <a:srgbClr val="FFFFFF"/>
                          </a:solidFill>
                          <a:latin typeface="+mj-lt"/>
                        </a:rPr>
                        <a:t>介面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i="0" dirty="0">
                          <a:solidFill>
                            <a:srgbClr val="FFFFFF"/>
                          </a:solidFill>
                          <a:latin typeface="+mj-lt"/>
                        </a:rPr>
                        <a:t>I2C Slave </a:t>
                      </a:r>
                      <a:r>
                        <a:rPr lang="zh-TW" altLang="en-US" sz="1600" b="1" i="0" dirty="0">
                          <a:solidFill>
                            <a:srgbClr val="FFFFFF"/>
                          </a:solidFill>
                          <a:latin typeface="+mj-lt"/>
                        </a:rPr>
                        <a:t>介面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077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主要用途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調試、測試、人機互動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嵌入式系統整合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14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控制方式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AT </a:t>
                      </a:r>
                      <a:r>
                        <a:rPr lang="zh-TW" altLang="da-DK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指令（文字）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寄存器讀寫（二進位）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7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資料格式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文字或 </a:t>
                      </a: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JSON </a:t>
                      </a: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格式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二進位結構體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145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通訊速率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115200 bps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200 kHz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650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即時性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中（輪詢模式）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高（直接記憶體存取）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939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適用場合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PC </a:t>
                      </a: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連接、除錯、示範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MCU </a:t>
                      </a: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對 </a:t>
                      </a: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MCU </a:t>
                      </a: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通訊、量產品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47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啟用方式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上電預設啟用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偵測到 </a:t>
                      </a:r>
                      <a:r>
                        <a:rPr lang="en-US" altLang="zh-TW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I2C </a:t>
                      </a:r>
                      <a:r>
                        <a:rPr lang="zh-TW" altLang="en-US" sz="1600" b="0" i="0" dirty="0">
                          <a:solidFill>
                            <a:srgbClr val="70AD47"/>
                          </a:solidFill>
                          <a:latin typeface="+mj-lt"/>
                        </a:rPr>
                        <a:t>通訊自動切換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799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切換回 </a:t>
                      </a:r>
                      <a:r>
                        <a:rPr lang="en-US" altLang="zh-TW" sz="1600" b="1" i="0" dirty="0">
                          <a:solidFill>
                            <a:srgbClr val="1F3864"/>
                          </a:solidFill>
                          <a:latin typeface="+mj-lt"/>
                        </a:rPr>
                        <a:t>UART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發送 </a:t>
                      </a:r>
                      <a:r>
                        <a:rPr lang="en-US" altLang="zh-TW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UART </a:t>
                      </a: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訊號即自動切換回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0" i="0" dirty="0">
                          <a:solidFill>
                            <a:srgbClr val="303040"/>
                          </a:solidFill>
                          <a:latin typeface="+mj-lt"/>
                        </a:rPr>
                        <a:t>重新上電或硬體重置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6427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AT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指令與資料格式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4864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常用 AT 指令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54864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指令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17830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說明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130552"/>
            <a:ext cx="54864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130552"/>
            <a:ext cx="192024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21945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19456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查詢通訊是否正常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514600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28600" y="2514600"/>
            <a:ext cx="19202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257860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ATR+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257860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切換到原始模式（輸出 dX, dY）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898648"/>
            <a:ext cx="54864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2898648"/>
            <a:ext cx="19202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2962656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ATX+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296265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切換到座標模式（輸出累積 X, Y）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282696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282696"/>
            <a:ext cx="192024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34670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ATC+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334670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切換到完整模式（含 IMU、羅盤）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666744"/>
            <a:ext cx="54864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28600" y="3666744"/>
            <a:ext cx="192024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373075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ATJ+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373075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啟用 JSON 格式輸出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050792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28600" y="4050792"/>
            <a:ext cx="1920240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11480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AT0G+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11480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重設零點（目前位置設為 0,0）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4434840"/>
            <a:ext cx="54864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8600" y="4434840"/>
            <a:ext cx="1920240" cy="3657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449884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ATNRST+OMT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498848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重置感測器並重新初始化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818888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28600" y="4818888"/>
            <a:ext cx="192024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4882896"/>
            <a:ext cx="1737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FFFFFF"/>
                </a:solidFill>
                <a:latin typeface="Microsoft JhengHei"/>
              </a:rPr>
              <a:t>ATRPT+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40280" y="4882896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1100" b="0" i="0" dirty="0">
                <a:solidFill>
                  <a:srgbClr val="303040"/>
                </a:solidFill>
                <a:latin typeface="Microsoft JhengHei"/>
              </a:rPr>
              <a:t>設定報告間隔</a:t>
            </a:r>
            <a:r>
              <a:rPr lang="en-US" altLang="zh-TW" sz="1100" b="0" i="0" dirty="0">
                <a:solidFill>
                  <a:srgbClr val="303040"/>
                </a:solidFill>
                <a:latin typeface="Microsoft JhengHei"/>
              </a:rPr>
              <a:t>(50-1000)</a:t>
            </a:r>
            <a:endParaRPr lang="zh-TW" altLang="en-US"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228600" y="5202936"/>
            <a:ext cx="54864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28600" y="5202936"/>
            <a:ext cx="192024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5266944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ATM-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5266944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停止感測器資料輸出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586984"/>
            <a:ext cx="54864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28600" y="5586984"/>
            <a:ext cx="192024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040" y="56509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Microsoft JhengHei"/>
              </a:rPr>
              <a:t>ATH+[</a:t>
            </a:r>
            <a:r>
              <a:rPr sz="1100" b="1" i="0" dirty="0" err="1">
                <a:solidFill>
                  <a:srgbClr val="FFFFFF"/>
                </a:solidFill>
                <a:latin typeface="Microsoft JhengHei"/>
              </a:rPr>
              <a:t>高度</a:t>
            </a:r>
            <a:r>
              <a:rPr sz="1100" b="1" i="0" dirty="0">
                <a:solidFill>
                  <a:srgbClr val="FFFFFF"/>
                </a:solidFill>
                <a:latin typeface="Microsoft JhengHei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0280" y="5650992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設定感測器距地面高度（影響精度）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0" y="2118360"/>
            <a:ext cx="598932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35040" y="21640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資料輸出格式範例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2575560"/>
            <a:ext cx="2965450" cy="34747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座標模式（</a:t>
            </a:r>
            <a:r>
              <a:rPr lang="en-US" altLang="zh-TW" b="1" dirty="0">
                <a:solidFill>
                  <a:srgbClr val="FFFFFF"/>
                </a:solidFill>
                <a:latin typeface="Microsoft JhengHei"/>
              </a:rPr>
              <a:t>ATX+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2968752"/>
            <a:ext cx="2965450" cy="409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altLang="zh-TW" sz="1400" dirty="0">
                <a:solidFill>
                  <a:srgbClr val="A8D8A8"/>
                </a:solidFill>
                <a:latin typeface="Microsoft JhengHei"/>
              </a:rPr>
              <a:t>A=5.4 X=0.0 Y=0.0 cA=304.2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34451" y="2568956"/>
            <a:ext cx="299847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Microsoft JhengHei"/>
              </a:rPr>
              <a:t>JSON 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模式（</a:t>
            </a:r>
            <a:r>
              <a:rPr lang="en-US" altLang="zh-TW" b="1" dirty="0">
                <a:solidFill>
                  <a:srgbClr val="FFFFFF"/>
                </a:solidFill>
                <a:latin typeface="Microsoft JhengHei"/>
              </a:rPr>
              <a:t>ATJ+ 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後）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34451" y="2969006"/>
            <a:ext cx="2998470" cy="40944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altLang="zh-TW" sz="1400" dirty="0">
                <a:solidFill>
                  <a:srgbClr val="A8D8A8"/>
                </a:solidFill>
                <a:latin typeface="Microsoft JhengHei"/>
              </a:rPr>
              <a:t>{"A":6.1,"X":0.0,"Y":0.0,"cA":304.8}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39791" y="3480816"/>
            <a:ext cx="598932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韌體如何解析（</a:t>
            </a:r>
            <a:r>
              <a:rPr lang="en-US" altLang="zh-TW" b="1" dirty="0" err="1">
                <a:solidFill>
                  <a:srgbClr val="FFFFFF"/>
                </a:solidFill>
                <a:latin typeface="Microsoft JhengHei"/>
              </a:rPr>
              <a:t>ai_PEN.ino</a:t>
            </a:r>
            <a:r>
              <a:rPr lang="zh-TW" altLang="en-US" b="1" dirty="0">
                <a:solidFill>
                  <a:srgbClr val="FFFFFF"/>
                </a:solidFill>
                <a:latin typeface="Microsoft JhengHei"/>
              </a:rPr>
              <a:t>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3921918"/>
            <a:ext cx="5989320" cy="116316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if (</a:t>
            </a:r>
            <a:r>
              <a:rPr lang="en-US" altLang="zh-TW" dirty="0" err="1">
                <a:solidFill>
                  <a:srgbClr val="A8D8A8"/>
                </a:solidFill>
                <a:latin typeface="Microsoft JhengHei"/>
              </a:rPr>
              <a:t>sscanf</a:t>
            </a:r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(line, "X=%d Y=%d", &amp;x, &amp;y) == 2) {
  </a:t>
            </a:r>
            <a:r>
              <a:rPr lang="en-US" altLang="zh-TW" dirty="0" err="1">
                <a:solidFill>
                  <a:srgbClr val="A8D8A8"/>
                </a:solidFill>
                <a:latin typeface="Microsoft JhengHei"/>
              </a:rPr>
              <a:t>raw_pts</a:t>
            </a:r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[</a:t>
            </a:r>
            <a:r>
              <a:rPr lang="en-US" altLang="zh-TW" dirty="0" err="1">
                <a:solidFill>
                  <a:srgbClr val="A8D8A8"/>
                </a:solidFill>
                <a:latin typeface="Microsoft JhengHei"/>
              </a:rPr>
              <a:t>pt_count</a:t>
            </a:r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].x = x;
  </a:t>
            </a:r>
            <a:r>
              <a:rPr lang="en-US" altLang="zh-TW" dirty="0" err="1">
                <a:solidFill>
                  <a:srgbClr val="A8D8A8"/>
                </a:solidFill>
                <a:latin typeface="Microsoft JhengHei"/>
              </a:rPr>
              <a:t>raw_pts</a:t>
            </a:r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[</a:t>
            </a:r>
            <a:r>
              <a:rPr lang="en-US" altLang="zh-TW" dirty="0" err="1">
                <a:solidFill>
                  <a:srgbClr val="A8D8A8"/>
                </a:solidFill>
                <a:latin typeface="Microsoft JhengHei"/>
              </a:rPr>
              <a:t>pt_count</a:t>
            </a:r>
            <a:r>
              <a:rPr lang="en-US" altLang="zh-TW" dirty="0">
                <a:solidFill>
                  <a:srgbClr val="A8D8A8"/>
                </a:solidFill>
                <a:latin typeface="Microsoft JhengHei"/>
              </a:rPr>
              <a:t>].y = y;
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B480AE4D-E821-0756-0959-1D60F4864571}"/>
              </a:ext>
            </a:extLst>
          </p:cNvPr>
          <p:cNvGrpSpPr/>
          <p:nvPr/>
        </p:nvGrpSpPr>
        <p:grpSpPr>
          <a:xfrm>
            <a:off x="3004006" y="5267429"/>
            <a:ext cx="1428750" cy="1103495"/>
            <a:chOff x="6094412" y="2331908"/>
            <a:chExt cx="1428750" cy="1103495"/>
          </a:xfrm>
        </p:grpSpPr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53E16A4A-A7AF-FEFF-C44E-64587E3B5988}"/>
                </a:ext>
              </a:extLst>
            </p:cNvPr>
            <p:cNvSpPr txBox="1"/>
            <p:nvPr/>
          </p:nvSpPr>
          <p:spPr>
            <a:xfrm>
              <a:off x="6097810" y="2331908"/>
              <a:ext cx="11976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b="1" i="0">
                  <a:latin typeface="Microsoft JhengHei"/>
                </a:defRPr>
              </a:lvl1pPr>
            </a:lstStyle>
            <a:p>
              <a:r>
                <a:rPr lang="en-US" altLang="zh-TW" dirty="0"/>
                <a:t>AT</a:t>
              </a: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D35F740C-8652-397C-7173-710634391E8F}"/>
                </a:ext>
              </a:extLst>
            </p:cNvPr>
            <p:cNvSpPr txBox="1"/>
            <p:nvPr/>
          </p:nvSpPr>
          <p:spPr>
            <a:xfrm>
              <a:off x="6094412" y="2696739"/>
              <a:ext cx="14287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defRPr b="1" i="0">
                  <a:latin typeface="Microsoft JhengHei"/>
                </a:defRPr>
              </a:lvl1pPr>
            </a:lstStyle>
            <a:p>
              <a:r>
                <a:rPr lang="en-US" altLang="zh-TW" dirty="0"/>
                <a:t>atrpt+50</a:t>
              </a:r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E4E33782-37DB-F574-A3BC-71A44E080D41}"/>
                </a:ext>
              </a:extLst>
            </p:cNvPr>
            <p:cNvSpPr txBox="1"/>
            <p:nvPr/>
          </p:nvSpPr>
          <p:spPr>
            <a:xfrm>
              <a:off x="6097810" y="3066071"/>
              <a:ext cx="122091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TW" sz="1800" b="1" i="0" dirty="0">
                  <a:latin typeface="Microsoft JhengHei"/>
                </a:rPr>
                <a:t>ath+</a:t>
              </a:r>
              <a:r>
                <a:rPr lang="en-US" altLang="zh-TW" b="1" dirty="0">
                  <a:latin typeface="Microsoft JhengHei"/>
                </a:rPr>
                <a:t>10</a:t>
              </a:r>
              <a:endParaRPr lang="en-US" altLang="zh-TW" sz="1800" b="1" i="0" dirty="0">
                <a:latin typeface="Microsoft JhengHei"/>
              </a:endParaRPr>
            </a:p>
          </p:txBody>
        </p:sp>
      </p:grpSp>
      <p:sp>
        <p:nvSpPr>
          <p:cNvPr id="7" name="TextBox 5">
            <a:extLst>
              <a:ext uri="{FF2B5EF4-FFF2-40B4-BE49-F238E27FC236}">
                <a16:creationId xmlns:a16="http://schemas.microsoft.com/office/drawing/2014/main" id="{D886A9BD-032C-D485-6CFA-164AEA952861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09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3CADE96D-945A-BD21-0F04-EFCBCF722E6A}"/>
              </a:ext>
            </a:extLst>
          </p:cNvPr>
          <p:cNvSpPr txBox="1"/>
          <p:nvPr/>
        </p:nvSpPr>
        <p:spPr>
          <a:xfrm>
            <a:off x="1143000" y="228600"/>
            <a:ext cx="409575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設置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C3F5485-3AE3-8266-77E3-FC10214C6DC5}"/>
              </a:ext>
            </a:extLst>
          </p:cNvPr>
          <p:cNvSpPr txBox="1"/>
          <p:nvPr/>
        </p:nvSpPr>
        <p:spPr>
          <a:xfrm>
            <a:off x="228600" y="5403679"/>
            <a:ext cx="24546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2400" b="1" dirty="0"/>
              <a:t>在</a:t>
            </a:r>
            <a:r>
              <a:rPr lang="en-US" altLang="zh-TW" sz="2400" b="1" dirty="0"/>
              <a:t>Serial Monitor</a:t>
            </a:r>
          </a:p>
          <a:p>
            <a:pPr algn="r"/>
            <a:r>
              <a:rPr lang="zh-TW" altLang="en-US" sz="2400" b="1" dirty="0"/>
              <a:t>依序輸入</a:t>
            </a:r>
            <a:r>
              <a:rPr lang="en-US" altLang="zh-TW" sz="2400" b="1" dirty="0"/>
              <a:t>:</a:t>
            </a:r>
            <a:endParaRPr lang="zh-TW" altLang="en-US" sz="24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21356FD5-9E75-51DC-3229-BF0071E82208}"/>
              </a:ext>
            </a:extLst>
          </p:cNvPr>
          <p:cNvGrpSpPr/>
          <p:nvPr/>
        </p:nvGrpSpPr>
        <p:grpSpPr>
          <a:xfrm>
            <a:off x="4553956" y="1370448"/>
            <a:ext cx="7428727" cy="3658956"/>
            <a:chOff x="4665925" y="1787008"/>
            <a:chExt cx="7428727" cy="3658956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51AEDD1C-BED7-8910-BD7A-7370968A0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7049" b="29605"/>
            <a:stretch>
              <a:fillRect/>
            </a:stretch>
          </p:blipFill>
          <p:spPr>
            <a:xfrm>
              <a:off x="4665925" y="1787008"/>
              <a:ext cx="7428727" cy="36589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C2C8ACEA-428E-D341-40CD-CA951C4D50D9}"/>
                </a:ext>
              </a:extLst>
            </p:cNvPr>
            <p:cNvSpPr txBox="1"/>
            <p:nvPr/>
          </p:nvSpPr>
          <p:spPr>
            <a:xfrm>
              <a:off x="5141342" y="2995447"/>
              <a:ext cx="61404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(</a:t>
              </a:r>
              <a:r>
                <a:rPr lang="zh-TW" altLang="en-US" b="1" dirty="0"/>
                <a:t>確認裝置連線正常</a:t>
              </a:r>
              <a:r>
                <a:rPr lang="en-US" altLang="zh-TW" b="1" dirty="0"/>
                <a:t>)</a:t>
              </a: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4906BA5-299E-A7A5-A4A1-830058EE3885}"/>
                </a:ext>
              </a:extLst>
            </p:cNvPr>
            <p:cNvSpPr txBox="1"/>
            <p:nvPr/>
          </p:nvSpPr>
          <p:spPr>
            <a:xfrm>
              <a:off x="8087742" y="3364779"/>
              <a:ext cx="35766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(</a:t>
              </a:r>
              <a:r>
                <a:rPr lang="zh-TW" altLang="en-US" b="1" dirty="0"/>
                <a:t>設定回傳位置的時間間隔成功</a:t>
              </a:r>
              <a:r>
                <a:rPr lang="en-US" altLang="zh-TW" b="1" dirty="0"/>
                <a:t>)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B20B8C90-0CDD-91B1-B709-1F59455E4B4F}"/>
                </a:ext>
              </a:extLst>
            </p:cNvPr>
            <p:cNvSpPr txBox="1"/>
            <p:nvPr/>
          </p:nvSpPr>
          <p:spPr>
            <a:xfrm>
              <a:off x="8612149" y="3686068"/>
              <a:ext cx="2669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b="1" dirty="0"/>
                <a:t>(</a:t>
              </a:r>
              <a:r>
                <a:rPr lang="zh-TW" altLang="en-US" b="1" dirty="0"/>
                <a:t>設定感測的高度成功</a:t>
              </a:r>
              <a:r>
                <a:rPr lang="en-US" altLang="zh-TW" b="1" dirty="0"/>
                <a:t>)</a:t>
              </a:r>
            </a:p>
          </p:txBody>
        </p:sp>
      </p:grpSp>
      <p:pic>
        <p:nvPicPr>
          <p:cNvPr id="10" name="圖片 9" descr="智造工具包- ideas Hatch 智造加速器">
            <a:extLst>
              <a:ext uri="{FF2B5EF4-FFF2-40B4-BE49-F238E27FC236}">
                <a16:creationId xmlns:a16="http://schemas.microsoft.com/office/drawing/2014/main" id="{C5A844F1-C8F5-E1D9-9D11-5434DBDFD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181080" y="2183123"/>
            <a:ext cx="2315480" cy="3614722"/>
          </a:xfrm>
          <a:prstGeom prst="rect">
            <a:avLst/>
          </a:prstGeom>
        </p:spPr>
      </p:pic>
      <p:pic>
        <p:nvPicPr>
          <p:cNvPr id="11" name="圖片 10" descr="【雙Type-C頭】, OPPO 閃充傳輸線 (Type-C to Type-C)">
            <a:extLst>
              <a:ext uri="{FF2B5EF4-FFF2-40B4-BE49-F238E27FC236}">
                <a16:creationId xmlns:a16="http://schemas.microsoft.com/office/drawing/2014/main" id="{84837FC6-F54A-1987-0F9C-24E00F479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9943" t="26674" r="24280" b="42003"/>
          <a:stretch>
            <a:fillRect/>
          </a:stretch>
        </p:blipFill>
        <p:spPr>
          <a:xfrm rot="10800000">
            <a:off x="2830052" y="1268751"/>
            <a:ext cx="787810" cy="156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62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SSD1306 OLED — 規格與使用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3035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SSD1306 是什麼？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530352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5074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303040"/>
                </a:solidFill>
                <a:latin typeface="Microsoft JhengHei"/>
              </a:rPr>
              <a:t>SSD1306 是一款常見的單色 OLED 顯示器驅動 IC。</a:t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1F3864"/>
                </a:solidFill>
                <a:latin typeface="Microsoft JhengHei"/>
              </a:rPr>
              <a:t>OLED（有機發光二極體）的特色：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自發光，不需背光，對比度高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低功耗，適合電池供電裝置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視角廣，響應速度快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2E75B6"/>
                </a:solidFill>
                <a:latin typeface="Microsoft JhengHei"/>
              </a:rPr>
              <a:t>· 本專題使用 128×32 像素尺寸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520440"/>
            <a:ext cx="53035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35661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硬體規格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977639"/>
            <a:ext cx="530352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40416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解析度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041647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128 × 32 像素（單色）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398263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46227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介面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62271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I2C（位址 0x3C 或 0x3D）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818887"/>
            <a:ext cx="530352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88289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電壓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4882895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3.3V / 5V 皆相容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239511"/>
            <a:ext cx="5303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53035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顏色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303519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單色（白光 on 黑底）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660135"/>
            <a:ext cx="5303520" cy="4572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572414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函式庫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724143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Adafruit GFX + Adafruit SSD1306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1280160"/>
            <a:ext cx="608076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0" y="132588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Arduino 基本使用範例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1737360"/>
            <a:ext cx="6080760" cy="32004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61888" y="1828800"/>
            <a:ext cx="58978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8D8A8"/>
                </a:solidFill>
                <a:latin typeface="Microsoft JhengHei"/>
              </a:rPr>
              <a:t>#include &lt;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Wire.h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&gt;
#include &lt;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Adafruit_GFX.h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&gt;
#include &lt;Adafruit_SSD1306.h&gt;
#define SCREEN_WIDTH 128
#define SCREEN_HEIGHT 32
Adafruit_SSD1306 display(SCREEN_WIDTH, SCREEN_HEIGHT, &amp;Wire);
void setup() {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display.begin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(SSD1306_SWITCHCAPVCC, 0x3C);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display.clearDisplay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display.setTextColor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(SSD1306_WHITE);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display.setTextSize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(1);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display.setCursor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(0, 0);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display.print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("Hello AI-</a:t>
            </a:r>
            <a:r>
              <a:rPr lang="en-US" sz="1100" b="0" i="0" dirty="0">
                <a:solidFill>
                  <a:srgbClr val="A8D8A8"/>
                </a:solidFill>
                <a:latin typeface="Microsoft JhengHei"/>
              </a:rPr>
              <a:t>PEN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!");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display.display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(); 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必須呼叫才會更新畫面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
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5010912"/>
            <a:ext cx="608076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0" y="5056632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I2C 接線（以 HUB 8735 Ultra 為例）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5468112"/>
            <a:ext cx="6080760" cy="21945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852160" y="5705856"/>
            <a:ext cx="60807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852160" y="5943600"/>
            <a:ext cx="6080760" cy="219456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852160" y="6181344"/>
            <a:ext cx="60807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3958C19-ECC0-4938-8F9E-2C20032B324F}"/>
              </a:ext>
            </a:extLst>
          </p:cNvPr>
          <p:cNvGrpSpPr/>
          <p:nvPr/>
        </p:nvGrpSpPr>
        <p:grpSpPr>
          <a:xfrm>
            <a:off x="5943600" y="5458968"/>
            <a:ext cx="5852159" cy="877824"/>
            <a:chOff x="5943600" y="5458968"/>
            <a:chExt cx="5852159" cy="877824"/>
          </a:xfrm>
        </p:grpSpPr>
        <p:sp>
          <p:nvSpPr>
            <p:cNvPr id="37" name="TextBox 36"/>
            <p:cNvSpPr txBox="1"/>
            <p:nvPr/>
          </p:nvSpPr>
          <p:spPr>
            <a:xfrm>
              <a:off x="5943600" y="5458968"/>
              <a:ext cx="20116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1F3864"/>
                  </a:solidFill>
                  <a:latin typeface="Microsoft JhengHei"/>
                </a:rPr>
                <a:t>OLED  SDA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46720" y="5458968"/>
              <a:ext cx="3749039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03040"/>
                  </a:solidFill>
                  <a:latin typeface="Microsoft JhengHei"/>
                </a:rPr>
                <a:t>HUB 8735  Pin 0（I2C1 SDA）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943600" y="5696712"/>
              <a:ext cx="20116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1F3864"/>
                  </a:solidFill>
                  <a:latin typeface="Microsoft JhengHei"/>
                </a:rPr>
                <a:t>OLED  SCL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046720" y="5696712"/>
              <a:ext cx="3749039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03040"/>
                  </a:solidFill>
                  <a:latin typeface="Microsoft JhengHei"/>
                </a:rPr>
                <a:t>HUB 8735  Pin 1（I2C1 SCL）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43600" y="5934456"/>
              <a:ext cx="20116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1F3864"/>
                  </a:solidFill>
                  <a:latin typeface="Microsoft JhengHei"/>
                </a:rPr>
                <a:t>OLED  VCC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8046720" y="5934456"/>
              <a:ext cx="374903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 dirty="0">
                  <a:solidFill>
                    <a:srgbClr val="303040"/>
                  </a:solidFill>
                  <a:latin typeface="Microsoft JhengHei"/>
                </a:rPr>
                <a:t>HUB 8735  5V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943600" y="6172200"/>
              <a:ext cx="2011680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1F3864"/>
                  </a:solidFill>
                  <a:latin typeface="Microsoft JhengHei"/>
                </a:rPr>
                <a:t>OLED  GND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046720" y="6172200"/>
              <a:ext cx="3749039" cy="1645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0" i="0">
                  <a:solidFill>
                    <a:srgbClr val="303040"/>
                  </a:solidFill>
                  <a:latin typeface="Microsoft JhengHei"/>
                </a:rPr>
                <a:t>HUB 8735  GND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SSD1306 — OledDisplay.h 分區設計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42416"/>
            <a:ext cx="117043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088136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為什麼要自定義 OledDisplay.h？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499616"/>
            <a:ext cx="117043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572768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600" b="1" dirty="0">
                <a:solidFill>
                  <a:srgbClr val="303040"/>
                </a:solidFill>
                <a:latin typeface="Microsoft JhengHei"/>
              </a:rPr>
              <a:t>128×32 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的螢幕空間有限，AI-</a:t>
            </a:r>
            <a:r>
              <a:rPr lang="en-US" sz="1600" b="1" dirty="0" err="1">
                <a:solidFill>
                  <a:srgbClr val="303040"/>
                </a:solidFill>
                <a:latin typeface="Microsoft JhengHei"/>
              </a:rPr>
              <a:t>PEN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需要同時顯示「筆跡預覽」和「算式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Token」，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因此設計了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OledDisplay.h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將螢幕切成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lang="en-US" sz="1600" b="1" dirty="0">
                <a:solidFill>
                  <a:srgbClr val="303040"/>
                </a:solidFill>
                <a:latin typeface="Microsoft JhengHei"/>
              </a:rPr>
              <a:t>2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600" b="1" dirty="0" err="1">
                <a:solidFill>
                  <a:srgbClr val="303040"/>
                </a:solidFill>
                <a:latin typeface="Microsoft JhengHei"/>
              </a:rPr>
              <a:t>個的區塊，各自獨立更新</a:t>
            </a:r>
            <a:r>
              <a:rPr sz="1600" b="1" dirty="0">
                <a:solidFill>
                  <a:srgbClr val="303040"/>
                </a:solidFill>
                <a:latin typeface="Microsoft Jheng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414016"/>
            <a:ext cx="1170432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459736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螢幕分區示意圖（128×32 總像素）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" y="2825496"/>
            <a:ext cx="265176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93192" y="2944368"/>
            <a:ext cx="24688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FFFF"/>
                </a:solidFill>
                <a:latin typeface="Microsoft JhengHei"/>
              </a:rPr>
              <a:t>Section </a:t>
            </a:r>
            <a:r>
              <a:rPr lang="en-US" sz="2000" b="0" i="0" dirty="0">
                <a:solidFill>
                  <a:srgbClr val="FFFFFF"/>
                </a:solidFill>
                <a:latin typeface="Microsoft JhengHei"/>
              </a:rPr>
              <a:t>1</a:t>
            </a:r>
            <a:r>
              <a:rPr sz="2000" b="0" i="0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</a:rPr>
              <a:t>筆跡預覽</a:t>
            </a:r>
            <a:r>
              <a:rPr sz="2000" b="0" i="0" dirty="0">
                <a:solidFill>
                  <a:srgbClr val="FFFFFF"/>
                </a:solidFill>
                <a:latin typeface="Microsoft JhengHei"/>
              </a:rPr>
              <a:t>
32×32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825496"/>
            <a:ext cx="8659368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64992" y="2944368"/>
            <a:ext cx="85679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 dirty="0">
                <a:solidFill>
                  <a:srgbClr val="FFFFFF"/>
                </a:solidFill>
                <a:latin typeface="Microsoft JhengHei"/>
              </a:rPr>
              <a:t>Section </a:t>
            </a:r>
            <a:r>
              <a:rPr lang="en-US" sz="2000" b="0" i="0" dirty="0">
                <a:solidFill>
                  <a:srgbClr val="FFFFFF"/>
                </a:solidFill>
                <a:latin typeface="Microsoft JhengHei"/>
              </a:rPr>
              <a:t>2</a:t>
            </a:r>
            <a:r>
              <a:rPr sz="2000" b="0" i="0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sz="2000" b="0" i="0" dirty="0" err="1">
                <a:solidFill>
                  <a:srgbClr val="FFFFFF"/>
                </a:solidFill>
                <a:latin typeface="Microsoft JhengHei"/>
              </a:rPr>
              <a:t>算式</a:t>
            </a:r>
            <a:r>
              <a:rPr sz="2000" b="0" i="0" dirty="0">
                <a:solidFill>
                  <a:srgbClr val="FFFFFF"/>
                </a:solidFill>
                <a:latin typeface="Microsoft JhengHei"/>
              </a:rPr>
              <a:t> Token 
</a:t>
            </a:r>
            <a:r>
              <a:rPr lang="en-US" sz="2000" b="0" i="0" dirty="0">
                <a:solidFill>
                  <a:srgbClr val="FFFFFF"/>
                </a:solidFill>
                <a:latin typeface="Microsoft JhengHei"/>
              </a:rPr>
              <a:t>96</a:t>
            </a:r>
            <a:r>
              <a:rPr sz="2000" b="0" i="0" dirty="0">
                <a:solidFill>
                  <a:srgbClr val="FFFFFF"/>
                </a:solidFill>
                <a:latin typeface="Microsoft JhengHei"/>
              </a:rPr>
              <a:t>×32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315968"/>
            <a:ext cx="11704320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361688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各區塊用途說明</a:t>
            </a:r>
            <a:endParaRPr sz="13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28600" y="4745736"/>
            <a:ext cx="1170432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28600" y="4745736"/>
            <a:ext cx="1645920" cy="3657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752" y="4809744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Section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809744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303040"/>
                </a:solidFill>
                <a:latin typeface="Microsoft JhengHei"/>
              </a:rPr>
              <a:t>左側最大區塊，顯示目前手寫筆跡的縮圖，或識別後的字符圖案</a:t>
            </a:r>
            <a:endParaRPr sz="12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28600" y="5129784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8600" y="5129784"/>
            <a:ext cx="1645920" cy="3657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" y="5193792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Section 1–3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5193792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右側三個區塊，各顯示一個已識別的算式 Token（數字或運算子）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5513832"/>
            <a:ext cx="1170432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28600" y="5513832"/>
            <a:ext cx="1645920" cy="3657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1752" y="5577840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顯示邏輯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577840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寫完一個字符雙擊識別後，Section 0 更新為 BMP 圖，Section 1/2/3 依序顯示算式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5897880"/>
            <a:ext cx="117043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600" y="5897880"/>
            <a:ext cx="1645920" cy="3657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01752" y="5961888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JhengHei"/>
              </a:rPr>
              <a:t>計算完成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5961888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03040"/>
                </a:solidFill>
                <a:latin typeface="Microsoft JhengHei"/>
              </a:rPr>
              <a:t>結果顯示在 Section 1–3，例如「3 + 5 = 8」，然後 sys_reset() 清除全部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8FCB-6535-9BEF-0BE4-B58C66D5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231C27-1995-497D-FE0C-481F6ED412C6}"/>
              </a:ext>
            </a:extLst>
          </p:cNvPr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B58CBD-7830-95E7-986B-91687822F54B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Microsoft JhengHei"/>
              </a:rPr>
              <a:t>SSD1306 — 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/>
              </a:rPr>
              <a:t>接線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9B2A299-1D14-FD39-EB5F-A57585869739}"/>
              </a:ext>
            </a:extLst>
          </p:cNvPr>
          <p:cNvPicPr/>
          <p:nvPr/>
        </p:nvPicPr>
        <p:blipFill>
          <a:blip r:embed="rId2"/>
          <a:srcRect l="41813" r="31349"/>
          <a:stretch>
            <a:fillRect/>
          </a:stretch>
        </p:blipFill>
        <p:spPr>
          <a:xfrm>
            <a:off x="9603813" y="1303527"/>
            <a:ext cx="2356413" cy="4918220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54F5528-2943-CB2B-AEBF-3D154AFC50DA}"/>
              </a:ext>
            </a:extLst>
          </p:cNvPr>
          <p:cNvSpPr txBox="1"/>
          <p:nvPr/>
        </p:nvSpPr>
        <p:spPr>
          <a:xfrm>
            <a:off x="8648064" y="1504537"/>
            <a:ext cx="10198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OLED</a:t>
            </a:r>
            <a:r>
              <a:rPr lang="zh-TW" altLang="en-US" sz="1200" b="1" dirty="0">
                <a:solidFill>
                  <a:srgbClr val="FF0000"/>
                </a:solidFill>
                <a:latin typeface="Microsoft JhengHei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VCC</a:t>
            </a:r>
          </a:p>
          <a:p>
            <a:pPr algn="r"/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OLED</a:t>
            </a:r>
            <a:r>
              <a:rPr lang="zh-TW" altLang="en-US" sz="1200" b="1" dirty="0">
                <a:solidFill>
                  <a:srgbClr val="FF0000"/>
                </a:solidFill>
                <a:latin typeface="Microsoft JhengHei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GND</a:t>
            </a:r>
          </a:p>
          <a:p>
            <a:pPr algn="r"/>
            <a:endParaRPr lang="en-US" altLang="zh-TW" sz="1200" b="1" i="0" dirty="0">
              <a:solidFill>
                <a:srgbClr val="FF0000"/>
              </a:solidFill>
              <a:latin typeface="Microsoft JhengHei"/>
            </a:endParaRPr>
          </a:p>
          <a:p>
            <a:pPr algn="r"/>
            <a:endParaRPr lang="en-US" altLang="zh-TW" sz="1200" b="1" dirty="0">
              <a:solidFill>
                <a:srgbClr val="FF0000"/>
              </a:solidFill>
              <a:latin typeface="Microsoft JhengHei"/>
            </a:endParaRPr>
          </a:p>
          <a:p>
            <a:pPr algn="r"/>
            <a:endParaRPr lang="en-US" altLang="zh-TW" sz="1200" b="1" i="0" dirty="0">
              <a:solidFill>
                <a:srgbClr val="FF0000"/>
              </a:solidFill>
              <a:latin typeface="Microsoft JhengHei"/>
            </a:endParaRPr>
          </a:p>
          <a:p>
            <a:pPr algn="r"/>
            <a:endParaRPr lang="en-US" altLang="zh-TW" sz="1200" b="1" dirty="0">
              <a:solidFill>
                <a:srgbClr val="FF0000"/>
              </a:solidFill>
              <a:latin typeface="Microsoft JhengHei"/>
            </a:endParaRPr>
          </a:p>
          <a:p>
            <a:pPr algn="r"/>
            <a:endParaRPr lang="en-US" altLang="zh-TW" sz="1000" b="1" i="0" dirty="0">
              <a:solidFill>
                <a:srgbClr val="FF0000"/>
              </a:solidFill>
              <a:latin typeface="Microsoft JhengHei"/>
            </a:endParaRPr>
          </a:p>
          <a:p>
            <a:pPr algn="r"/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OLED</a:t>
            </a:r>
            <a:r>
              <a:rPr lang="zh-TW" altLang="en-US" sz="1200" b="1" dirty="0">
                <a:solidFill>
                  <a:srgbClr val="FF0000"/>
                </a:solidFill>
                <a:latin typeface="Microsoft JhengHei"/>
              </a:rPr>
              <a:t> </a:t>
            </a:r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SDA</a:t>
            </a:r>
          </a:p>
          <a:p>
            <a:pPr algn="r"/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OLED</a:t>
            </a:r>
            <a:r>
              <a:rPr lang="zh-TW" altLang="en-US" sz="1200" b="1" dirty="0">
                <a:solidFill>
                  <a:srgbClr val="FF0000"/>
                </a:solidFill>
                <a:latin typeface="Microsoft JhengHei"/>
              </a:rPr>
              <a:t> </a:t>
            </a:r>
            <a:r>
              <a:rPr lang="en-US" altLang="zh-TW" sz="1200" b="1" dirty="0">
                <a:solidFill>
                  <a:srgbClr val="FF0000"/>
                </a:solidFill>
                <a:latin typeface="Microsoft JhengHei"/>
              </a:rPr>
              <a:t>SCL</a:t>
            </a:r>
            <a:endParaRPr lang="zh-TW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F5F07AEB-475B-D0B2-C823-BA11C64E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62" r="54754" b="6857"/>
          <a:stretch>
            <a:fillRect/>
          </a:stretch>
        </p:blipFill>
        <p:spPr>
          <a:xfrm>
            <a:off x="479692" y="1097280"/>
            <a:ext cx="2949307" cy="22656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14DFAF14-5879-BF75-7334-A327E3003B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585"/>
          <a:stretch>
            <a:fillRect/>
          </a:stretch>
        </p:blipFill>
        <p:spPr>
          <a:xfrm>
            <a:off x="479692" y="3762637"/>
            <a:ext cx="2949307" cy="220751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663929B7-F58E-787E-5569-38EDC965E0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650" y="1389808"/>
            <a:ext cx="4671414" cy="40783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1" name="文字方塊 50">
            <a:extLst>
              <a:ext uri="{FF2B5EF4-FFF2-40B4-BE49-F238E27FC236}">
                <a16:creationId xmlns:a16="http://schemas.microsoft.com/office/drawing/2014/main" id="{4D8A574B-FBEF-EE1F-1626-260EAF12D05D}"/>
              </a:ext>
            </a:extLst>
          </p:cNvPr>
          <p:cNvSpPr txBox="1"/>
          <p:nvPr/>
        </p:nvSpPr>
        <p:spPr>
          <a:xfrm>
            <a:off x="938974" y="3363757"/>
            <a:ext cx="21403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先將</a:t>
            </a:r>
            <a:r>
              <a:rPr lang="en-US" altLang="zh-TW" dirty="0"/>
              <a:t>OLED</a:t>
            </a:r>
            <a:r>
              <a:rPr lang="zh-TW" altLang="en-US" dirty="0"/>
              <a:t>卡入插槽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20760A3-3F35-FFB2-5E2C-12D54896C495}"/>
              </a:ext>
            </a:extLst>
          </p:cNvPr>
          <p:cNvSpPr txBox="1"/>
          <p:nvPr/>
        </p:nvSpPr>
        <p:spPr>
          <a:xfrm>
            <a:off x="228599" y="5970152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從筆桿中間位置穿孔連接杜邦線</a:t>
            </a:r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91C3D894-6B2E-27F2-ADAB-F42A3CBF9B40}"/>
              </a:ext>
            </a:extLst>
          </p:cNvPr>
          <p:cNvSpPr txBox="1"/>
          <p:nvPr/>
        </p:nvSpPr>
        <p:spPr>
          <a:xfrm>
            <a:off x="5103532" y="5518032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燒錄</a:t>
            </a:r>
            <a:r>
              <a:rPr lang="en-US" altLang="zh-TW" dirty="0"/>
              <a:t>OLED</a:t>
            </a:r>
            <a:r>
              <a:rPr lang="zh-TW" altLang="en-US" dirty="0"/>
              <a:t> 測試程式碼</a:t>
            </a:r>
          </a:p>
        </p:txBody>
      </p:sp>
    </p:spTree>
    <p:extLst>
      <p:ext uri="{BB962C8B-B14F-4D97-AF65-F5344CB8AC3E}">
        <p14:creationId xmlns:p14="http://schemas.microsoft.com/office/powerpoint/2010/main" val="2252817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BDBA680D-C7C9-FEDC-BB95-2838DADDF34F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altLang="zh-TW" sz="3600" b="1" i="0" dirty="0">
                <a:solidFill>
                  <a:srgbClr val="BDD7EE"/>
                </a:solidFill>
                <a:latin typeface="Microsoft JhengHei"/>
              </a:rPr>
              <a:t>2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CE5AC36-5339-3D1F-18B2-9174E62B83DF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微動開關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-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接線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41EC043-6FEF-2768-D8B1-B38A886A7F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370" r="52065" b="26261"/>
          <a:stretch>
            <a:fillRect/>
          </a:stretch>
        </p:blipFill>
        <p:spPr>
          <a:xfrm>
            <a:off x="367973" y="886923"/>
            <a:ext cx="3021677" cy="2317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5A74EE9-07E6-0A91-2D70-684136BF43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393" t="49097" b="13407"/>
          <a:stretch>
            <a:fillRect/>
          </a:stretch>
        </p:blipFill>
        <p:spPr>
          <a:xfrm>
            <a:off x="426515" y="3967765"/>
            <a:ext cx="2844800" cy="19113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83319D90-0B9D-5D76-58D6-7B805B40AA96}"/>
              </a:ext>
            </a:extLst>
          </p:cNvPr>
          <p:cNvSpPr txBox="1"/>
          <p:nvPr/>
        </p:nvSpPr>
        <p:spPr>
          <a:xfrm>
            <a:off x="256170" y="3209115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將杜邦線先接上針腳</a:t>
            </a:r>
            <a:endParaRPr lang="en-US" altLang="zh-TW" dirty="0"/>
          </a:p>
          <a:p>
            <a:pPr algn="ctr"/>
            <a:r>
              <a:rPr lang="zh-TW" altLang="en-US" dirty="0"/>
              <a:t>並將微動開關斜插進按鈕溝槽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310894F-08C9-36CC-8731-09ECA8A98957}"/>
              </a:ext>
            </a:extLst>
          </p:cNvPr>
          <p:cNvSpPr txBox="1"/>
          <p:nvPr/>
        </p:nvSpPr>
        <p:spPr>
          <a:xfrm>
            <a:off x="371587" y="5879071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往前推之後，按鈕卡住即可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1F2E11F-0463-1B06-080F-6F3B2E1E1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7224" y="1291147"/>
            <a:ext cx="4759036" cy="42184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F4CB228-0779-C51C-7BD2-E2CF41A454DE}"/>
              </a:ext>
            </a:extLst>
          </p:cNvPr>
          <p:cNvSpPr txBox="1"/>
          <p:nvPr/>
        </p:nvSpPr>
        <p:spPr>
          <a:xfrm>
            <a:off x="4579365" y="5583676"/>
            <a:ext cx="26666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dirty="0"/>
              <a:t>燒錄</a:t>
            </a:r>
            <a:r>
              <a:rPr lang="en-US" altLang="zh-TW" dirty="0"/>
              <a:t>BTN</a:t>
            </a:r>
            <a:r>
              <a:rPr lang="zh-TW" altLang="en-US" dirty="0"/>
              <a:t>程式碼確認接線</a:t>
            </a:r>
            <a:endParaRPr lang="en-US" altLang="zh-TW" dirty="0"/>
          </a:p>
          <a:p>
            <a:pPr algn="ctr"/>
            <a:r>
              <a:rPr lang="zh-TW" altLang="en-US" dirty="0"/>
              <a:t>元件是否正常作動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44F212D-2C3C-2B98-A147-60EBEFC6ACFF}"/>
              </a:ext>
            </a:extLst>
          </p:cNvPr>
          <p:cNvSpPr txBox="1"/>
          <p:nvPr/>
        </p:nvSpPr>
        <p:spPr>
          <a:xfrm>
            <a:off x="11079257" y="1801905"/>
            <a:ext cx="10198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i="0" dirty="0">
                <a:solidFill>
                  <a:srgbClr val="FF0000"/>
                </a:solidFill>
                <a:latin typeface="Microsoft JhengHei"/>
              </a:rPr>
              <a:t>按鈕 </a:t>
            </a:r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S(15)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929A7AA-2414-F818-9CE2-4714142EAB10}"/>
              </a:ext>
            </a:extLst>
          </p:cNvPr>
          <p:cNvSpPr txBox="1"/>
          <p:nvPr/>
        </p:nvSpPr>
        <p:spPr>
          <a:xfrm>
            <a:off x="11044332" y="1324134"/>
            <a:ext cx="1200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i="0" dirty="0">
                <a:solidFill>
                  <a:srgbClr val="FF0000"/>
                </a:solidFill>
                <a:latin typeface="Microsoft JhengHei"/>
              </a:rPr>
              <a:t>按鈕 </a:t>
            </a:r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VCC(</a:t>
            </a:r>
            <a:r>
              <a:rPr lang="zh-TW" altLang="en-US" sz="1200" b="1" i="0" dirty="0">
                <a:solidFill>
                  <a:srgbClr val="FF0000"/>
                </a:solidFill>
                <a:latin typeface="Microsoft JhengHei"/>
              </a:rPr>
              <a:t>中間</a:t>
            </a:r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)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55E6628-2999-0307-F475-C0284D2636C2}"/>
              </a:ext>
            </a:extLst>
          </p:cNvPr>
          <p:cNvSpPr txBox="1"/>
          <p:nvPr/>
        </p:nvSpPr>
        <p:spPr>
          <a:xfrm>
            <a:off x="11079257" y="2050261"/>
            <a:ext cx="1200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b="1" i="0" dirty="0">
                <a:solidFill>
                  <a:srgbClr val="FF0000"/>
                </a:solidFill>
                <a:latin typeface="Microsoft JhengHei"/>
              </a:rPr>
              <a:t>按鈕 </a:t>
            </a:r>
            <a:r>
              <a:rPr lang="en-US" altLang="zh-TW" sz="1200" b="1" i="0" dirty="0">
                <a:solidFill>
                  <a:srgbClr val="FF0000"/>
                </a:solidFill>
                <a:latin typeface="Microsoft JhengHei"/>
              </a:rPr>
              <a:t>GND(-)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318F80-EDD9-C35E-AB8D-FAE1A353F444}"/>
              </a:ext>
            </a:extLst>
          </p:cNvPr>
          <p:cNvPicPr/>
          <p:nvPr/>
        </p:nvPicPr>
        <p:blipFill>
          <a:blip r:embed="rId4"/>
          <a:srcRect l="41813" r="31349"/>
          <a:stretch>
            <a:fillRect/>
          </a:stretch>
        </p:blipFill>
        <p:spPr>
          <a:xfrm>
            <a:off x="8451827" y="1279453"/>
            <a:ext cx="2627430" cy="515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335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4DF15-1512-44E7-4231-369BAB8FD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6F4FA043-5DEA-C934-FC12-BDE14B79CD62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altLang="zh-TW" sz="3600" b="1" dirty="0">
                <a:solidFill>
                  <a:srgbClr val="BDD7EE"/>
                </a:solidFill>
                <a:latin typeface="Microsoft JhengHei"/>
              </a:rPr>
              <a:t>3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948201F-9267-A52C-B675-DEF9036C0704}"/>
              </a:ext>
            </a:extLst>
          </p:cNvPr>
          <p:cNvSpPr txBox="1"/>
          <p:nvPr/>
        </p:nvSpPr>
        <p:spPr>
          <a:xfrm>
            <a:off x="1143000" y="22860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FFFFFF"/>
                </a:solidFill>
              </a:rPr>
              <a:t>HUB-PAA5163D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-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接線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54372116-EAC5-EB6B-BD71-B299963A5F8E}"/>
              </a:ext>
            </a:extLst>
          </p:cNvPr>
          <p:cNvGrpSpPr>
            <a:grpSpLocks noChangeAspect="1"/>
          </p:cNvGrpSpPr>
          <p:nvPr/>
        </p:nvGrpSpPr>
        <p:grpSpPr>
          <a:xfrm>
            <a:off x="607914" y="888980"/>
            <a:ext cx="4902836" cy="5080040"/>
            <a:chOff x="381322" y="1353503"/>
            <a:chExt cx="4299585" cy="4454986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4D640F2F-B887-AD61-0B88-69DAEAF599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3966" t="19111" r="20992" b="32889"/>
            <a:stretch>
              <a:fillRect/>
            </a:stretch>
          </p:blipFill>
          <p:spPr>
            <a:xfrm>
              <a:off x="381322" y="3645996"/>
              <a:ext cx="1379651" cy="216249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741FED22-40B7-4DB1-F32E-912BE99754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2395" t="44000" r="22285" b="8000"/>
            <a:stretch>
              <a:fillRect/>
            </a:stretch>
          </p:blipFill>
          <p:spPr>
            <a:xfrm>
              <a:off x="381322" y="1353503"/>
              <a:ext cx="1379651" cy="180244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F9ADB5C6-C9D0-5207-8A70-E12AA48DE9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4699" t="15958" r="15332" b="26000"/>
            <a:stretch>
              <a:fillRect/>
            </a:stretch>
          </p:blipFill>
          <p:spPr>
            <a:xfrm>
              <a:off x="2252450" y="1357116"/>
              <a:ext cx="2428457" cy="417865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7873AF93-FF76-5406-E03E-36B8B14BD679}"/>
              </a:ext>
            </a:extLst>
          </p:cNvPr>
          <p:cNvGrpSpPr/>
          <p:nvPr/>
        </p:nvGrpSpPr>
        <p:grpSpPr>
          <a:xfrm>
            <a:off x="6653435" y="418506"/>
            <a:ext cx="4702058" cy="4199214"/>
            <a:chOff x="3581400" y="1470066"/>
            <a:chExt cx="4702058" cy="4199214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4BA8240F-1AF5-FAAB-B7BD-AA0A86CB0C6F}"/>
                </a:ext>
              </a:extLst>
            </p:cNvPr>
            <p:cNvPicPr/>
            <p:nvPr/>
          </p:nvPicPr>
          <p:blipFill>
            <a:blip r:embed="rId5"/>
            <a:srcRect l="41012" t="279" r="30872" b="-279"/>
            <a:stretch>
              <a:fillRect/>
            </a:stretch>
          </p:blipFill>
          <p:spPr>
            <a:xfrm>
              <a:off x="4811576" y="1470066"/>
              <a:ext cx="2644346" cy="4199214"/>
            </a:xfrm>
            <a:prstGeom prst="rect">
              <a:avLst/>
            </a:prstGeom>
          </p:spPr>
        </p:pic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61B1A9D4-87F7-D2D5-BBAF-511CDD5B62D4}"/>
                </a:ext>
              </a:extLst>
            </p:cNvPr>
            <p:cNvSpPr txBox="1"/>
            <p:nvPr/>
          </p:nvSpPr>
          <p:spPr>
            <a:xfrm>
              <a:off x="3606041" y="3206865"/>
              <a:ext cx="14511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200" b="1" i="0" dirty="0">
                  <a:solidFill>
                    <a:srgbClr val="FF0000"/>
                  </a:solidFill>
                  <a:latin typeface="Microsoft JhengHei"/>
                </a:rPr>
                <a:t>PAA</a:t>
              </a:r>
              <a:r>
                <a:rPr lang="zh-TW" altLang="en-US" sz="1200" b="1" dirty="0">
                  <a:solidFill>
                    <a:srgbClr val="FF0000"/>
                  </a:solidFill>
                  <a:latin typeface="Microsoft JhengHei"/>
                </a:rPr>
                <a:t>  </a:t>
              </a:r>
              <a:r>
                <a:rPr lang="en-US" altLang="zh-TW" sz="1200" b="1" dirty="0">
                  <a:solidFill>
                    <a:srgbClr val="FF0000"/>
                  </a:solidFill>
                  <a:latin typeface="Microsoft JhengHei"/>
                </a:rPr>
                <a:t>UART</a:t>
              </a:r>
              <a:r>
                <a:rPr lang="zh-TW" altLang="en-US" sz="1200" b="1" dirty="0">
                  <a:solidFill>
                    <a:srgbClr val="FF0000"/>
                  </a:solidFill>
                  <a:latin typeface="Microsoft JhengHei"/>
                </a:rPr>
                <a:t> </a:t>
              </a:r>
              <a:r>
                <a:rPr lang="en-US" altLang="zh-TW" sz="1200" b="1" dirty="0">
                  <a:solidFill>
                    <a:srgbClr val="FF0000"/>
                  </a:solidFill>
                  <a:latin typeface="Microsoft JhengHei"/>
                </a:rPr>
                <a:t>TX</a:t>
              </a:r>
              <a:endParaRPr lang="en-US" altLang="zh-TW" sz="1200" b="1" i="0" dirty="0">
                <a:solidFill>
                  <a:srgbClr val="FF0000"/>
                </a:solidFill>
                <a:latin typeface="Microsoft JhengHei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F58BAD04-99C7-C07D-94FF-702F2629BB69}"/>
                </a:ext>
              </a:extLst>
            </p:cNvPr>
            <p:cNvSpPr txBox="1"/>
            <p:nvPr/>
          </p:nvSpPr>
          <p:spPr>
            <a:xfrm>
              <a:off x="3581400" y="2906144"/>
              <a:ext cx="14511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200" b="1" i="0" dirty="0">
                  <a:solidFill>
                    <a:srgbClr val="FF0000"/>
                  </a:solidFill>
                  <a:latin typeface="Microsoft JhengHei"/>
                </a:rPr>
                <a:t>PAA</a:t>
              </a:r>
              <a:r>
                <a:rPr lang="zh-TW" altLang="en-US" sz="1200" b="1" dirty="0">
                  <a:solidFill>
                    <a:srgbClr val="FF0000"/>
                  </a:solidFill>
                  <a:latin typeface="Microsoft JhengHei"/>
                </a:rPr>
                <a:t>  </a:t>
              </a:r>
              <a:r>
                <a:rPr lang="en-US" altLang="zh-TW" sz="1200" b="1" dirty="0">
                  <a:solidFill>
                    <a:srgbClr val="FF0000"/>
                  </a:solidFill>
                  <a:latin typeface="Microsoft JhengHei"/>
                </a:rPr>
                <a:t>UART</a:t>
              </a:r>
              <a:r>
                <a:rPr lang="zh-TW" altLang="en-US" sz="1200" b="1" dirty="0">
                  <a:solidFill>
                    <a:srgbClr val="FF0000"/>
                  </a:solidFill>
                  <a:latin typeface="Microsoft JhengHei"/>
                </a:rPr>
                <a:t> </a:t>
              </a:r>
              <a:r>
                <a:rPr lang="en-US" altLang="zh-TW" sz="1200" b="1" dirty="0">
                  <a:solidFill>
                    <a:srgbClr val="FF0000"/>
                  </a:solidFill>
                  <a:latin typeface="Microsoft JhengHei"/>
                </a:rPr>
                <a:t>RX</a:t>
              </a:r>
              <a:endParaRPr lang="en-US" altLang="zh-TW" sz="1200" b="1" i="0" dirty="0">
                <a:solidFill>
                  <a:srgbClr val="FF0000"/>
                </a:solidFill>
                <a:latin typeface="Microsoft JhengHei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F6297D0-FAC7-5672-F10C-CFBBF2ADF86F}"/>
                </a:ext>
              </a:extLst>
            </p:cNvPr>
            <p:cNvSpPr txBox="1"/>
            <p:nvPr/>
          </p:nvSpPr>
          <p:spPr>
            <a:xfrm>
              <a:off x="7397751" y="2251202"/>
              <a:ext cx="83490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200" b="1" i="0" dirty="0">
                  <a:solidFill>
                    <a:srgbClr val="FF0000"/>
                  </a:solidFill>
                  <a:latin typeface="Microsoft JhengHei"/>
                </a:rPr>
                <a:t>PAA</a:t>
              </a:r>
              <a:r>
                <a:rPr lang="zh-TW" altLang="en-US" sz="1200" b="1" i="0" dirty="0">
                  <a:solidFill>
                    <a:srgbClr val="FF0000"/>
                  </a:solidFill>
                  <a:latin typeface="Microsoft JhengHei"/>
                </a:rPr>
                <a:t> </a:t>
              </a:r>
              <a:r>
                <a:rPr lang="en-US" altLang="zh-TW" sz="1200" b="1" i="0" dirty="0">
                  <a:solidFill>
                    <a:srgbClr val="FF0000"/>
                  </a:solidFill>
                  <a:latin typeface="Microsoft JhengHei"/>
                </a:rPr>
                <a:t>5V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C8780C47-A70A-7022-D6C2-BA4EFF510A86}"/>
                </a:ext>
              </a:extLst>
            </p:cNvPr>
            <p:cNvSpPr txBox="1"/>
            <p:nvPr/>
          </p:nvSpPr>
          <p:spPr>
            <a:xfrm>
              <a:off x="7397751" y="2906144"/>
              <a:ext cx="88570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TW" sz="1200" b="1" i="0" dirty="0">
                  <a:solidFill>
                    <a:srgbClr val="FF0000"/>
                  </a:solidFill>
                  <a:latin typeface="Microsoft JhengHei"/>
                </a:rPr>
                <a:t>PAA</a:t>
              </a:r>
              <a:r>
                <a:rPr lang="zh-TW" altLang="en-US" sz="1200" b="1" i="0" dirty="0">
                  <a:solidFill>
                    <a:srgbClr val="FF0000"/>
                  </a:solidFill>
                  <a:latin typeface="Microsoft JhengHei"/>
                </a:rPr>
                <a:t> </a:t>
              </a:r>
              <a:r>
                <a:rPr lang="en-US" altLang="zh-TW" sz="1200" b="1" dirty="0">
                  <a:solidFill>
                    <a:srgbClr val="FF0000"/>
                  </a:solidFill>
                  <a:latin typeface="Microsoft JhengHei"/>
                </a:rPr>
                <a:t>GND</a:t>
              </a:r>
              <a:endParaRPr lang="en-US" altLang="zh-TW" sz="1200" b="1" i="0" dirty="0">
                <a:solidFill>
                  <a:srgbClr val="FF0000"/>
                </a:solidFill>
                <a:latin typeface="Microsoft JhengHei"/>
              </a:endParaRPr>
            </a:p>
          </p:txBody>
        </p:sp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1C4E0477-54B8-52EB-2C75-29AA4704CB4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383" t="41481" r="28383" b="38148"/>
          <a:stretch>
            <a:fillRect/>
          </a:stretch>
        </p:blipFill>
        <p:spPr>
          <a:xfrm>
            <a:off x="8062665" y="4866640"/>
            <a:ext cx="2325041" cy="1945640"/>
          </a:xfrm>
          <a:prstGeom prst="rect">
            <a:avLst/>
          </a:prstGeom>
        </p:spPr>
      </p:pic>
      <p:cxnSp>
        <p:nvCxnSpPr>
          <p:cNvPr id="32" name="接點: 肘形 31">
            <a:extLst>
              <a:ext uri="{FF2B5EF4-FFF2-40B4-BE49-F238E27FC236}">
                <a16:creationId xmlns:a16="http://schemas.microsoft.com/office/drawing/2014/main" id="{7ACB6360-2BC9-9FEA-DF45-20AC1FE72E3A}"/>
              </a:ext>
            </a:extLst>
          </p:cNvPr>
          <p:cNvCxnSpPr>
            <a:endCxn id="25" idx="1"/>
          </p:cNvCxnSpPr>
          <p:nvPr/>
        </p:nvCxnSpPr>
        <p:spPr>
          <a:xfrm rot="16200000" flipV="1">
            <a:off x="6199037" y="2772844"/>
            <a:ext cx="2830576" cy="1872498"/>
          </a:xfrm>
          <a:prstGeom prst="bentConnector4">
            <a:avLst>
              <a:gd name="adj1" fmla="val 13276"/>
              <a:gd name="adj2" fmla="val 1122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接點: 肘形 33">
            <a:extLst>
              <a:ext uri="{FF2B5EF4-FFF2-40B4-BE49-F238E27FC236}">
                <a16:creationId xmlns:a16="http://schemas.microsoft.com/office/drawing/2014/main" id="{4B962267-BA05-3FB0-8F81-F1A8B98F1CEF}"/>
              </a:ext>
            </a:extLst>
          </p:cNvPr>
          <p:cNvCxnSpPr>
            <a:cxnSpLocks/>
            <a:endCxn id="26" idx="1"/>
          </p:cNvCxnSpPr>
          <p:nvPr/>
        </p:nvCxnSpPr>
        <p:spPr>
          <a:xfrm rot="16200000" flipV="1">
            <a:off x="6555588" y="2090932"/>
            <a:ext cx="3092217" cy="2896522"/>
          </a:xfrm>
          <a:prstGeom prst="bentConnector4">
            <a:avLst>
              <a:gd name="adj1" fmla="val 13097"/>
              <a:gd name="adj2" fmla="val 128587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接點: 肘形 39">
            <a:extLst>
              <a:ext uri="{FF2B5EF4-FFF2-40B4-BE49-F238E27FC236}">
                <a16:creationId xmlns:a16="http://schemas.microsoft.com/office/drawing/2014/main" id="{CDD2FD81-29A4-95C0-DA7B-6A655213B79B}"/>
              </a:ext>
            </a:extLst>
          </p:cNvPr>
          <p:cNvCxnSpPr>
            <a:cxnSpLocks/>
            <a:endCxn id="28" idx="3"/>
          </p:cNvCxnSpPr>
          <p:nvPr/>
        </p:nvCxnSpPr>
        <p:spPr>
          <a:xfrm rot="5400000" flipH="1" flipV="1">
            <a:off x="8906616" y="2788825"/>
            <a:ext cx="3244618" cy="1653136"/>
          </a:xfrm>
          <a:prstGeom prst="bentConnector4">
            <a:avLst>
              <a:gd name="adj1" fmla="val 18745"/>
              <a:gd name="adj2" fmla="val 1146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接點: 肘形 44">
            <a:extLst>
              <a:ext uri="{FF2B5EF4-FFF2-40B4-BE49-F238E27FC236}">
                <a16:creationId xmlns:a16="http://schemas.microsoft.com/office/drawing/2014/main" id="{4865CF21-84EA-28B5-30FE-7BF536A3C07B}"/>
              </a:ext>
            </a:extLst>
          </p:cNvPr>
          <p:cNvCxnSpPr>
            <a:cxnSpLocks/>
            <a:endCxn id="27" idx="3"/>
          </p:cNvCxnSpPr>
          <p:nvPr/>
        </p:nvCxnSpPr>
        <p:spPr>
          <a:xfrm rot="5400000" flipH="1" flipV="1">
            <a:off x="8636348" y="2600547"/>
            <a:ext cx="3930750" cy="1405940"/>
          </a:xfrm>
          <a:prstGeom prst="bentConnector4">
            <a:avLst>
              <a:gd name="adj1" fmla="val 12039"/>
              <a:gd name="adj2" fmla="val 14330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D7E626FB-9B03-A611-DAE3-0186FBA5ABD5}"/>
              </a:ext>
            </a:extLst>
          </p:cNvPr>
          <p:cNvSpPr txBox="1"/>
          <p:nvPr/>
        </p:nvSpPr>
        <p:spPr>
          <a:xfrm>
            <a:off x="143854" y="2967321"/>
            <a:ext cx="25469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/>
              <a:t>將</a:t>
            </a:r>
            <a:r>
              <a:rPr lang="en-US" altLang="zh-TW" sz="1600" b="1" dirty="0"/>
              <a:t>PAA5163D</a:t>
            </a:r>
            <a:r>
              <a:rPr lang="zh-TW" altLang="en-US" sz="1600" b="1" dirty="0"/>
              <a:t>插入元件孔位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3A161A31-E802-6631-A04C-4757BB4F9B98}"/>
              </a:ext>
            </a:extLst>
          </p:cNvPr>
          <p:cNvSpPr txBox="1"/>
          <p:nvPr/>
        </p:nvSpPr>
        <p:spPr>
          <a:xfrm>
            <a:off x="398433" y="5984051"/>
            <a:ext cx="1947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/>
              <a:t>將對應線接上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背面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47928AD6-1883-A7A6-D9EC-1D53767F8672}"/>
              </a:ext>
            </a:extLst>
          </p:cNvPr>
          <p:cNvSpPr txBox="1"/>
          <p:nvPr/>
        </p:nvSpPr>
        <p:spPr>
          <a:xfrm>
            <a:off x="3502439" y="6137939"/>
            <a:ext cx="47359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b="1" dirty="0"/>
              <a:t>(</a:t>
            </a:r>
            <a:r>
              <a:rPr lang="zh-TW" altLang="en-US" sz="1800" b="1" dirty="0"/>
              <a:t>杜邦線同時會卡住</a:t>
            </a:r>
            <a:r>
              <a:rPr lang="en-US" altLang="zh-TW" sz="1800" b="1" dirty="0"/>
              <a:t>PAA5163D</a:t>
            </a:r>
            <a:r>
              <a:rPr lang="zh-TW" altLang="en-US" sz="1800" b="1" dirty="0"/>
              <a:t>使之不會鬆脫</a:t>
            </a:r>
            <a:r>
              <a:rPr lang="en-US" altLang="zh-TW" sz="1800" b="1" dirty="0"/>
              <a:t>)</a:t>
            </a:r>
            <a:endParaRPr lang="zh-TW" altLang="en-US" sz="1800" b="1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80EDD93-C68E-FB14-E25D-36287BC2CC32}"/>
              </a:ext>
            </a:extLst>
          </p:cNvPr>
          <p:cNvSpPr txBox="1"/>
          <p:nvPr/>
        </p:nvSpPr>
        <p:spPr>
          <a:xfrm>
            <a:off x="3152175" y="5680533"/>
            <a:ext cx="19479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b="1" dirty="0"/>
              <a:t>將對應線接上</a:t>
            </a:r>
            <a:r>
              <a:rPr lang="en-US" altLang="zh-TW" sz="1600" b="1" dirty="0"/>
              <a:t>(</a:t>
            </a:r>
            <a:r>
              <a:rPr lang="zh-TW" altLang="en-US" sz="1600" b="1" dirty="0"/>
              <a:t>側面</a:t>
            </a:r>
            <a:r>
              <a:rPr lang="en-US" altLang="zh-TW" sz="1600" b="1" dirty="0"/>
              <a:t>)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94267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1EA71EAB-FD0B-9CDB-9844-5AF82245C5C2}"/>
              </a:ext>
            </a:extLst>
          </p:cNvPr>
          <p:cNvSpPr txBox="1"/>
          <p:nvPr/>
        </p:nvSpPr>
        <p:spPr>
          <a:xfrm>
            <a:off x="6165738" y="6061228"/>
            <a:ext cx="5111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燒錄</a:t>
            </a:r>
            <a:r>
              <a:rPr lang="en-US" altLang="zh-TW" dirty="0" err="1"/>
              <a:t>PAA.ino</a:t>
            </a:r>
            <a:r>
              <a:rPr lang="zh-TW" altLang="en-US" dirty="0"/>
              <a:t>程式碼確認接線、元件是否正常作動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DFE5A4F-5925-BACB-0B97-FFA6CB3F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16" y="1002086"/>
            <a:ext cx="3763286" cy="501771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5">
            <a:extLst>
              <a:ext uri="{FF2B5EF4-FFF2-40B4-BE49-F238E27FC236}">
                <a16:creationId xmlns:a16="http://schemas.microsoft.com/office/drawing/2014/main" id="{1DCD7A5A-64AC-949D-E80A-B51183F8FB7A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altLang="zh-TW" sz="3600" b="1" dirty="0">
                <a:solidFill>
                  <a:srgbClr val="BDD7EE"/>
                </a:solidFill>
                <a:latin typeface="Microsoft JhengHei"/>
              </a:rPr>
              <a:t>3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A1E83989-8575-2824-B64E-2F5279D5068A}"/>
              </a:ext>
            </a:extLst>
          </p:cNvPr>
          <p:cNvSpPr txBox="1"/>
          <p:nvPr/>
        </p:nvSpPr>
        <p:spPr>
          <a:xfrm>
            <a:off x="1143000" y="22860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solidFill>
                  <a:srgbClr val="FFFFFF"/>
                </a:solidFill>
              </a:rPr>
              <a:t>HUB-PAA5163D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-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接線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90A4538-F577-DC1C-3FAA-613256391E77}"/>
              </a:ext>
            </a:extLst>
          </p:cNvPr>
          <p:cNvSpPr txBox="1"/>
          <p:nvPr/>
        </p:nvSpPr>
        <p:spPr>
          <a:xfrm>
            <a:off x="1112177" y="6019800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所有</a:t>
            </a:r>
            <a:r>
              <a:rPr lang="en-US" altLang="zh-TW" b="1" dirty="0"/>
              <a:t>ai pen</a:t>
            </a:r>
            <a:r>
              <a:rPr lang="zh-TW" altLang="en-US" b="1" dirty="0"/>
              <a:t>的所需元件都連接完成</a:t>
            </a:r>
            <a:r>
              <a:rPr lang="en-US" altLang="zh-TW" b="1" dirty="0"/>
              <a:t>!</a:t>
            </a:r>
            <a:endParaRPr lang="zh-TW" altLang="en-US" b="1" dirty="0"/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ED5E374-62E5-4D04-9B81-20BECCDD7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738" y="1182102"/>
            <a:ext cx="5254308" cy="47969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18812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altLang="zh-TW" sz="3600" b="1" i="0" dirty="0">
                <a:solidFill>
                  <a:srgbClr val="BDD7EE"/>
                </a:solidFill>
                <a:latin typeface="Microsoft JhengHei"/>
              </a:rPr>
              <a:t>5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目標偵測入門：YOLO 是什麼？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電腦視覺的三個層次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83080"/>
            <a:ext cx="1371600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96596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影像分類
(Classification)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783080"/>
            <a:ext cx="406908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185623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Microsoft JhengHei"/>
              </a:rPr>
              <a:t>這張圖片是什麼？
只有一個答案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774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Microsoft JhengHei"/>
              </a:rPr>
              <a:t>例：貓 / 狗 / 數字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063240"/>
            <a:ext cx="1371600" cy="1143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24612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目標偵測
(Detection)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3063240"/>
            <a:ext cx="406908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37360" y="31363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Microsoft JhengHei"/>
              </a:rPr>
              <a:t>圖片裡有什麼？在哪裡？
可以有多個答案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6576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  <a:latin typeface="Microsoft JhengHei"/>
              </a:rPr>
              <a:t>例：3 個數字 + 2 個符號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343400"/>
            <a:ext cx="137160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4526280"/>
            <a:ext cx="1280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語義分割
(Segmentation)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0" y="4343400"/>
            <a:ext cx="4069080" cy="1143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441655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Microsoft JhengHei"/>
              </a:rPr>
              <a:t>每個像素屬於哪個類別？
最細粒度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937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例：略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669280"/>
            <a:ext cx="5486400" cy="5486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5742432"/>
            <a:ext cx="5303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FFFF"/>
                </a:solidFill>
                <a:latin typeface="Microsoft JhengHei"/>
              </a:rPr>
              <a:t>AI-</a:t>
            </a:r>
            <a:r>
              <a:rPr lang="en-US" sz="1200" b="1" i="0" dirty="0">
                <a:solidFill>
                  <a:srgbClr val="FFFFFF"/>
                </a:solidFill>
                <a:latin typeface="Microsoft JhengHei"/>
              </a:rPr>
              <a:t>PEN</a:t>
            </a:r>
            <a:r>
              <a:rPr sz="12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Microsoft JhengHei"/>
              </a:rPr>
              <a:t>使用「目標偵測</a:t>
            </a:r>
            <a:r>
              <a:rPr sz="1200" b="1" i="0" dirty="0">
                <a:solidFill>
                  <a:srgbClr val="FFFFFF"/>
                </a:solidFill>
                <a:latin typeface="Microsoft JhengHei"/>
              </a:rPr>
              <a:t>」：</a:t>
            </a:r>
            <a:r>
              <a:rPr sz="1200" b="1" i="0" dirty="0" err="1">
                <a:solidFill>
                  <a:srgbClr val="FFFFFF"/>
                </a:solidFill>
                <a:latin typeface="Microsoft JhengHei"/>
              </a:rPr>
              <a:t>辨識</a:t>
            </a:r>
            <a:r>
              <a:rPr sz="1200" b="1" i="0" dirty="0">
                <a:solidFill>
                  <a:srgbClr val="FFFFFF"/>
                </a:solidFill>
                <a:latin typeface="Microsoft JhengHei"/>
              </a:rPr>
              <a:t> 128×128 </a:t>
            </a:r>
            <a:r>
              <a:rPr sz="1200" b="1" i="0" dirty="0" err="1">
                <a:solidFill>
                  <a:srgbClr val="FFFFFF"/>
                </a:solidFill>
                <a:latin typeface="Microsoft JhengHei"/>
              </a:rPr>
              <a:t>圖中的手寫字符及其位置</a:t>
            </a:r>
            <a:endParaRPr sz="12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0" y="1280160"/>
            <a:ext cx="59893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YOLO（You Only Look Once）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1737360"/>
            <a:ext cx="5989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35040" y="1828800"/>
            <a:ext cx="57607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傳統目標偵測方法：先找可能有目標的區域，再分類（兩步驟，慢）</a:t>
            </a:r>
          </a:p>
          <a:p>
            <a:pPr>
              <a:spcBef>
                <a:spcPts val="300"/>
              </a:spcBef>
            </a:pPr>
            <a:endParaRPr sz="1200" b="0">
              <a:solidFill>
                <a:srgbClr val="303040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F3864"/>
                </a:solidFill>
                <a:latin typeface="Microsoft JhengHei"/>
              </a:rPr>
              <a:t>YOLO 的突破：一次性同時預測所有目標的位置和類別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0AD47"/>
                </a:solidFill>
                <a:latin typeface="Microsoft JhengHei"/>
              </a:rPr>
              <a:t>→ 速度極快，適合即時應用</a:t>
            </a: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70AD47"/>
                </a:solidFill>
                <a:latin typeface="Microsoft JhengHei"/>
              </a:rPr>
              <a:t>→ 單一神經網路完成所有工作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3657600"/>
            <a:ext cx="5989320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0" y="370332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YOLO 輸出什麼？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087368"/>
            <a:ext cx="59893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0" y="4160520"/>
            <a:ext cx="15544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89320" y="42702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邊界框 (BBox)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233672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x, y, width, height — 目標在圖中的位置和大小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4818888"/>
            <a:ext cx="1554480" cy="5669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492861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類別 (Class)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892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預測是哪個類別（本專題：14 類）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5477256"/>
            <a:ext cx="1554480" cy="56692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89320" y="558698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JhengHei"/>
              </a:rPr>
              <a:t>信心值 (Confidence)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55040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預測結果的把握程度（0–1），本專題閾值 0.25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altLang="zh-TW" sz="3600" b="1" i="0" dirty="0">
                <a:solidFill>
                  <a:srgbClr val="BDD7EE"/>
                </a:solidFill>
                <a:latin typeface="Microsoft JhengHei"/>
              </a:rPr>
              <a:t>6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Microsoft JhengHei"/>
              </a:rPr>
              <a:t>YOLOv4-Tiny 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模型架構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117043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為什麼選 YOLOv4-Tiny 而不是完整版 YOLOv4？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117043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303040"/>
                </a:solidFill>
                <a:latin typeface="Microsoft JhengHei"/>
              </a:rPr>
              <a:t>嵌入式裝置記憶體有限，完整版 YOLOv4 模型超過 200MB，而 YOLOv4-Tiny 只有約 23MB（ONNX），轉成 .nb 後約 4.4MB。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303040"/>
                </a:solidFill>
                <a:latin typeface="Microsoft JhengHei"/>
              </a:rPr>
              <a:t>精簡後的網路仍能達到本任務所需的準確率（手寫數字/符號辨識，背景單純，目標明確）。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4533F21C-BE53-28BE-89F4-BA0247DE8024}"/>
              </a:ext>
            </a:extLst>
          </p:cNvPr>
          <p:cNvSpPr/>
          <p:nvPr/>
        </p:nvSpPr>
        <p:spPr>
          <a:xfrm>
            <a:off x="228600" y="2714054"/>
            <a:ext cx="6858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54078D52-F8EE-6D2A-0BF8-76512949DE6F}"/>
              </a:ext>
            </a:extLst>
          </p:cNvPr>
          <p:cNvSpPr txBox="1"/>
          <p:nvPr/>
        </p:nvSpPr>
        <p:spPr>
          <a:xfrm>
            <a:off x="320040" y="2759774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14 個輸出類別（obj.names）</a:t>
            </a: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EA5E8475-6A84-6C91-D900-9E8EF33C894B}"/>
              </a:ext>
            </a:extLst>
          </p:cNvPr>
          <p:cNvGrpSpPr/>
          <p:nvPr/>
        </p:nvGrpSpPr>
        <p:grpSpPr>
          <a:xfrm>
            <a:off x="274320" y="3216974"/>
            <a:ext cx="6766560" cy="2139696"/>
            <a:chOff x="274320" y="1783080"/>
            <a:chExt cx="6291072" cy="1755648"/>
          </a:xfrm>
        </p:grpSpPr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3B723209-557D-30DE-FCF0-20C446EFD790}"/>
                </a:ext>
              </a:extLst>
            </p:cNvPr>
            <p:cNvSpPr/>
            <p:nvPr/>
          </p:nvSpPr>
          <p:spPr>
            <a:xfrm>
              <a:off x="2743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D8FB25FA-8855-6BDB-FA6A-E17250B15306}"/>
                </a:ext>
              </a:extLst>
            </p:cNvPr>
            <p:cNvSpPr txBox="1"/>
            <p:nvPr/>
          </p:nvSpPr>
          <p:spPr>
            <a:xfrm>
              <a:off x="2743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0</a:t>
              </a:r>
            </a:p>
          </p:txBody>
        </p:sp>
        <p:sp>
          <p:nvSpPr>
            <p:cNvPr id="56" name="TextBox 12">
              <a:extLst>
                <a:ext uri="{FF2B5EF4-FFF2-40B4-BE49-F238E27FC236}">
                  <a16:creationId xmlns:a16="http://schemas.microsoft.com/office/drawing/2014/main" id="{04B1BB0B-58D0-48A6-35D9-B3B5EAC74674}"/>
                </a:ext>
              </a:extLst>
            </p:cNvPr>
            <p:cNvSpPr txBox="1"/>
            <p:nvPr/>
          </p:nvSpPr>
          <p:spPr>
            <a:xfrm>
              <a:off x="2743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數字零</a:t>
              </a:r>
            </a:p>
          </p:txBody>
        </p:sp>
        <p:sp>
          <p:nvSpPr>
            <p:cNvPr id="57" name="Rectangle 13">
              <a:extLst>
                <a:ext uri="{FF2B5EF4-FFF2-40B4-BE49-F238E27FC236}">
                  <a16:creationId xmlns:a16="http://schemas.microsoft.com/office/drawing/2014/main" id="{B22AF03E-432E-ED19-5CDE-2D538F9525C9}"/>
                </a:ext>
              </a:extLst>
            </p:cNvPr>
            <p:cNvSpPr/>
            <p:nvPr/>
          </p:nvSpPr>
          <p:spPr>
            <a:xfrm>
              <a:off x="11887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58" name="TextBox 14">
              <a:extLst>
                <a:ext uri="{FF2B5EF4-FFF2-40B4-BE49-F238E27FC236}">
                  <a16:creationId xmlns:a16="http://schemas.microsoft.com/office/drawing/2014/main" id="{16BEC1B7-0FA9-11BC-F6D2-43BBE62625BE}"/>
                </a:ext>
              </a:extLst>
            </p:cNvPr>
            <p:cNvSpPr txBox="1"/>
            <p:nvPr/>
          </p:nvSpPr>
          <p:spPr>
            <a:xfrm>
              <a:off x="11887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1</a:t>
              </a:r>
            </a:p>
          </p:txBody>
        </p:sp>
        <p:sp>
          <p:nvSpPr>
            <p:cNvPr id="59" name="TextBox 15">
              <a:extLst>
                <a:ext uri="{FF2B5EF4-FFF2-40B4-BE49-F238E27FC236}">
                  <a16:creationId xmlns:a16="http://schemas.microsoft.com/office/drawing/2014/main" id="{B94B57EF-28F0-C691-566E-F7CCD23D931C}"/>
                </a:ext>
              </a:extLst>
            </p:cNvPr>
            <p:cNvSpPr txBox="1"/>
            <p:nvPr/>
          </p:nvSpPr>
          <p:spPr>
            <a:xfrm>
              <a:off x="11887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數字一</a:t>
              </a:r>
            </a:p>
          </p:txBody>
        </p:sp>
        <p:sp>
          <p:nvSpPr>
            <p:cNvPr id="60" name="Rectangle 16">
              <a:extLst>
                <a:ext uri="{FF2B5EF4-FFF2-40B4-BE49-F238E27FC236}">
                  <a16:creationId xmlns:a16="http://schemas.microsoft.com/office/drawing/2014/main" id="{F30AF2A6-1A5D-6727-0E17-16F53A77D940}"/>
                </a:ext>
              </a:extLst>
            </p:cNvPr>
            <p:cNvSpPr/>
            <p:nvPr/>
          </p:nvSpPr>
          <p:spPr>
            <a:xfrm>
              <a:off x="21031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1" name="TextBox 17">
              <a:extLst>
                <a:ext uri="{FF2B5EF4-FFF2-40B4-BE49-F238E27FC236}">
                  <a16:creationId xmlns:a16="http://schemas.microsoft.com/office/drawing/2014/main" id="{540C23F6-99DE-25C2-A647-A4B3D21A788A}"/>
                </a:ext>
              </a:extLst>
            </p:cNvPr>
            <p:cNvSpPr txBox="1"/>
            <p:nvPr/>
          </p:nvSpPr>
          <p:spPr>
            <a:xfrm>
              <a:off x="21031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2</a:t>
              </a:r>
            </a:p>
          </p:txBody>
        </p:sp>
        <p:sp>
          <p:nvSpPr>
            <p:cNvPr id="62" name="TextBox 18">
              <a:extLst>
                <a:ext uri="{FF2B5EF4-FFF2-40B4-BE49-F238E27FC236}">
                  <a16:creationId xmlns:a16="http://schemas.microsoft.com/office/drawing/2014/main" id="{CC6787EC-DFD5-769D-F340-0B33FC852F87}"/>
                </a:ext>
              </a:extLst>
            </p:cNvPr>
            <p:cNvSpPr txBox="1"/>
            <p:nvPr/>
          </p:nvSpPr>
          <p:spPr>
            <a:xfrm>
              <a:off x="21031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數字二</a:t>
              </a:r>
            </a:p>
          </p:txBody>
        </p:sp>
        <p:sp>
          <p:nvSpPr>
            <p:cNvPr id="63" name="Rectangle 19">
              <a:extLst>
                <a:ext uri="{FF2B5EF4-FFF2-40B4-BE49-F238E27FC236}">
                  <a16:creationId xmlns:a16="http://schemas.microsoft.com/office/drawing/2014/main" id="{D8A65754-6A38-DC44-406C-635E47C23C7B}"/>
                </a:ext>
              </a:extLst>
            </p:cNvPr>
            <p:cNvSpPr/>
            <p:nvPr/>
          </p:nvSpPr>
          <p:spPr>
            <a:xfrm>
              <a:off x="30175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4" name="TextBox 20">
              <a:extLst>
                <a:ext uri="{FF2B5EF4-FFF2-40B4-BE49-F238E27FC236}">
                  <a16:creationId xmlns:a16="http://schemas.microsoft.com/office/drawing/2014/main" id="{2E3FDDAF-277D-BE6A-0A68-FC5F4E305882}"/>
                </a:ext>
              </a:extLst>
            </p:cNvPr>
            <p:cNvSpPr txBox="1"/>
            <p:nvPr/>
          </p:nvSpPr>
          <p:spPr>
            <a:xfrm>
              <a:off x="30175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3</a:t>
              </a:r>
            </a:p>
          </p:txBody>
        </p:sp>
        <p:sp>
          <p:nvSpPr>
            <p:cNvPr id="65" name="TextBox 21">
              <a:extLst>
                <a:ext uri="{FF2B5EF4-FFF2-40B4-BE49-F238E27FC236}">
                  <a16:creationId xmlns:a16="http://schemas.microsoft.com/office/drawing/2014/main" id="{BBC8828F-B35B-A5A8-590D-D86A93AD0C3A}"/>
                </a:ext>
              </a:extLst>
            </p:cNvPr>
            <p:cNvSpPr txBox="1"/>
            <p:nvPr/>
          </p:nvSpPr>
          <p:spPr>
            <a:xfrm>
              <a:off x="30175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數字三</a:t>
              </a:r>
            </a:p>
          </p:txBody>
        </p:sp>
        <p:sp>
          <p:nvSpPr>
            <p:cNvPr id="66" name="Rectangle 22">
              <a:extLst>
                <a:ext uri="{FF2B5EF4-FFF2-40B4-BE49-F238E27FC236}">
                  <a16:creationId xmlns:a16="http://schemas.microsoft.com/office/drawing/2014/main" id="{895B6ECF-0BEF-3BA5-9117-3C4B3383ACED}"/>
                </a:ext>
              </a:extLst>
            </p:cNvPr>
            <p:cNvSpPr/>
            <p:nvPr/>
          </p:nvSpPr>
          <p:spPr>
            <a:xfrm>
              <a:off x="39319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67" name="TextBox 23">
              <a:extLst>
                <a:ext uri="{FF2B5EF4-FFF2-40B4-BE49-F238E27FC236}">
                  <a16:creationId xmlns:a16="http://schemas.microsoft.com/office/drawing/2014/main" id="{A9578F6A-2305-3187-123B-3A2BE762D504}"/>
                </a:ext>
              </a:extLst>
            </p:cNvPr>
            <p:cNvSpPr txBox="1"/>
            <p:nvPr/>
          </p:nvSpPr>
          <p:spPr>
            <a:xfrm>
              <a:off x="39319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4</a:t>
              </a:r>
            </a:p>
          </p:txBody>
        </p:sp>
        <p:sp>
          <p:nvSpPr>
            <p:cNvPr id="68" name="TextBox 24">
              <a:extLst>
                <a:ext uri="{FF2B5EF4-FFF2-40B4-BE49-F238E27FC236}">
                  <a16:creationId xmlns:a16="http://schemas.microsoft.com/office/drawing/2014/main" id="{9DE47797-ADF2-BA60-3A04-AAA312AAF632}"/>
                </a:ext>
              </a:extLst>
            </p:cNvPr>
            <p:cNvSpPr txBox="1"/>
            <p:nvPr/>
          </p:nvSpPr>
          <p:spPr>
            <a:xfrm>
              <a:off x="39319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數字四</a:t>
              </a:r>
            </a:p>
          </p:txBody>
        </p:sp>
        <p:sp>
          <p:nvSpPr>
            <p:cNvPr id="69" name="Rectangle 25">
              <a:extLst>
                <a:ext uri="{FF2B5EF4-FFF2-40B4-BE49-F238E27FC236}">
                  <a16:creationId xmlns:a16="http://schemas.microsoft.com/office/drawing/2014/main" id="{6F430C1F-A58C-E271-1BD0-BC248E0B06A4}"/>
                </a:ext>
              </a:extLst>
            </p:cNvPr>
            <p:cNvSpPr/>
            <p:nvPr/>
          </p:nvSpPr>
          <p:spPr>
            <a:xfrm>
              <a:off x="48463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0" name="TextBox 26">
              <a:extLst>
                <a:ext uri="{FF2B5EF4-FFF2-40B4-BE49-F238E27FC236}">
                  <a16:creationId xmlns:a16="http://schemas.microsoft.com/office/drawing/2014/main" id="{77A8AC25-B6FC-2B2F-F47D-C721C082E711}"/>
                </a:ext>
              </a:extLst>
            </p:cNvPr>
            <p:cNvSpPr txBox="1"/>
            <p:nvPr/>
          </p:nvSpPr>
          <p:spPr>
            <a:xfrm>
              <a:off x="48463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5</a:t>
              </a:r>
            </a:p>
          </p:txBody>
        </p:sp>
        <p:sp>
          <p:nvSpPr>
            <p:cNvPr id="71" name="TextBox 27">
              <a:extLst>
                <a:ext uri="{FF2B5EF4-FFF2-40B4-BE49-F238E27FC236}">
                  <a16:creationId xmlns:a16="http://schemas.microsoft.com/office/drawing/2014/main" id="{4D4A5D95-F784-FE7D-C2B0-17ACBD09C9CD}"/>
                </a:ext>
              </a:extLst>
            </p:cNvPr>
            <p:cNvSpPr txBox="1"/>
            <p:nvPr/>
          </p:nvSpPr>
          <p:spPr>
            <a:xfrm>
              <a:off x="48463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數字五</a:t>
              </a:r>
            </a:p>
          </p:txBody>
        </p:sp>
        <p:sp>
          <p:nvSpPr>
            <p:cNvPr id="72" name="Rectangle 28">
              <a:extLst>
                <a:ext uri="{FF2B5EF4-FFF2-40B4-BE49-F238E27FC236}">
                  <a16:creationId xmlns:a16="http://schemas.microsoft.com/office/drawing/2014/main" id="{746FBC8C-F4C6-AEDD-E7A4-DF61E63ABC53}"/>
                </a:ext>
              </a:extLst>
            </p:cNvPr>
            <p:cNvSpPr/>
            <p:nvPr/>
          </p:nvSpPr>
          <p:spPr>
            <a:xfrm>
              <a:off x="5760720" y="1783080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3" name="TextBox 29">
              <a:extLst>
                <a:ext uri="{FF2B5EF4-FFF2-40B4-BE49-F238E27FC236}">
                  <a16:creationId xmlns:a16="http://schemas.microsoft.com/office/drawing/2014/main" id="{E3E8CE6A-53F7-9DF6-1903-607210C906BF}"/>
                </a:ext>
              </a:extLst>
            </p:cNvPr>
            <p:cNvSpPr txBox="1"/>
            <p:nvPr/>
          </p:nvSpPr>
          <p:spPr>
            <a:xfrm>
              <a:off x="5760720" y="1828800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6</a:t>
              </a:r>
            </a:p>
          </p:txBody>
        </p:sp>
        <p:sp>
          <p:nvSpPr>
            <p:cNvPr id="74" name="TextBox 30">
              <a:extLst>
                <a:ext uri="{FF2B5EF4-FFF2-40B4-BE49-F238E27FC236}">
                  <a16:creationId xmlns:a16="http://schemas.microsoft.com/office/drawing/2014/main" id="{9BC7C868-1E75-87BB-1DD6-D3A7B45100DE}"/>
                </a:ext>
              </a:extLst>
            </p:cNvPr>
            <p:cNvSpPr txBox="1"/>
            <p:nvPr/>
          </p:nvSpPr>
          <p:spPr>
            <a:xfrm>
              <a:off x="5760720" y="2331720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數字六</a:t>
              </a:r>
            </a:p>
          </p:txBody>
        </p:sp>
        <p:sp>
          <p:nvSpPr>
            <p:cNvPr id="75" name="Rectangle 31">
              <a:extLst>
                <a:ext uri="{FF2B5EF4-FFF2-40B4-BE49-F238E27FC236}">
                  <a16:creationId xmlns:a16="http://schemas.microsoft.com/office/drawing/2014/main" id="{A759D809-E8DB-736B-998F-EA412EE69488}"/>
                </a:ext>
              </a:extLst>
            </p:cNvPr>
            <p:cNvSpPr/>
            <p:nvPr/>
          </p:nvSpPr>
          <p:spPr>
            <a:xfrm>
              <a:off x="274320" y="2715768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6" name="TextBox 32">
              <a:extLst>
                <a:ext uri="{FF2B5EF4-FFF2-40B4-BE49-F238E27FC236}">
                  <a16:creationId xmlns:a16="http://schemas.microsoft.com/office/drawing/2014/main" id="{AFBAE5AC-F439-6A4A-9A7B-3AE6A6D70BA9}"/>
                </a:ext>
              </a:extLst>
            </p:cNvPr>
            <p:cNvSpPr txBox="1"/>
            <p:nvPr/>
          </p:nvSpPr>
          <p:spPr>
            <a:xfrm>
              <a:off x="2743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7</a:t>
              </a:r>
            </a:p>
          </p:txBody>
        </p:sp>
        <p:sp>
          <p:nvSpPr>
            <p:cNvPr id="77" name="TextBox 33">
              <a:extLst>
                <a:ext uri="{FF2B5EF4-FFF2-40B4-BE49-F238E27FC236}">
                  <a16:creationId xmlns:a16="http://schemas.microsoft.com/office/drawing/2014/main" id="{7F8B4379-FB5A-C1B4-388D-F185A51B2B1E}"/>
                </a:ext>
              </a:extLst>
            </p:cNvPr>
            <p:cNvSpPr txBox="1"/>
            <p:nvPr/>
          </p:nvSpPr>
          <p:spPr>
            <a:xfrm>
              <a:off x="2743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數字七</a:t>
              </a:r>
            </a:p>
          </p:txBody>
        </p:sp>
        <p:sp>
          <p:nvSpPr>
            <p:cNvPr id="78" name="Rectangle 34">
              <a:extLst>
                <a:ext uri="{FF2B5EF4-FFF2-40B4-BE49-F238E27FC236}">
                  <a16:creationId xmlns:a16="http://schemas.microsoft.com/office/drawing/2014/main" id="{69C49BC2-D287-D1A4-04BC-307C2EF3BD99}"/>
                </a:ext>
              </a:extLst>
            </p:cNvPr>
            <p:cNvSpPr/>
            <p:nvPr/>
          </p:nvSpPr>
          <p:spPr>
            <a:xfrm>
              <a:off x="1188720" y="2715768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79" name="TextBox 35">
              <a:extLst>
                <a:ext uri="{FF2B5EF4-FFF2-40B4-BE49-F238E27FC236}">
                  <a16:creationId xmlns:a16="http://schemas.microsoft.com/office/drawing/2014/main" id="{9B2DC5BC-5619-1036-45BD-CE2E41115AF0}"/>
                </a:ext>
              </a:extLst>
            </p:cNvPr>
            <p:cNvSpPr txBox="1"/>
            <p:nvPr/>
          </p:nvSpPr>
          <p:spPr>
            <a:xfrm>
              <a:off x="11887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8</a:t>
              </a:r>
            </a:p>
          </p:txBody>
        </p:sp>
        <p:sp>
          <p:nvSpPr>
            <p:cNvPr id="80" name="TextBox 36">
              <a:extLst>
                <a:ext uri="{FF2B5EF4-FFF2-40B4-BE49-F238E27FC236}">
                  <a16:creationId xmlns:a16="http://schemas.microsoft.com/office/drawing/2014/main" id="{CEB063AF-3EB1-5E80-C39F-13BF482D89C8}"/>
                </a:ext>
              </a:extLst>
            </p:cNvPr>
            <p:cNvSpPr txBox="1"/>
            <p:nvPr/>
          </p:nvSpPr>
          <p:spPr>
            <a:xfrm>
              <a:off x="11887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數字八</a:t>
              </a:r>
            </a:p>
          </p:txBody>
        </p:sp>
        <p:sp>
          <p:nvSpPr>
            <p:cNvPr id="81" name="Rectangle 37">
              <a:extLst>
                <a:ext uri="{FF2B5EF4-FFF2-40B4-BE49-F238E27FC236}">
                  <a16:creationId xmlns:a16="http://schemas.microsoft.com/office/drawing/2014/main" id="{304836E3-9E75-DDBE-E457-49DE62DECF5F}"/>
                </a:ext>
              </a:extLst>
            </p:cNvPr>
            <p:cNvSpPr/>
            <p:nvPr/>
          </p:nvSpPr>
          <p:spPr>
            <a:xfrm>
              <a:off x="2103120" y="2715768"/>
              <a:ext cx="804672" cy="822960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2" name="TextBox 38">
              <a:extLst>
                <a:ext uri="{FF2B5EF4-FFF2-40B4-BE49-F238E27FC236}">
                  <a16:creationId xmlns:a16="http://schemas.microsoft.com/office/drawing/2014/main" id="{5570687E-EC77-5505-EA0E-50DBF1D02927}"/>
                </a:ext>
              </a:extLst>
            </p:cNvPr>
            <p:cNvSpPr txBox="1"/>
            <p:nvPr/>
          </p:nvSpPr>
          <p:spPr>
            <a:xfrm>
              <a:off x="21031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9</a:t>
              </a:r>
            </a:p>
          </p:txBody>
        </p:sp>
        <p:sp>
          <p:nvSpPr>
            <p:cNvPr id="83" name="TextBox 39">
              <a:extLst>
                <a:ext uri="{FF2B5EF4-FFF2-40B4-BE49-F238E27FC236}">
                  <a16:creationId xmlns:a16="http://schemas.microsoft.com/office/drawing/2014/main" id="{5DAF1CA6-3727-0469-EDBD-2D4D038A2FF2}"/>
                </a:ext>
              </a:extLst>
            </p:cNvPr>
            <p:cNvSpPr txBox="1"/>
            <p:nvPr/>
          </p:nvSpPr>
          <p:spPr>
            <a:xfrm>
              <a:off x="21031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數字九</a:t>
              </a:r>
            </a:p>
          </p:txBody>
        </p:sp>
        <p:sp>
          <p:nvSpPr>
            <p:cNvPr id="84" name="Rectangle 40">
              <a:extLst>
                <a:ext uri="{FF2B5EF4-FFF2-40B4-BE49-F238E27FC236}">
                  <a16:creationId xmlns:a16="http://schemas.microsoft.com/office/drawing/2014/main" id="{2FE23641-A0A9-224A-F36B-798B9E6C43E3}"/>
                </a:ext>
              </a:extLst>
            </p:cNvPr>
            <p:cNvSpPr/>
            <p:nvPr/>
          </p:nvSpPr>
          <p:spPr>
            <a:xfrm>
              <a:off x="3017520" y="2715768"/>
              <a:ext cx="804672" cy="82296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5" name="TextBox 41">
              <a:extLst>
                <a:ext uri="{FF2B5EF4-FFF2-40B4-BE49-F238E27FC236}">
                  <a16:creationId xmlns:a16="http://schemas.microsoft.com/office/drawing/2014/main" id="{F4F8C3BD-51A5-2748-F062-A147CB2D8C7F}"/>
                </a:ext>
              </a:extLst>
            </p:cNvPr>
            <p:cNvSpPr txBox="1"/>
            <p:nvPr/>
          </p:nvSpPr>
          <p:spPr>
            <a:xfrm>
              <a:off x="30175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+</a:t>
              </a:r>
            </a:p>
          </p:txBody>
        </p:sp>
        <p:sp>
          <p:nvSpPr>
            <p:cNvPr id="86" name="TextBox 42">
              <a:extLst>
                <a:ext uri="{FF2B5EF4-FFF2-40B4-BE49-F238E27FC236}">
                  <a16:creationId xmlns:a16="http://schemas.microsoft.com/office/drawing/2014/main" id="{6A5556AD-403C-F3F1-A4B5-9CF35B16891F}"/>
                </a:ext>
              </a:extLst>
            </p:cNvPr>
            <p:cNvSpPr txBox="1"/>
            <p:nvPr/>
          </p:nvSpPr>
          <p:spPr>
            <a:xfrm>
              <a:off x="30175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加法</a:t>
              </a:r>
            </a:p>
          </p:txBody>
        </p:sp>
        <p:sp>
          <p:nvSpPr>
            <p:cNvPr id="87" name="Rectangle 43">
              <a:extLst>
                <a:ext uri="{FF2B5EF4-FFF2-40B4-BE49-F238E27FC236}">
                  <a16:creationId xmlns:a16="http://schemas.microsoft.com/office/drawing/2014/main" id="{6EF16D2D-BE3C-BEA2-8091-64023796F2BE}"/>
                </a:ext>
              </a:extLst>
            </p:cNvPr>
            <p:cNvSpPr/>
            <p:nvPr/>
          </p:nvSpPr>
          <p:spPr>
            <a:xfrm>
              <a:off x="3931920" y="2715768"/>
              <a:ext cx="804672" cy="822960"/>
            </a:xfrm>
            <a:prstGeom prst="rect">
              <a:avLst/>
            </a:prstGeom>
            <a:solidFill>
              <a:srgbClr val="70AD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88" name="TextBox 44">
              <a:extLst>
                <a:ext uri="{FF2B5EF4-FFF2-40B4-BE49-F238E27FC236}">
                  <a16:creationId xmlns:a16="http://schemas.microsoft.com/office/drawing/2014/main" id="{F97B9CFD-05E8-3E28-90FB-5C8B1EC868FA}"/>
                </a:ext>
              </a:extLst>
            </p:cNvPr>
            <p:cNvSpPr txBox="1"/>
            <p:nvPr/>
          </p:nvSpPr>
          <p:spPr>
            <a:xfrm>
              <a:off x="39319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-</a:t>
              </a:r>
            </a:p>
          </p:txBody>
        </p:sp>
        <p:sp>
          <p:nvSpPr>
            <p:cNvPr id="89" name="TextBox 45">
              <a:extLst>
                <a:ext uri="{FF2B5EF4-FFF2-40B4-BE49-F238E27FC236}">
                  <a16:creationId xmlns:a16="http://schemas.microsoft.com/office/drawing/2014/main" id="{6E02926B-C0C4-D53F-5DA4-36A10281B966}"/>
                </a:ext>
              </a:extLst>
            </p:cNvPr>
            <p:cNvSpPr txBox="1"/>
            <p:nvPr/>
          </p:nvSpPr>
          <p:spPr>
            <a:xfrm>
              <a:off x="39319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減法</a:t>
              </a:r>
            </a:p>
          </p:txBody>
        </p:sp>
        <p:sp>
          <p:nvSpPr>
            <p:cNvPr id="90" name="Rectangle 46">
              <a:extLst>
                <a:ext uri="{FF2B5EF4-FFF2-40B4-BE49-F238E27FC236}">
                  <a16:creationId xmlns:a16="http://schemas.microsoft.com/office/drawing/2014/main" id="{598AFBA1-8780-A0D0-18A3-5D0583355737}"/>
                </a:ext>
              </a:extLst>
            </p:cNvPr>
            <p:cNvSpPr/>
            <p:nvPr/>
          </p:nvSpPr>
          <p:spPr>
            <a:xfrm>
              <a:off x="4846320" y="2715768"/>
              <a:ext cx="804672" cy="822960"/>
            </a:xfrm>
            <a:prstGeom prst="rect">
              <a:avLst/>
            </a:prstGeom>
            <a:solidFill>
              <a:srgbClr val="FF92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1" name="TextBox 47">
              <a:extLst>
                <a:ext uri="{FF2B5EF4-FFF2-40B4-BE49-F238E27FC236}">
                  <a16:creationId xmlns:a16="http://schemas.microsoft.com/office/drawing/2014/main" id="{50DF4D92-7DCE-421A-F58E-9F14E1D022EA}"/>
                </a:ext>
              </a:extLst>
            </p:cNvPr>
            <p:cNvSpPr txBox="1"/>
            <p:nvPr/>
          </p:nvSpPr>
          <p:spPr>
            <a:xfrm>
              <a:off x="48463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4000" b="1" i="0">
                  <a:solidFill>
                    <a:srgbClr val="FFFFFF"/>
                  </a:solidFill>
                  <a:latin typeface="Microsoft JhengHei"/>
                </a:rPr>
                <a:t>x</a:t>
              </a:r>
            </a:p>
          </p:txBody>
        </p:sp>
        <p:sp>
          <p:nvSpPr>
            <p:cNvPr id="92" name="TextBox 48">
              <a:extLst>
                <a:ext uri="{FF2B5EF4-FFF2-40B4-BE49-F238E27FC236}">
                  <a16:creationId xmlns:a16="http://schemas.microsoft.com/office/drawing/2014/main" id="{F2C401CD-0E0B-9285-448F-38ADA1868E7E}"/>
                </a:ext>
              </a:extLst>
            </p:cNvPr>
            <p:cNvSpPr txBox="1"/>
            <p:nvPr/>
          </p:nvSpPr>
          <p:spPr>
            <a:xfrm>
              <a:off x="48463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乘法</a:t>
              </a:r>
            </a:p>
          </p:txBody>
        </p:sp>
        <p:sp>
          <p:nvSpPr>
            <p:cNvPr id="93" name="Rectangle 49">
              <a:extLst>
                <a:ext uri="{FF2B5EF4-FFF2-40B4-BE49-F238E27FC236}">
                  <a16:creationId xmlns:a16="http://schemas.microsoft.com/office/drawing/2014/main" id="{6D6EAA6C-5E52-B0D1-FC67-44B2E71F9427}"/>
                </a:ext>
              </a:extLst>
            </p:cNvPr>
            <p:cNvSpPr/>
            <p:nvPr/>
          </p:nvSpPr>
          <p:spPr>
            <a:xfrm>
              <a:off x="5760720" y="2715768"/>
              <a:ext cx="804672" cy="822960"/>
            </a:xfrm>
            <a:prstGeom prst="rect">
              <a:avLst/>
            </a:prstGeom>
            <a:solidFill>
              <a:srgbClr val="C0303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/>
            </a:p>
          </p:txBody>
        </p:sp>
        <p:sp>
          <p:nvSpPr>
            <p:cNvPr id="94" name="TextBox 50">
              <a:extLst>
                <a:ext uri="{FF2B5EF4-FFF2-40B4-BE49-F238E27FC236}">
                  <a16:creationId xmlns:a16="http://schemas.microsoft.com/office/drawing/2014/main" id="{62E0F6EF-5A5C-0B7B-9962-10E0B4107319}"/>
                </a:ext>
              </a:extLst>
            </p:cNvPr>
            <p:cNvSpPr txBox="1"/>
            <p:nvPr/>
          </p:nvSpPr>
          <p:spPr>
            <a:xfrm>
              <a:off x="5760720" y="2761488"/>
              <a:ext cx="804672" cy="580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sz="4000" b="1" dirty="0">
                  <a:solidFill>
                    <a:srgbClr val="FFFFFF"/>
                  </a:solidFill>
                  <a:latin typeface="Microsoft JhengHei"/>
                </a:rPr>
                <a:t>÷</a:t>
              </a:r>
              <a:endParaRPr sz="4000" b="1" i="0" dirty="0">
                <a:solidFill>
                  <a:srgbClr val="FFFFFF"/>
                </a:solidFill>
                <a:latin typeface="Microsoft JhengHei"/>
              </a:endParaRPr>
            </a:p>
          </p:txBody>
        </p:sp>
        <p:sp>
          <p:nvSpPr>
            <p:cNvPr id="95" name="TextBox 51">
              <a:extLst>
                <a:ext uri="{FF2B5EF4-FFF2-40B4-BE49-F238E27FC236}">
                  <a16:creationId xmlns:a16="http://schemas.microsoft.com/office/drawing/2014/main" id="{ED79F788-6EEA-D5B2-DC4F-788CDF5D3EA3}"/>
                </a:ext>
              </a:extLst>
            </p:cNvPr>
            <p:cNvSpPr txBox="1"/>
            <p:nvPr/>
          </p:nvSpPr>
          <p:spPr>
            <a:xfrm>
              <a:off x="5760720" y="3264408"/>
              <a:ext cx="804672" cy="2146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>
                  <a:solidFill>
                    <a:srgbClr val="BDD7EE"/>
                  </a:solidFill>
                  <a:latin typeface="Microsoft JhengHei"/>
                </a:rPr>
                <a:t>除法</a:t>
              </a:r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15BD3A91-3441-9A0A-2130-4E7CA40DDFFB}"/>
              </a:ext>
            </a:extLst>
          </p:cNvPr>
          <p:cNvGrpSpPr/>
          <p:nvPr/>
        </p:nvGrpSpPr>
        <p:grpSpPr>
          <a:xfrm>
            <a:off x="7178040" y="2714054"/>
            <a:ext cx="4728299" cy="1307592"/>
            <a:chOff x="5852160" y="3017520"/>
            <a:chExt cx="6080760" cy="1307592"/>
          </a:xfrm>
        </p:grpSpPr>
        <p:sp>
          <p:nvSpPr>
            <p:cNvPr id="96" name="Rectangle 18">
              <a:extLst>
                <a:ext uri="{FF2B5EF4-FFF2-40B4-BE49-F238E27FC236}">
                  <a16:creationId xmlns:a16="http://schemas.microsoft.com/office/drawing/2014/main" id="{BB48601D-4F21-8301-EEF9-0B7E8F1EE5F2}"/>
                </a:ext>
              </a:extLst>
            </p:cNvPr>
            <p:cNvSpPr/>
            <p:nvPr/>
          </p:nvSpPr>
          <p:spPr>
            <a:xfrm>
              <a:off x="5852160" y="3017520"/>
              <a:ext cx="6080760" cy="384048"/>
            </a:xfrm>
            <a:prstGeom prst="rect">
              <a:avLst/>
            </a:prstGeom>
            <a:solidFill>
              <a:srgbClr val="4472C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TextBox 19">
              <a:extLst>
                <a:ext uri="{FF2B5EF4-FFF2-40B4-BE49-F238E27FC236}">
                  <a16:creationId xmlns:a16="http://schemas.microsoft.com/office/drawing/2014/main" id="{8BEC7318-1F87-E433-6E0D-891827BE00A7}"/>
                </a:ext>
              </a:extLst>
            </p:cNvPr>
            <p:cNvSpPr txBox="1"/>
            <p:nvPr/>
          </p:nvSpPr>
          <p:spPr>
            <a:xfrm>
              <a:off x="5943600" y="3063240"/>
              <a:ext cx="5852160" cy="2926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300" b="1" i="0">
                  <a:solidFill>
                    <a:srgbClr val="FFFFFF"/>
                  </a:solidFill>
                  <a:latin typeface="Microsoft JhengHei"/>
                </a:rPr>
                <a:t>本專題資料集規模</a:t>
              </a:r>
            </a:p>
          </p:txBody>
        </p:sp>
        <p:sp>
          <p:nvSpPr>
            <p:cNvPr id="98" name="Rectangle 20">
              <a:extLst>
                <a:ext uri="{FF2B5EF4-FFF2-40B4-BE49-F238E27FC236}">
                  <a16:creationId xmlns:a16="http://schemas.microsoft.com/office/drawing/2014/main" id="{7DB1B78A-AAD9-5D05-B753-84626668DD57}"/>
                </a:ext>
              </a:extLst>
            </p:cNvPr>
            <p:cNvSpPr/>
            <p:nvPr/>
          </p:nvSpPr>
          <p:spPr>
            <a:xfrm>
              <a:off x="5852160" y="3447288"/>
              <a:ext cx="6080760" cy="329184"/>
            </a:xfrm>
            <a:prstGeom prst="rect">
              <a:avLst/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TextBox 21">
              <a:extLst>
                <a:ext uri="{FF2B5EF4-FFF2-40B4-BE49-F238E27FC236}">
                  <a16:creationId xmlns:a16="http://schemas.microsoft.com/office/drawing/2014/main" id="{75CA063F-9E44-ACAE-7B34-9D89060EAC43}"/>
                </a:ext>
              </a:extLst>
            </p:cNvPr>
            <p:cNvSpPr txBox="1"/>
            <p:nvPr/>
          </p:nvSpPr>
          <p:spPr>
            <a:xfrm>
              <a:off x="5943600" y="3493008"/>
              <a:ext cx="1463040" cy="237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>
                  <a:solidFill>
                    <a:srgbClr val="1F3864"/>
                  </a:solidFill>
                  <a:latin typeface="Microsoft JhengHei"/>
                </a:rPr>
                <a:t>資料集</a:t>
              </a:r>
            </a:p>
          </p:txBody>
        </p:sp>
        <p:sp>
          <p:nvSpPr>
            <p:cNvPr id="101" name="TextBox 23">
              <a:extLst>
                <a:ext uri="{FF2B5EF4-FFF2-40B4-BE49-F238E27FC236}">
                  <a16:creationId xmlns:a16="http://schemas.microsoft.com/office/drawing/2014/main" id="{DEC30FB8-2217-3C83-6B6B-274B54BF1023}"/>
                </a:ext>
              </a:extLst>
            </p:cNvPr>
            <p:cNvSpPr txBox="1"/>
            <p:nvPr/>
          </p:nvSpPr>
          <p:spPr>
            <a:xfrm>
              <a:off x="7996309" y="3487230"/>
              <a:ext cx="146304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1" i="0" dirty="0" err="1">
                  <a:solidFill>
                    <a:srgbClr val="1F3864"/>
                  </a:solidFill>
                  <a:latin typeface="Microsoft JhengHei"/>
                </a:rPr>
                <a:t>圖片數量</a:t>
              </a:r>
              <a:endParaRPr sz="1100" b="1" i="0" dirty="0">
                <a:solidFill>
                  <a:srgbClr val="1F3864"/>
                </a:solidFill>
                <a:latin typeface="Microsoft JhengHei"/>
              </a:endParaRPr>
            </a:p>
          </p:txBody>
        </p:sp>
        <p:sp>
          <p:nvSpPr>
            <p:cNvPr id="102" name="TextBox 24">
              <a:extLst>
                <a:ext uri="{FF2B5EF4-FFF2-40B4-BE49-F238E27FC236}">
                  <a16:creationId xmlns:a16="http://schemas.microsoft.com/office/drawing/2014/main" id="{49AAA3A8-E035-3864-F744-F38FC50FFA28}"/>
                </a:ext>
              </a:extLst>
            </p:cNvPr>
            <p:cNvSpPr txBox="1"/>
            <p:nvPr/>
          </p:nvSpPr>
          <p:spPr>
            <a:xfrm>
              <a:off x="10911481" y="3493008"/>
              <a:ext cx="1021437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 err="1">
                  <a:solidFill>
                    <a:srgbClr val="1F3864"/>
                  </a:solidFill>
                  <a:latin typeface="Microsoft JhengHei"/>
                </a:rPr>
                <a:t>圖片尺寸</a:t>
              </a:r>
              <a:endParaRPr sz="1100" b="1" i="0" dirty="0">
                <a:solidFill>
                  <a:srgbClr val="1F3864"/>
                </a:solidFill>
                <a:latin typeface="Microsoft JhengHei"/>
              </a:endParaRPr>
            </a:p>
          </p:txBody>
        </p:sp>
        <p:sp>
          <p:nvSpPr>
            <p:cNvPr id="103" name="Rectangle 35">
              <a:extLst>
                <a:ext uri="{FF2B5EF4-FFF2-40B4-BE49-F238E27FC236}">
                  <a16:creationId xmlns:a16="http://schemas.microsoft.com/office/drawing/2014/main" id="{4AB63084-DC11-E22B-23C6-48BE620A115C}"/>
                </a:ext>
              </a:extLst>
            </p:cNvPr>
            <p:cNvSpPr/>
            <p:nvPr/>
          </p:nvSpPr>
          <p:spPr>
            <a:xfrm>
              <a:off x="5852160" y="3831336"/>
              <a:ext cx="6080760" cy="493776"/>
            </a:xfrm>
            <a:prstGeom prst="rect">
              <a:avLst/>
            </a:prstGeom>
            <a:solidFill>
              <a:srgbClr val="E8F0F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TextBox 36">
              <a:extLst>
                <a:ext uri="{FF2B5EF4-FFF2-40B4-BE49-F238E27FC236}">
                  <a16:creationId xmlns:a16="http://schemas.microsoft.com/office/drawing/2014/main" id="{A3892C55-A3DD-005C-436D-7EF8E508B0E5}"/>
                </a:ext>
              </a:extLst>
            </p:cNvPr>
            <p:cNvSpPr txBox="1"/>
            <p:nvPr/>
          </p:nvSpPr>
          <p:spPr>
            <a:xfrm>
              <a:off x="5943600" y="3941064"/>
              <a:ext cx="146304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1" i="0">
                  <a:solidFill>
                    <a:srgbClr val="2E75B6"/>
                  </a:solidFill>
                  <a:latin typeface="Microsoft JhengHei"/>
                </a:rPr>
                <a:t>訓練用</a:t>
              </a:r>
            </a:p>
          </p:txBody>
        </p:sp>
        <p:sp>
          <p:nvSpPr>
            <p:cNvPr id="106" name="TextBox 38">
              <a:extLst>
                <a:ext uri="{FF2B5EF4-FFF2-40B4-BE49-F238E27FC236}">
                  <a16:creationId xmlns:a16="http://schemas.microsoft.com/office/drawing/2014/main" id="{92BB3CC6-4F41-7748-4804-57760753B224}"/>
                </a:ext>
              </a:extLst>
            </p:cNvPr>
            <p:cNvSpPr txBox="1"/>
            <p:nvPr/>
          </p:nvSpPr>
          <p:spPr>
            <a:xfrm>
              <a:off x="7256768" y="3946108"/>
              <a:ext cx="350464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000" b="0" i="0" dirty="0">
                  <a:solidFill>
                    <a:srgbClr val="303040"/>
                  </a:solidFill>
                  <a:latin typeface="Microsoft JhengHei"/>
                </a:rPr>
                <a:t>300 張/</a:t>
              </a:r>
              <a:r>
                <a:rPr sz="1000" b="0" i="0" dirty="0" err="1">
                  <a:solidFill>
                    <a:srgbClr val="303040"/>
                  </a:solidFill>
                  <a:latin typeface="Microsoft JhengHei"/>
                </a:rPr>
                <a:t>類，涵蓋全部</a:t>
              </a:r>
              <a:r>
                <a:rPr sz="1000" b="0" i="0" dirty="0">
                  <a:solidFill>
                    <a:srgbClr val="303040"/>
                  </a:solidFill>
                  <a:latin typeface="Microsoft JhengHei"/>
                </a:rPr>
                <a:t> 14 類</a:t>
              </a:r>
              <a:r>
                <a:rPr lang="zh-TW" altLang="en-US" sz="1000" dirty="0">
                  <a:solidFill>
                    <a:srgbClr val="303040"/>
                  </a:solidFill>
                  <a:latin typeface="Microsoft JhengHei"/>
                </a:rPr>
                <a:t>，</a:t>
              </a:r>
              <a:r>
                <a:rPr lang="zh-TW" altLang="en-US" sz="1000" b="0" i="0" dirty="0">
                  <a:solidFill>
                    <a:srgbClr val="303040"/>
                  </a:solidFill>
                  <a:latin typeface="Microsoft JhengHei"/>
                </a:rPr>
                <a:t>共</a:t>
              </a:r>
              <a:r>
                <a:rPr lang="en-US" altLang="zh-TW" sz="1000" b="0" i="0" dirty="0">
                  <a:solidFill>
                    <a:srgbClr val="303040"/>
                  </a:solidFill>
                  <a:latin typeface="Microsoft JhengHei"/>
                </a:rPr>
                <a:t>4200</a:t>
              </a:r>
              <a:r>
                <a:rPr lang="zh-TW" altLang="en-US" sz="1000" b="0" i="0" dirty="0">
                  <a:solidFill>
                    <a:srgbClr val="303040"/>
                  </a:solidFill>
                  <a:latin typeface="Microsoft JhengHei"/>
                </a:rPr>
                <a:t>張</a:t>
              </a:r>
              <a:endParaRPr sz="1000" b="0" i="0" dirty="0">
                <a:solidFill>
                  <a:srgbClr val="303040"/>
                </a:solidFill>
                <a:latin typeface="Microsoft JhengHei"/>
              </a:endParaRPr>
            </a:p>
          </p:txBody>
        </p:sp>
        <p:sp>
          <p:nvSpPr>
            <p:cNvPr id="107" name="TextBox 39">
              <a:extLst>
                <a:ext uri="{FF2B5EF4-FFF2-40B4-BE49-F238E27FC236}">
                  <a16:creationId xmlns:a16="http://schemas.microsoft.com/office/drawing/2014/main" id="{369C5A1F-2922-2A36-0A06-56AC7A355196}"/>
                </a:ext>
              </a:extLst>
            </p:cNvPr>
            <p:cNvSpPr txBox="1"/>
            <p:nvPr/>
          </p:nvSpPr>
          <p:spPr>
            <a:xfrm>
              <a:off x="10863017" y="3941064"/>
              <a:ext cx="96830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altLang="zh-TW" sz="1000" b="0" i="0" dirty="0">
                  <a:solidFill>
                    <a:srgbClr val="303040"/>
                  </a:solidFill>
                  <a:latin typeface="Microsoft JhengHei"/>
                </a:rPr>
                <a:t>192x192</a:t>
              </a:r>
              <a:endParaRPr sz="1000" b="0" i="0" dirty="0">
                <a:solidFill>
                  <a:srgbClr val="303040"/>
                </a:solidFill>
                <a:latin typeface="Microsoft JhengHei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b="1" i="0" dirty="0">
                <a:solidFill>
                  <a:srgbClr val="BDD7EE"/>
                </a:solidFill>
                <a:latin typeface="Microsoft JhengHei"/>
              </a:rPr>
              <a:t>17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韌體設計 — 按鈕事件詳解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DD7EE"/>
                </a:solidFill>
                <a:latin typeface="Microsoft JhengHei"/>
              </a:rPr>
              <a:t>AI-</a:t>
            </a:r>
            <a:r>
              <a:rPr lang="en-US" sz="1000" b="0" i="0" dirty="0">
                <a:solidFill>
                  <a:srgbClr val="BDD7EE"/>
                </a:solidFill>
                <a:latin typeface="Microsoft JhengHei"/>
              </a:rPr>
              <a:t>PEN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手寫計算機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 |  Arduino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教學專題</a:t>
            </a:r>
            <a:endParaRPr sz="10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117043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GPIO 7（active-low, pull-up）按鈕的四種事件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83080"/>
            <a:ext cx="2286000" cy="10789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85623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BTN_LONG_START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313432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長按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≥ 300ms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開始時</a:t>
            </a:r>
            <a:endParaRPr sz="10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560320" y="1783080"/>
            <a:ext cx="9372600" cy="10789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51760" y="183794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觸發時機：按鈕持續按下超過 300ms
動作：IDLE → CAPTURING，清除 raw_pts[] 陣列，開始記錄座標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35000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  <a:latin typeface="Microsoft JhengHei"/>
              </a:rPr>
              <a:t>補充：可多次長按追加筆畫，例如寫「12」可分兩次長按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916936"/>
            <a:ext cx="2286000" cy="107899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99008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BTN_LONG_END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44728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Microsoft JhengHei"/>
              </a:rPr>
              <a:t>長按結束（放開按鈕）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2916936"/>
            <a:ext cx="93726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651760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觸發時機：長按後放開
動作：暫停記錄，保持 CAPTURING 狀態（等待下一筆畫或雙擊辨識）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4838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Microsoft JhengHei"/>
              </a:rPr>
              <a:t>補充：放開後 OLED Section 0 顯示目前筆跡縮圖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050792"/>
            <a:ext cx="2286000" cy="10789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12394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BTN_DOUBLE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58114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Microsoft JhengHei"/>
              </a:rPr>
              <a:t>快速雙擊（兩次按下間隔 &lt; 350ms）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4050792"/>
            <a:ext cx="9372600" cy="107899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651760" y="4105656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觸發時機：短時間內兩次按下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
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動作：CAPTURING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→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RECOGNIZING，呼叫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autoFit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→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renderToBmp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→ 存 BMP → AI 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推論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4617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1F3864"/>
                </a:solidFill>
                <a:latin typeface="Microsoft JhengHei"/>
              </a:rPr>
              <a:t>補充：辨識完成後自動</a:t>
            </a:r>
            <a:r>
              <a:rPr sz="1100" b="1" i="0" dirty="0">
                <a:solidFill>
                  <a:srgbClr val="1F3864"/>
                </a:solidFill>
                <a:latin typeface="Microsoft JhengHei"/>
              </a:rPr>
              <a:t> </a:t>
            </a:r>
            <a:r>
              <a:rPr sz="1100" b="1" i="0" dirty="0" err="1">
                <a:solidFill>
                  <a:srgbClr val="1F3864"/>
                </a:solidFill>
                <a:latin typeface="Microsoft JhengHei"/>
              </a:rPr>
              <a:t>sys_reset</a:t>
            </a:r>
            <a:r>
              <a:rPr sz="1100" b="1" i="0" dirty="0">
                <a:solidFill>
                  <a:srgbClr val="1F3864"/>
                </a:solidFill>
                <a:latin typeface="Microsoft JhengHei"/>
              </a:rPr>
              <a:t>() </a:t>
            </a:r>
            <a:r>
              <a:rPr sz="1100" b="1" i="0" dirty="0" err="1">
                <a:solidFill>
                  <a:srgbClr val="1F3864"/>
                </a:solidFill>
                <a:latin typeface="Microsoft JhengHei"/>
              </a:rPr>
              <a:t>回到</a:t>
            </a:r>
            <a:r>
              <a:rPr sz="1100" b="1" i="0" dirty="0">
                <a:solidFill>
                  <a:srgbClr val="1F3864"/>
                </a:solidFill>
                <a:latin typeface="Microsoft JhengHei"/>
              </a:rPr>
              <a:t> IDLE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184648"/>
            <a:ext cx="2286000" cy="1078992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5257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BTN_TRIPLE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7150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DD7EE"/>
                </a:solidFill>
                <a:latin typeface="Microsoft JhengHei"/>
              </a:rPr>
              <a:t>快速三擊（三次按下間隔各 &lt; 350ms）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5184648"/>
            <a:ext cx="9372600" cy="1078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51760" y="52395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觸發時機：短時間內三次按下
動作：清除所有算式狀態，刪除 calc_state.txt，OLED 清空，回到 IDLE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75157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200"/>
                </a:solidFill>
                <a:latin typeface="Microsoft JhengHei"/>
              </a:rPr>
              <a:t>補充：相當於計算機的「AC（全部清除）」鍵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3132C-01DB-7E7C-906D-8E7AFDDA8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111F49-B01C-9884-53D6-63EE04763849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BDD7EE"/>
                </a:solidFill>
                <a:latin typeface="Microsoft JhengHei"/>
              </a:rPr>
              <a:t>1</a:t>
            </a:r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8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D5620-F97B-7CC1-3E1B-6A3176FFE728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訓練資料收集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1D4EADC6-D7FA-5034-8285-160B7C23CD26}"/>
              </a:ext>
            </a:extLst>
          </p:cNvPr>
          <p:cNvSpPr txBox="1"/>
          <p:nvPr/>
        </p:nvSpPr>
        <p:spPr>
          <a:xfrm>
            <a:off x="633298" y="5989956"/>
            <a:ext cx="5320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燒錄</a:t>
            </a:r>
            <a:r>
              <a:rPr lang="en-US" altLang="zh-TW" dirty="0" err="1"/>
              <a:t>ai_pen_collection.ino</a:t>
            </a:r>
            <a:r>
              <a:rPr lang="zh-TW" altLang="en-US" dirty="0"/>
              <a:t>開始我們的手寫資料收集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8162E676-BA1A-62A2-EC3B-346C01E90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84" y="1348645"/>
            <a:ext cx="4889402" cy="44864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9581F4E0-756D-BBE2-DAB8-808CB1EA347D}"/>
              </a:ext>
            </a:extLst>
          </p:cNvPr>
          <p:cNvSpPr txBox="1"/>
          <p:nvPr/>
        </p:nvSpPr>
        <p:spPr>
          <a:xfrm>
            <a:off x="7754675" y="5465802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記得將</a:t>
            </a:r>
            <a:r>
              <a:rPr lang="en-US" altLang="zh-TW" dirty="0"/>
              <a:t>SD</a:t>
            </a:r>
            <a:r>
              <a:rPr lang="zh-TW" altLang="en-US" dirty="0"/>
              <a:t>卡接入裝置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36333118-D929-5E94-D982-5EFE3AF2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556" r="17957" b="28370"/>
          <a:stretch>
            <a:fillRect/>
          </a:stretch>
        </p:blipFill>
        <p:spPr>
          <a:xfrm>
            <a:off x="6973256" y="1863700"/>
            <a:ext cx="3882704" cy="35400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2102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E044A669-EB30-BC68-9079-22444964B000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3600" b="1" i="0" dirty="0">
                <a:solidFill>
                  <a:srgbClr val="BDD7EE"/>
                </a:solidFill>
                <a:latin typeface="Microsoft JhengHei"/>
              </a:rPr>
              <a:t>19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A2C9F7A0-1E82-876D-D52C-27115082B104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韌體設計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— 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測試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(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ai_pen</a:t>
            </a:r>
            <a:r>
              <a:rPr lang="en-US" altLang="zh-TW" sz="2600" b="1" dirty="0" err="1">
                <a:solidFill>
                  <a:srgbClr val="FFFFFF"/>
                </a:solidFill>
                <a:latin typeface="Microsoft JhengHei"/>
              </a:rPr>
              <a:t>_collection.ino</a:t>
            </a:r>
            <a:r>
              <a:rPr lang="en-US" altLang="zh-TW" sz="2600" b="1" dirty="0">
                <a:solidFill>
                  <a:srgbClr val="FFFFFF"/>
                </a:solidFill>
                <a:latin typeface="Microsoft JhengHei"/>
              </a:rPr>
              <a:t>)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0000D88E-9C5A-15DB-FCE7-F5238389D613}"/>
              </a:ext>
            </a:extLst>
          </p:cNvPr>
          <p:cNvGrpSpPr>
            <a:grpSpLocks noChangeAspect="1"/>
          </p:cNvGrpSpPr>
          <p:nvPr/>
        </p:nvGrpSpPr>
        <p:grpSpPr>
          <a:xfrm>
            <a:off x="470852" y="1528760"/>
            <a:ext cx="7912338" cy="4445320"/>
            <a:chOff x="486092" y="1366200"/>
            <a:chExt cx="7072000" cy="39732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C75DD42-CF50-1049-9F0D-6F529C0158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09692" y="2778760"/>
              <a:ext cx="1148400" cy="114840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E3A79F-110F-40E3-4527-7C0040750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9692" y="1366520"/>
              <a:ext cx="1148400" cy="1148400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F599799-BAB4-9444-2E28-C90FB7715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46012" y="4191000"/>
              <a:ext cx="1148400" cy="1148400"/>
            </a:xfrm>
            <a:prstGeom prst="rect">
              <a:avLst/>
            </a:prstGeom>
          </p:spPr>
        </p:pic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14FAE7DF-E98D-2492-D458-DA2CE633E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81212" y="4191000"/>
              <a:ext cx="1148400" cy="1148400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AC2D70E8-BDE6-BB52-8B32-E9C5BEA7C16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999932" y="4191000"/>
              <a:ext cx="1148400" cy="1148400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6FCE382F-58F2-E1EB-3733-6E4EDDAF6D6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6092" y="4191000"/>
              <a:ext cx="1148400" cy="1148400"/>
            </a:xfrm>
            <a:prstGeom prst="rect">
              <a:avLst/>
            </a:prstGeom>
          </p:spPr>
        </p:pic>
        <p:pic>
          <p:nvPicPr>
            <p:cNvPr id="17" name="圖片 16">
              <a:extLst>
                <a:ext uri="{FF2B5EF4-FFF2-40B4-BE49-F238E27FC236}">
                  <a16:creationId xmlns:a16="http://schemas.microsoft.com/office/drawing/2014/main" id="{7DEB00D5-6CF9-E3AD-019F-62B4936BC63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46012" y="2778760"/>
              <a:ext cx="1148400" cy="1148400"/>
            </a:xfrm>
            <a:prstGeom prst="rect">
              <a:avLst/>
            </a:prstGeom>
          </p:spPr>
        </p:pic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72A71C3B-E306-F469-A3CB-9B9FCF61B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81212" y="2778760"/>
              <a:ext cx="1148400" cy="1148400"/>
            </a:xfrm>
            <a:prstGeom prst="rect">
              <a:avLst/>
            </a:prstGeom>
          </p:spPr>
        </p:pic>
        <p:pic>
          <p:nvPicPr>
            <p:cNvPr id="21" name="圖片 20">
              <a:extLst>
                <a:ext uri="{FF2B5EF4-FFF2-40B4-BE49-F238E27FC236}">
                  <a16:creationId xmlns:a16="http://schemas.microsoft.com/office/drawing/2014/main" id="{F746DEF9-2E27-4F15-126B-74245046A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999932" y="2778760"/>
              <a:ext cx="1148400" cy="1148400"/>
            </a:xfrm>
            <a:prstGeom prst="rect">
              <a:avLst/>
            </a:prstGeom>
          </p:spPr>
        </p:pic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863F9F59-A76C-768F-1AD4-598930B6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86092" y="2778760"/>
              <a:ext cx="1148400" cy="1148400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866CC3A0-3484-014A-6F1C-071E2C0FA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946012" y="1366520"/>
              <a:ext cx="1148400" cy="1148400"/>
            </a:xfrm>
            <a:prstGeom prst="rect">
              <a:avLst/>
            </a:prstGeom>
          </p:spPr>
        </p:pic>
        <p:pic>
          <p:nvPicPr>
            <p:cNvPr id="27" name="圖片 26">
              <a:extLst>
                <a:ext uri="{FF2B5EF4-FFF2-40B4-BE49-F238E27FC236}">
                  <a16:creationId xmlns:a16="http://schemas.microsoft.com/office/drawing/2014/main" id="{46EF9EDB-86FE-3EC8-09D9-714C6F82A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81212" y="1366520"/>
              <a:ext cx="1148400" cy="1148400"/>
            </a:xfrm>
            <a:prstGeom prst="rect">
              <a:avLst/>
            </a:prstGeom>
          </p:spPr>
        </p:pic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7AF45901-3A8A-723E-4BA1-CC0821896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99932" y="1366200"/>
              <a:ext cx="1148400" cy="1148400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6E76175A-3B85-11DF-1E53-D9F879402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86092" y="1366520"/>
              <a:ext cx="1148400" cy="1148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32922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BA668FEF-798E-7A54-66A0-3067F35F7388}"/>
              </a:ext>
            </a:extLst>
          </p:cNvPr>
          <p:cNvGrpSpPr/>
          <p:nvPr/>
        </p:nvGrpSpPr>
        <p:grpSpPr>
          <a:xfrm>
            <a:off x="173819" y="684400"/>
            <a:ext cx="5023059" cy="1991380"/>
            <a:chOff x="215958" y="1464944"/>
            <a:chExt cx="4802338" cy="2116075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DD22B52F-13F2-CFCA-E894-35BD5C3F1B4B}"/>
                </a:ext>
              </a:extLst>
            </p:cNvPr>
            <p:cNvSpPr txBox="1"/>
            <p:nvPr/>
          </p:nvSpPr>
          <p:spPr>
            <a:xfrm>
              <a:off x="215958" y="1464944"/>
              <a:ext cx="424648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TW" altLang="en-US" sz="1400" dirty="0">
                  <a:solidFill>
                    <a:schemeClr val="bg1"/>
                  </a:solidFill>
                </a:rPr>
                <a:t>https://github.com/HumanSignal/labelImg/releases</a:t>
              </a:r>
            </a:p>
          </p:txBody>
        </p:sp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5678884-94B6-A146-2A9A-7D8337F16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5958" y="1763384"/>
              <a:ext cx="4802338" cy="1817635"/>
            </a:xfrm>
            <a:prstGeom prst="rect">
              <a:avLst/>
            </a:prstGeom>
          </p:spPr>
        </p:pic>
      </p:grpSp>
      <p:pic>
        <p:nvPicPr>
          <p:cNvPr id="7" name="圖片 6">
            <a:extLst>
              <a:ext uri="{FF2B5EF4-FFF2-40B4-BE49-F238E27FC236}">
                <a16:creationId xmlns:a16="http://schemas.microsoft.com/office/drawing/2014/main" id="{A63A2EE5-1BEC-54A3-2880-C0F28C118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109" y="974040"/>
            <a:ext cx="3955728" cy="86082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群組 10">
            <a:extLst>
              <a:ext uri="{FF2B5EF4-FFF2-40B4-BE49-F238E27FC236}">
                <a16:creationId xmlns:a16="http://schemas.microsoft.com/office/drawing/2014/main" id="{B004EBF2-A36D-435A-2034-C4FB5C3A5FDB}"/>
              </a:ext>
            </a:extLst>
          </p:cNvPr>
          <p:cNvGrpSpPr/>
          <p:nvPr/>
        </p:nvGrpSpPr>
        <p:grpSpPr>
          <a:xfrm>
            <a:off x="173821" y="3001295"/>
            <a:ext cx="5023060" cy="3231299"/>
            <a:chOff x="5468789" y="1180924"/>
            <a:chExt cx="6504078" cy="4496152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97D6FA50-80BA-A33F-53A3-17DAD02E4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8789" y="1180924"/>
              <a:ext cx="6504078" cy="44961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58E4F2D1-C527-3661-8B76-B0C07C121FD9}"/>
                </a:ext>
              </a:extLst>
            </p:cNvPr>
            <p:cNvSpPr/>
            <p:nvPr/>
          </p:nvSpPr>
          <p:spPr>
            <a:xfrm>
              <a:off x="5468789" y="3992267"/>
              <a:ext cx="625623" cy="43646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8" name="圖片 17">
            <a:extLst>
              <a:ext uri="{FF2B5EF4-FFF2-40B4-BE49-F238E27FC236}">
                <a16:creationId xmlns:a16="http://schemas.microsoft.com/office/drawing/2014/main" id="{C6F4C32C-8C99-CF3C-9DB0-04A563338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293" y="2325043"/>
            <a:ext cx="5843360" cy="38485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TextBox 5">
            <a:extLst>
              <a:ext uri="{FF2B5EF4-FFF2-40B4-BE49-F238E27FC236}">
                <a16:creationId xmlns:a16="http://schemas.microsoft.com/office/drawing/2014/main" id="{8DB920C0-FF85-6644-A480-BD8529D2A009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20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0007387C-88A1-2834-5C52-ACF15A5D602A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資料標註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(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labelimg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)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F563DF5-E920-33F3-951C-452AA39CB57F}"/>
              </a:ext>
            </a:extLst>
          </p:cNvPr>
          <p:cNvSpPr txBox="1"/>
          <p:nvPr/>
        </p:nvSpPr>
        <p:spPr>
          <a:xfrm>
            <a:off x="809802" y="5062394"/>
            <a:ext cx="3751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程式啟動後將點選標註類別為</a:t>
            </a:r>
            <a:r>
              <a:rPr lang="en-US" altLang="zh-TW" dirty="0"/>
              <a:t>YOLO</a:t>
            </a:r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708F1E-E3E2-2783-86CD-1129A2DCD3EF}"/>
              </a:ext>
            </a:extLst>
          </p:cNvPr>
          <p:cNvSpPr/>
          <p:nvPr/>
        </p:nvSpPr>
        <p:spPr>
          <a:xfrm>
            <a:off x="1894840" y="1080323"/>
            <a:ext cx="436880" cy="467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CDEEC94-8DCB-6058-25E7-3C2BC39C1C91}"/>
              </a:ext>
            </a:extLst>
          </p:cNvPr>
          <p:cNvSpPr txBox="1"/>
          <p:nvPr/>
        </p:nvSpPr>
        <p:spPr>
          <a:xfrm>
            <a:off x="2331720" y="1201523"/>
            <a:ext cx="2864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bg1"/>
                </a:solidFill>
              </a:rPr>
              <a:t>從開源的</a:t>
            </a:r>
            <a:r>
              <a:rPr lang="en-US" altLang="zh-TW" sz="1400" dirty="0" err="1">
                <a:solidFill>
                  <a:schemeClr val="bg1"/>
                </a:solidFill>
              </a:rPr>
              <a:t>labelimg</a:t>
            </a:r>
            <a:r>
              <a:rPr lang="en-US" altLang="zh-TW" sz="1400" dirty="0">
                <a:solidFill>
                  <a:schemeClr val="bg1"/>
                </a:solidFill>
              </a:rPr>
              <a:t> </a:t>
            </a:r>
            <a:r>
              <a:rPr lang="zh-TW" altLang="en-US" sz="1400" dirty="0">
                <a:solidFill>
                  <a:schemeClr val="bg1"/>
                </a:solidFill>
              </a:rPr>
              <a:t>進行下載、安裝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C41FE9-D82A-6A5E-F4FE-C2BD87A9EAD9}"/>
              </a:ext>
            </a:extLst>
          </p:cNvPr>
          <p:cNvSpPr/>
          <p:nvPr/>
        </p:nvSpPr>
        <p:spPr>
          <a:xfrm>
            <a:off x="5288145" y="1803732"/>
            <a:ext cx="436880" cy="467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554FEC7F-880D-E25C-0245-1EFECAE90122}"/>
              </a:ext>
            </a:extLst>
          </p:cNvPr>
          <p:cNvSpPr txBox="1"/>
          <p:nvPr/>
        </p:nvSpPr>
        <p:spPr>
          <a:xfrm>
            <a:off x="5725025" y="1895287"/>
            <a:ext cx="42565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解壓縮後雙擊</a:t>
            </a:r>
            <a:r>
              <a:rPr lang="en-US" altLang="zh-TW" dirty="0"/>
              <a:t>labelimg.exe</a:t>
            </a:r>
            <a:r>
              <a:rPr lang="zh-TW" altLang="en-US" dirty="0"/>
              <a:t> 啟動標註程式</a:t>
            </a:r>
          </a:p>
        </p:txBody>
      </p:sp>
    </p:spTree>
    <p:extLst>
      <p:ext uri="{BB962C8B-B14F-4D97-AF65-F5344CB8AC3E}">
        <p14:creationId xmlns:p14="http://schemas.microsoft.com/office/powerpoint/2010/main" val="32636837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63ADA8E-B89A-A744-62B4-9BB0BD99A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30" y="1541378"/>
            <a:ext cx="6819472" cy="4447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AB0B669-9DE4-4B29-AA6C-716F54EE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495" y="1541378"/>
            <a:ext cx="3070598" cy="43349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9E23DB3-DDA1-4232-B2EE-99EB12BD2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3753" y="1541378"/>
            <a:ext cx="1739224" cy="18572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F8399A0-F7EA-A611-FE5E-672DDE0FD157}"/>
              </a:ext>
            </a:extLst>
          </p:cNvPr>
          <p:cNvSpPr/>
          <p:nvPr/>
        </p:nvSpPr>
        <p:spPr>
          <a:xfrm>
            <a:off x="7226003" y="4476991"/>
            <a:ext cx="569573" cy="3455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箭號: 向右 8">
            <a:extLst>
              <a:ext uri="{FF2B5EF4-FFF2-40B4-BE49-F238E27FC236}">
                <a16:creationId xmlns:a16="http://schemas.microsoft.com/office/drawing/2014/main" id="{FE67B141-DD07-1164-CE9E-DCD117097D1E}"/>
              </a:ext>
            </a:extLst>
          </p:cNvPr>
          <p:cNvSpPr/>
          <p:nvPr/>
        </p:nvSpPr>
        <p:spPr>
          <a:xfrm rot="16200000">
            <a:off x="7116082" y="4964746"/>
            <a:ext cx="789414" cy="7037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87865E70-EC2F-798F-DF06-63B9417542D9}"/>
              </a:ext>
            </a:extLst>
          </p:cNvPr>
          <p:cNvSpPr/>
          <p:nvPr/>
        </p:nvSpPr>
        <p:spPr>
          <a:xfrm rot="14082062">
            <a:off x="9979045" y="4833985"/>
            <a:ext cx="789414" cy="7037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C9D6E820-707D-1134-E2E9-9B0FEBD9B6FD}"/>
              </a:ext>
            </a:extLst>
          </p:cNvPr>
          <p:cNvSpPr/>
          <p:nvPr/>
        </p:nvSpPr>
        <p:spPr>
          <a:xfrm rot="16200000">
            <a:off x="10846183" y="3541173"/>
            <a:ext cx="789414" cy="703751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8D032DFB-CDB9-6D05-A84D-2C2612456B62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20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8D2AF0E2-12D2-4A77-7FA0-F1EEDBF9F15E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資料標註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(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labelimg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)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26673192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F68D4F6-B968-3EBF-5669-F06213884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51" y="1468062"/>
            <a:ext cx="7275796" cy="44652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F636E1B-11E5-D16C-AD93-2CA98BF5B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1873" y="2187055"/>
            <a:ext cx="3708167" cy="30781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5">
            <a:extLst>
              <a:ext uri="{FF2B5EF4-FFF2-40B4-BE49-F238E27FC236}">
                <a16:creationId xmlns:a16="http://schemas.microsoft.com/office/drawing/2014/main" id="{CA626E83-FA26-B7A6-92B2-EE2D3009412B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21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F147199-3D29-81D8-CEC9-379ACEEC5E44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dirty="0" err="1">
                <a:solidFill>
                  <a:srgbClr val="FFFFFF"/>
                </a:solidFill>
                <a:latin typeface="Microsoft JhengHei"/>
              </a:rPr>
              <a:t>Colab</a:t>
            </a:r>
            <a:r>
              <a:rPr lang="en-US" altLang="zh-TW" sz="260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/>
              </a:rPr>
              <a:t>模型訓練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600B01C-F640-FF7D-59B7-97099040FF49}"/>
              </a:ext>
            </a:extLst>
          </p:cNvPr>
          <p:cNvSpPr txBox="1"/>
          <p:nvPr/>
        </p:nvSpPr>
        <p:spPr>
          <a:xfrm>
            <a:off x="1654505" y="5941996"/>
            <a:ext cx="4607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Google </a:t>
            </a:r>
            <a:r>
              <a:rPr lang="zh-TW" altLang="en-US" dirty="0"/>
              <a:t>搜尋 </a:t>
            </a:r>
            <a:r>
              <a:rPr lang="en-US" altLang="zh-TW" dirty="0"/>
              <a:t>google </a:t>
            </a:r>
            <a:r>
              <a:rPr lang="en-US" altLang="zh-TW" dirty="0" err="1"/>
              <a:t>colab</a:t>
            </a:r>
            <a:r>
              <a:rPr lang="en-US" altLang="zh-TW" dirty="0"/>
              <a:t> </a:t>
            </a:r>
            <a:r>
              <a:rPr lang="zh-TW" altLang="en-US" dirty="0"/>
              <a:t>並選擇上傳程式碼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CEE249-1175-D6F4-8BBC-8681A61EC0B7}"/>
              </a:ext>
            </a:extLst>
          </p:cNvPr>
          <p:cNvSpPr txBox="1"/>
          <p:nvPr/>
        </p:nvSpPr>
        <p:spPr>
          <a:xfrm>
            <a:off x="8230275" y="5323123"/>
            <a:ext cx="3331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將本專題的</a:t>
            </a:r>
            <a:r>
              <a:rPr lang="en-US" altLang="zh-TW" dirty="0" err="1"/>
              <a:t>colab</a:t>
            </a:r>
            <a:r>
              <a:rPr lang="zh-TW" altLang="en-US" dirty="0"/>
              <a:t> 訓練程式上傳</a:t>
            </a:r>
          </a:p>
        </p:txBody>
      </p:sp>
    </p:spTree>
    <p:extLst>
      <p:ext uri="{BB962C8B-B14F-4D97-AF65-F5344CB8AC3E}">
        <p14:creationId xmlns:p14="http://schemas.microsoft.com/office/powerpoint/2010/main" val="1589934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A42D523-E33D-6CDC-5BEF-61D5FB0F9054}"/>
              </a:ext>
            </a:extLst>
          </p:cNvPr>
          <p:cNvSpPr/>
          <p:nvPr/>
        </p:nvSpPr>
        <p:spPr>
          <a:xfrm>
            <a:off x="81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18AB311-2F94-45C1-21C0-4F0F83A92AA4}"/>
              </a:ext>
            </a:extLst>
          </p:cNvPr>
          <p:cNvSpPr/>
          <p:nvPr/>
        </p:nvSpPr>
        <p:spPr>
          <a:xfrm>
            <a:off x="811384" y="1379747"/>
            <a:ext cx="170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F04E273F-8DB4-E5A4-DCFF-71C49A276D36}"/>
              </a:ext>
            </a:extLst>
          </p:cNvPr>
          <p:cNvSpPr txBox="1"/>
          <p:nvPr/>
        </p:nvSpPr>
        <p:spPr>
          <a:xfrm>
            <a:off x="89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1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6E256A4-1C63-674B-D7E2-17B303543AA7}"/>
              </a:ext>
            </a:extLst>
          </p:cNvPr>
          <p:cNvSpPr txBox="1"/>
          <p:nvPr/>
        </p:nvSpPr>
        <p:spPr>
          <a:xfrm>
            <a:off x="87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掛載
Google Drive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BBC0819-36BD-C9A8-FFD7-78D9A6CE4D36}"/>
              </a:ext>
            </a:extLst>
          </p:cNvPr>
          <p:cNvSpPr txBox="1"/>
          <p:nvPr/>
        </p:nvSpPr>
        <p:spPr>
          <a:xfrm>
            <a:off x="2496384" y="1979747"/>
            <a:ext cx="1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Microsoft JhengHei"/>
              </a:rPr>
              <a:t>▶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354B7E2E-9C37-A049-7FCF-5B049552B251}"/>
              </a:ext>
            </a:extLst>
          </p:cNvPr>
          <p:cNvSpPr/>
          <p:nvPr/>
        </p:nvSpPr>
        <p:spPr>
          <a:xfrm>
            <a:off x="260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23E880CA-0980-0005-6A92-2ECB0BECE7CF}"/>
              </a:ext>
            </a:extLst>
          </p:cNvPr>
          <p:cNvSpPr/>
          <p:nvPr/>
        </p:nvSpPr>
        <p:spPr>
          <a:xfrm>
            <a:off x="2601384" y="1379747"/>
            <a:ext cx="17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247B80E-615A-C3AD-B477-42ADE4B0399C}"/>
              </a:ext>
            </a:extLst>
          </p:cNvPr>
          <p:cNvSpPr txBox="1"/>
          <p:nvPr/>
        </p:nvSpPr>
        <p:spPr>
          <a:xfrm>
            <a:off x="268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2</a:t>
            </a: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AB0AA8D1-5117-9CF9-6306-9F467E15BF5C}"/>
              </a:ext>
            </a:extLst>
          </p:cNvPr>
          <p:cNvSpPr txBox="1"/>
          <p:nvPr/>
        </p:nvSpPr>
        <p:spPr>
          <a:xfrm>
            <a:off x="266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安裝 &amp;
編譯 Darknet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0D86858D-95B5-F0B4-CCAD-7F227F3ED2F0}"/>
              </a:ext>
            </a:extLst>
          </p:cNvPr>
          <p:cNvSpPr txBox="1"/>
          <p:nvPr/>
        </p:nvSpPr>
        <p:spPr>
          <a:xfrm>
            <a:off x="4286384" y="1979747"/>
            <a:ext cx="1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Microsoft JhengHei"/>
              </a:rPr>
              <a:t>▶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5FCDD9D5-6DD5-5171-F3D4-ADB1A0582398}"/>
              </a:ext>
            </a:extLst>
          </p:cNvPr>
          <p:cNvSpPr/>
          <p:nvPr/>
        </p:nvSpPr>
        <p:spPr>
          <a:xfrm>
            <a:off x="439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02C027BC-3D5E-CDE4-AD19-F2FCD397B31F}"/>
              </a:ext>
            </a:extLst>
          </p:cNvPr>
          <p:cNvSpPr/>
          <p:nvPr/>
        </p:nvSpPr>
        <p:spPr>
          <a:xfrm>
            <a:off x="4391384" y="1379747"/>
            <a:ext cx="170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EE50902C-06C3-D583-E9D8-B3E483A2D9C6}"/>
              </a:ext>
            </a:extLst>
          </p:cNvPr>
          <p:cNvSpPr txBox="1"/>
          <p:nvPr/>
        </p:nvSpPr>
        <p:spPr>
          <a:xfrm>
            <a:off x="447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3</a:t>
            </a:r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2472595D-A7E3-12A6-77B5-2E12D8F71F1F}"/>
              </a:ext>
            </a:extLst>
          </p:cNvPr>
          <p:cNvSpPr txBox="1"/>
          <p:nvPr/>
        </p:nvSpPr>
        <p:spPr>
          <a:xfrm>
            <a:off x="445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資料集
掃描分割</a:t>
            </a:r>
          </a:p>
        </p:txBody>
      </p:sp>
      <p:sp>
        <p:nvSpPr>
          <p:cNvPr id="16" name="TextBox 18">
            <a:extLst>
              <a:ext uri="{FF2B5EF4-FFF2-40B4-BE49-F238E27FC236}">
                <a16:creationId xmlns:a16="http://schemas.microsoft.com/office/drawing/2014/main" id="{272B4EC6-D21A-4C70-A6AD-513E8CF5FC25}"/>
              </a:ext>
            </a:extLst>
          </p:cNvPr>
          <p:cNvSpPr txBox="1"/>
          <p:nvPr/>
        </p:nvSpPr>
        <p:spPr>
          <a:xfrm>
            <a:off x="6076384" y="1979747"/>
            <a:ext cx="1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Microsoft JhengHei"/>
              </a:rPr>
              <a:t>▶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0259114C-5EF4-4505-DBFC-F2EBEB6CBD1A}"/>
              </a:ext>
            </a:extLst>
          </p:cNvPr>
          <p:cNvSpPr/>
          <p:nvPr/>
        </p:nvSpPr>
        <p:spPr>
          <a:xfrm>
            <a:off x="618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0FD6A3C2-96F7-ED8E-9D9F-2CB0CD30A3D0}"/>
              </a:ext>
            </a:extLst>
          </p:cNvPr>
          <p:cNvSpPr/>
          <p:nvPr/>
        </p:nvSpPr>
        <p:spPr>
          <a:xfrm>
            <a:off x="6181384" y="1379747"/>
            <a:ext cx="1700000" cy="3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5587FB7D-BBB5-6F62-F1DD-15F940DCCE2A}"/>
              </a:ext>
            </a:extLst>
          </p:cNvPr>
          <p:cNvSpPr txBox="1"/>
          <p:nvPr/>
        </p:nvSpPr>
        <p:spPr>
          <a:xfrm>
            <a:off x="626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4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600E18B2-0C32-9510-5F62-FA1E1635F556}"/>
              </a:ext>
            </a:extLst>
          </p:cNvPr>
          <p:cNvSpPr txBox="1"/>
          <p:nvPr/>
        </p:nvSpPr>
        <p:spPr>
          <a:xfrm>
            <a:off x="624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生成
設定檔 cfg</a:t>
            </a:r>
          </a:p>
        </p:txBody>
      </p:sp>
      <p:sp>
        <p:nvSpPr>
          <p:cNvPr id="21" name="TextBox 23">
            <a:extLst>
              <a:ext uri="{FF2B5EF4-FFF2-40B4-BE49-F238E27FC236}">
                <a16:creationId xmlns:a16="http://schemas.microsoft.com/office/drawing/2014/main" id="{159EE748-B4F7-E454-DA48-4728E4EB29B5}"/>
              </a:ext>
            </a:extLst>
          </p:cNvPr>
          <p:cNvSpPr txBox="1"/>
          <p:nvPr/>
        </p:nvSpPr>
        <p:spPr>
          <a:xfrm>
            <a:off x="7866384" y="1979747"/>
            <a:ext cx="1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Microsoft JhengHei"/>
              </a:rPr>
              <a:t>▶</a:t>
            </a: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47D6FA35-C02D-C685-EB1E-4E2D2971D34F}"/>
              </a:ext>
            </a:extLst>
          </p:cNvPr>
          <p:cNvSpPr/>
          <p:nvPr/>
        </p:nvSpPr>
        <p:spPr>
          <a:xfrm>
            <a:off x="797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0AE36C8B-E7F3-E3BD-09FD-450F172F6D54}"/>
              </a:ext>
            </a:extLst>
          </p:cNvPr>
          <p:cNvSpPr/>
          <p:nvPr/>
        </p:nvSpPr>
        <p:spPr>
          <a:xfrm>
            <a:off x="7971384" y="1379747"/>
            <a:ext cx="170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6">
            <a:extLst>
              <a:ext uri="{FF2B5EF4-FFF2-40B4-BE49-F238E27FC236}">
                <a16:creationId xmlns:a16="http://schemas.microsoft.com/office/drawing/2014/main" id="{584588DD-21B5-AE27-F2C3-4F84BFAA4884}"/>
              </a:ext>
            </a:extLst>
          </p:cNvPr>
          <p:cNvSpPr txBox="1"/>
          <p:nvPr/>
        </p:nvSpPr>
        <p:spPr>
          <a:xfrm>
            <a:off x="805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5</a:t>
            </a: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EC15C13D-9D46-AE0D-0E93-DA9531F4CA2B}"/>
              </a:ext>
            </a:extLst>
          </p:cNvPr>
          <p:cNvSpPr txBox="1"/>
          <p:nvPr/>
        </p:nvSpPr>
        <p:spPr>
          <a:xfrm>
            <a:off x="803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下載
預訓練權重</a:t>
            </a:r>
          </a:p>
        </p:txBody>
      </p:sp>
      <p:sp>
        <p:nvSpPr>
          <p:cNvPr id="26" name="TextBox 28">
            <a:extLst>
              <a:ext uri="{FF2B5EF4-FFF2-40B4-BE49-F238E27FC236}">
                <a16:creationId xmlns:a16="http://schemas.microsoft.com/office/drawing/2014/main" id="{96C4C397-A57D-1956-A595-5B4478A575DF}"/>
              </a:ext>
            </a:extLst>
          </p:cNvPr>
          <p:cNvSpPr txBox="1"/>
          <p:nvPr/>
        </p:nvSpPr>
        <p:spPr>
          <a:xfrm>
            <a:off x="9656384" y="1979747"/>
            <a:ext cx="12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D7EE"/>
                </a:solidFill>
                <a:latin typeface="Microsoft JhengHei"/>
              </a:rPr>
              <a:t>▶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D8C03090-2EC3-871A-4D39-B711E4271A82}"/>
              </a:ext>
            </a:extLst>
          </p:cNvPr>
          <p:cNvSpPr/>
          <p:nvPr/>
        </p:nvSpPr>
        <p:spPr>
          <a:xfrm>
            <a:off x="9761384" y="1379747"/>
            <a:ext cx="1700000" cy="15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32643540-0EB5-EC30-2E8A-90605BA8473D}"/>
              </a:ext>
            </a:extLst>
          </p:cNvPr>
          <p:cNvSpPr/>
          <p:nvPr/>
        </p:nvSpPr>
        <p:spPr>
          <a:xfrm>
            <a:off x="9761384" y="1379747"/>
            <a:ext cx="1700000" cy="36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31">
            <a:extLst>
              <a:ext uri="{FF2B5EF4-FFF2-40B4-BE49-F238E27FC236}">
                <a16:creationId xmlns:a16="http://schemas.microsoft.com/office/drawing/2014/main" id="{99DF06AD-BEC2-98A5-7821-9C93E1E8F8A9}"/>
              </a:ext>
            </a:extLst>
          </p:cNvPr>
          <p:cNvSpPr txBox="1"/>
          <p:nvPr/>
        </p:nvSpPr>
        <p:spPr>
          <a:xfrm>
            <a:off x="9841384" y="1439747"/>
            <a:ext cx="154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Step 6</a:t>
            </a:r>
          </a:p>
        </p:txBody>
      </p:sp>
      <p:sp>
        <p:nvSpPr>
          <p:cNvPr id="30" name="TextBox 32">
            <a:extLst>
              <a:ext uri="{FF2B5EF4-FFF2-40B4-BE49-F238E27FC236}">
                <a16:creationId xmlns:a16="http://schemas.microsoft.com/office/drawing/2014/main" id="{A06202D9-3F8A-2C75-C606-123AB3B56CBE}"/>
              </a:ext>
            </a:extLst>
          </p:cNvPr>
          <p:cNvSpPr txBox="1"/>
          <p:nvPr/>
        </p:nvSpPr>
        <p:spPr>
          <a:xfrm>
            <a:off x="9821384" y="1819747"/>
            <a:ext cx="1580000" cy="1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3864"/>
                </a:solidFill>
                <a:latin typeface="Microsoft JhengHei"/>
              </a:rPr>
              <a:t>開始
訓練</a:t>
            </a:r>
          </a:p>
        </p:txBody>
      </p:sp>
      <p:sp>
        <p:nvSpPr>
          <p:cNvPr id="31" name="Rectangle 33">
            <a:extLst>
              <a:ext uri="{FF2B5EF4-FFF2-40B4-BE49-F238E27FC236}">
                <a16:creationId xmlns:a16="http://schemas.microsoft.com/office/drawing/2014/main" id="{C2542304-BB02-EF6D-00AE-8582B750384E}"/>
              </a:ext>
            </a:extLst>
          </p:cNvPr>
          <p:cNvSpPr/>
          <p:nvPr/>
        </p:nvSpPr>
        <p:spPr>
          <a:xfrm>
            <a:off x="1646384" y="2879747"/>
            <a:ext cx="30000" cy="2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4">
            <a:extLst>
              <a:ext uri="{FF2B5EF4-FFF2-40B4-BE49-F238E27FC236}">
                <a16:creationId xmlns:a16="http://schemas.microsoft.com/office/drawing/2014/main" id="{C8757D1C-E93D-9424-387C-4FD83627C50C}"/>
              </a:ext>
            </a:extLst>
          </p:cNvPr>
          <p:cNvSpPr/>
          <p:nvPr/>
        </p:nvSpPr>
        <p:spPr>
          <a:xfrm>
            <a:off x="81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9B9FEEB1-A007-B413-C319-7D2965F0A4DA}"/>
              </a:ext>
            </a:extLst>
          </p:cNvPr>
          <p:cNvSpPr/>
          <p:nvPr/>
        </p:nvSpPr>
        <p:spPr>
          <a:xfrm>
            <a:off x="811384" y="3079747"/>
            <a:ext cx="1700000" cy="25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6">
            <a:extLst>
              <a:ext uri="{FF2B5EF4-FFF2-40B4-BE49-F238E27FC236}">
                <a16:creationId xmlns:a16="http://schemas.microsoft.com/office/drawing/2014/main" id="{6A2E34BC-306E-3C35-8A31-B4310CB6BEED}"/>
              </a:ext>
            </a:extLst>
          </p:cNvPr>
          <p:cNvSpPr txBox="1"/>
          <p:nvPr/>
        </p:nvSpPr>
        <p:spPr>
          <a:xfrm>
            <a:off x="89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drive.mount()
os.makedirs()</a:t>
            </a:r>
          </a:p>
        </p:txBody>
      </p:sp>
      <p:sp>
        <p:nvSpPr>
          <p:cNvPr id="35" name="Rectangle 37">
            <a:extLst>
              <a:ext uri="{FF2B5EF4-FFF2-40B4-BE49-F238E27FC236}">
                <a16:creationId xmlns:a16="http://schemas.microsoft.com/office/drawing/2014/main" id="{D0E13A26-BCED-E85A-55EA-2F819C301216}"/>
              </a:ext>
            </a:extLst>
          </p:cNvPr>
          <p:cNvSpPr/>
          <p:nvPr/>
        </p:nvSpPr>
        <p:spPr>
          <a:xfrm>
            <a:off x="3436384" y="2879747"/>
            <a:ext cx="30000" cy="2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8">
            <a:extLst>
              <a:ext uri="{FF2B5EF4-FFF2-40B4-BE49-F238E27FC236}">
                <a16:creationId xmlns:a16="http://schemas.microsoft.com/office/drawing/2014/main" id="{F1F6DC72-8B00-DDBB-5358-CE407E7EFB43}"/>
              </a:ext>
            </a:extLst>
          </p:cNvPr>
          <p:cNvSpPr/>
          <p:nvPr/>
        </p:nvSpPr>
        <p:spPr>
          <a:xfrm>
            <a:off x="260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9">
            <a:extLst>
              <a:ext uri="{FF2B5EF4-FFF2-40B4-BE49-F238E27FC236}">
                <a16:creationId xmlns:a16="http://schemas.microsoft.com/office/drawing/2014/main" id="{95D2DEF7-47C8-148A-46C7-0A551A3CA973}"/>
              </a:ext>
            </a:extLst>
          </p:cNvPr>
          <p:cNvSpPr/>
          <p:nvPr/>
        </p:nvSpPr>
        <p:spPr>
          <a:xfrm>
            <a:off x="2601384" y="3079747"/>
            <a:ext cx="1700000" cy="25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40">
            <a:extLst>
              <a:ext uri="{FF2B5EF4-FFF2-40B4-BE49-F238E27FC236}">
                <a16:creationId xmlns:a16="http://schemas.microsoft.com/office/drawing/2014/main" id="{D327D098-6E61-FDD3-7DCB-3D1D596704A6}"/>
              </a:ext>
            </a:extLst>
          </p:cNvPr>
          <p:cNvSpPr txBox="1"/>
          <p:nvPr/>
        </p:nvSpPr>
        <p:spPr>
          <a:xfrm>
            <a:off x="268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apt-get install
git clone + make</a:t>
            </a:r>
          </a:p>
        </p:txBody>
      </p:sp>
      <p:sp>
        <p:nvSpPr>
          <p:cNvPr id="39" name="Rectangle 41">
            <a:extLst>
              <a:ext uri="{FF2B5EF4-FFF2-40B4-BE49-F238E27FC236}">
                <a16:creationId xmlns:a16="http://schemas.microsoft.com/office/drawing/2014/main" id="{6EC47402-3EDE-EABE-C679-135BFEB470BF}"/>
              </a:ext>
            </a:extLst>
          </p:cNvPr>
          <p:cNvSpPr/>
          <p:nvPr/>
        </p:nvSpPr>
        <p:spPr>
          <a:xfrm>
            <a:off x="5226384" y="2879747"/>
            <a:ext cx="30000" cy="2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42">
            <a:extLst>
              <a:ext uri="{FF2B5EF4-FFF2-40B4-BE49-F238E27FC236}">
                <a16:creationId xmlns:a16="http://schemas.microsoft.com/office/drawing/2014/main" id="{FE81693F-63FC-3317-63E8-F1A80B80C163}"/>
              </a:ext>
            </a:extLst>
          </p:cNvPr>
          <p:cNvSpPr/>
          <p:nvPr/>
        </p:nvSpPr>
        <p:spPr>
          <a:xfrm>
            <a:off x="439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3">
            <a:extLst>
              <a:ext uri="{FF2B5EF4-FFF2-40B4-BE49-F238E27FC236}">
                <a16:creationId xmlns:a16="http://schemas.microsoft.com/office/drawing/2014/main" id="{16DC4076-18B3-3F89-17B1-0A29D30EB0E9}"/>
              </a:ext>
            </a:extLst>
          </p:cNvPr>
          <p:cNvSpPr/>
          <p:nvPr/>
        </p:nvSpPr>
        <p:spPr>
          <a:xfrm>
            <a:off x="4391384" y="3079747"/>
            <a:ext cx="1700000" cy="25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4">
            <a:extLst>
              <a:ext uri="{FF2B5EF4-FFF2-40B4-BE49-F238E27FC236}">
                <a16:creationId xmlns:a16="http://schemas.microsoft.com/office/drawing/2014/main" id="{06CE0EC9-4796-CA75-2BDF-C934754DD8FF}"/>
              </a:ext>
            </a:extLst>
          </p:cNvPr>
          <p:cNvSpPr txBox="1"/>
          <p:nvPr/>
        </p:nvSpPr>
        <p:spPr>
          <a:xfrm>
            <a:off x="447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掃描圖片/標註配對
隨機分割 train/val/test</a:t>
            </a:r>
          </a:p>
        </p:txBody>
      </p:sp>
      <p:sp>
        <p:nvSpPr>
          <p:cNvPr id="43" name="Rectangle 45">
            <a:extLst>
              <a:ext uri="{FF2B5EF4-FFF2-40B4-BE49-F238E27FC236}">
                <a16:creationId xmlns:a16="http://schemas.microsoft.com/office/drawing/2014/main" id="{01CD46C8-84CB-0885-9AEB-302577659AC7}"/>
              </a:ext>
            </a:extLst>
          </p:cNvPr>
          <p:cNvSpPr/>
          <p:nvPr/>
        </p:nvSpPr>
        <p:spPr>
          <a:xfrm>
            <a:off x="7016384" y="2879747"/>
            <a:ext cx="30000" cy="2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6">
            <a:extLst>
              <a:ext uri="{FF2B5EF4-FFF2-40B4-BE49-F238E27FC236}">
                <a16:creationId xmlns:a16="http://schemas.microsoft.com/office/drawing/2014/main" id="{6FE110A7-266B-190E-9C12-F5F19E8CC81B}"/>
              </a:ext>
            </a:extLst>
          </p:cNvPr>
          <p:cNvSpPr/>
          <p:nvPr/>
        </p:nvSpPr>
        <p:spPr>
          <a:xfrm>
            <a:off x="618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7">
            <a:extLst>
              <a:ext uri="{FF2B5EF4-FFF2-40B4-BE49-F238E27FC236}">
                <a16:creationId xmlns:a16="http://schemas.microsoft.com/office/drawing/2014/main" id="{8D3F7845-FC5C-5DD6-CA6B-849B0324C8B9}"/>
              </a:ext>
            </a:extLst>
          </p:cNvPr>
          <p:cNvSpPr/>
          <p:nvPr/>
        </p:nvSpPr>
        <p:spPr>
          <a:xfrm>
            <a:off x="6181384" y="3079747"/>
            <a:ext cx="1700000" cy="25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8">
            <a:extLst>
              <a:ext uri="{FF2B5EF4-FFF2-40B4-BE49-F238E27FC236}">
                <a16:creationId xmlns:a16="http://schemas.microsoft.com/office/drawing/2014/main" id="{C659B0F2-D9C2-FFC8-6386-127724CCAB65}"/>
              </a:ext>
            </a:extLst>
          </p:cNvPr>
          <p:cNvSpPr txBox="1"/>
          <p:nvPr/>
        </p:nvSpPr>
        <p:spPr>
          <a:xfrm>
            <a:off x="626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obj.names
obj.data
yolov4-tiny.cfg</a:t>
            </a:r>
          </a:p>
        </p:txBody>
      </p:sp>
      <p:sp>
        <p:nvSpPr>
          <p:cNvPr id="47" name="Rectangle 49">
            <a:extLst>
              <a:ext uri="{FF2B5EF4-FFF2-40B4-BE49-F238E27FC236}">
                <a16:creationId xmlns:a16="http://schemas.microsoft.com/office/drawing/2014/main" id="{5E49FBA0-B7EA-587E-2C6B-015227ED2CD0}"/>
              </a:ext>
            </a:extLst>
          </p:cNvPr>
          <p:cNvSpPr/>
          <p:nvPr/>
        </p:nvSpPr>
        <p:spPr>
          <a:xfrm>
            <a:off x="8806384" y="2879747"/>
            <a:ext cx="30000" cy="2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50">
            <a:extLst>
              <a:ext uri="{FF2B5EF4-FFF2-40B4-BE49-F238E27FC236}">
                <a16:creationId xmlns:a16="http://schemas.microsoft.com/office/drawing/2014/main" id="{7178C702-4436-A1BB-5CE5-D5C989C46484}"/>
              </a:ext>
            </a:extLst>
          </p:cNvPr>
          <p:cNvSpPr/>
          <p:nvPr/>
        </p:nvSpPr>
        <p:spPr>
          <a:xfrm>
            <a:off x="797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51">
            <a:extLst>
              <a:ext uri="{FF2B5EF4-FFF2-40B4-BE49-F238E27FC236}">
                <a16:creationId xmlns:a16="http://schemas.microsoft.com/office/drawing/2014/main" id="{72CFB1EC-E243-ED25-5415-DC6CEE9B7081}"/>
              </a:ext>
            </a:extLst>
          </p:cNvPr>
          <p:cNvSpPr/>
          <p:nvPr/>
        </p:nvSpPr>
        <p:spPr>
          <a:xfrm>
            <a:off x="7971384" y="3079747"/>
            <a:ext cx="1700000" cy="25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52">
            <a:extLst>
              <a:ext uri="{FF2B5EF4-FFF2-40B4-BE49-F238E27FC236}">
                <a16:creationId xmlns:a16="http://schemas.microsoft.com/office/drawing/2014/main" id="{1689D46F-F014-FF38-7C16-4AC87B6E1F55}"/>
              </a:ext>
            </a:extLst>
          </p:cNvPr>
          <p:cNvSpPr txBox="1"/>
          <p:nvPr/>
        </p:nvSpPr>
        <p:spPr>
          <a:xfrm>
            <a:off x="805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yolov4-tiny
.conv.29</a:t>
            </a:r>
          </a:p>
        </p:txBody>
      </p:sp>
      <p:sp>
        <p:nvSpPr>
          <p:cNvPr id="51" name="Rectangle 53">
            <a:extLst>
              <a:ext uri="{FF2B5EF4-FFF2-40B4-BE49-F238E27FC236}">
                <a16:creationId xmlns:a16="http://schemas.microsoft.com/office/drawing/2014/main" id="{98517793-C31F-1B6A-E281-F6B69FD47702}"/>
              </a:ext>
            </a:extLst>
          </p:cNvPr>
          <p:cNvSpPr/>
          <p:nvPr/>
        </p:nvSpPr>
        <p:spPr>
          <a:xfrm>
            <a:off x="10596384" y="2879747"/>
            <a:ext cx="30000" cy="200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4">
            <a:extLst>
              <a:ext uri="{FF2B5EF4-FFF2-40B4-BE49-F238E27FC236}">
                <a16:creationId xmlns:a16="http://schemas.microsoft.com/office/drawing/2014/main" id="{6A5F3375-4096-AE8D-FCD0-45E7D21561D9}"/>
              </a:ext>
            </a:extLst>
          </p:cNvPr>
          <p:cNvSpPr/>
          <p:nvPr/>
        </p:nvSpPr>
        <p:spPr>
          <a:xfrm>
            <a:off x="9761384" y="3079747"/>
            <a:ext cx="1700000" cy="220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5">
            <a:extLst>
              <a:ext uri="{FF2B5EF4-FFF2-40B4-BE49-F238E27FC236}">
                <a16:creationId xmlns:a16="http://schemas.microsoft.com/office/drawing/2014/main" id="{70737A22-3460-D58F-22D7-C24C55D71E42}"/>
              </a:ext>
            </a:extLst>
          </p:cNvPr>
          <p:cNvSpPr/>
          <p:nvPr/>
        </p:nvSpPr>
        <p:spPr>
          <a:xfrm>
            <a:off x="9761384" y="3079747"/>
            <a:ext cx="1700000" cy="2500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6">
            <a:extLst>
              <a:ext uri="{FF2B5EF4-FFF2-40B4-BE49-F238E27FC236}">
                <a16:creationId xmlns:a16="http://schemas.microsoft.com/office/drawing/2014/main" id="{0F6C6729-1369-59DE-4D7A-0118113D792A}"/>
              </a:ext>
            </a:extLst>
          </p:cNvPr>
          <p:cNvSpPr txBox="1"/>
          <p:nvPr/>
        </p:nvSpPr>
        <p:spPr>
          <a:xfrm>
            <a:off x="9841384" y="3159747"/>
            <a:ext cx="1540000" cy="2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3864"/>
                </a:solidFill>
                <a:latin typeface="Microsoft JhengHei"/>
              </a:rPr>
              <a:t>./darknet
detector train</a:t>
            </a:r>
          </a:p>
        </p:txBody>
      </p:sp>
      <p:sp>
        <p:nvSpPr>
          <p:cNvPr id="55" name="TextBox 5">
            <a:extLst>
              <a:ext uri="{FF2B5EF4-FFF2-40B4-BE49-F238E27FC236}">
                <a16:creationId xmlns:a16="http://schemas.microsoft.com/office/drawing/2014/main" id="{18C51554-7876-8C08-052C-C9F32CC013E0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21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56" name="TextBox 6">
            <a:extLst>
              <a:ext uri="{FF2B5EF4-FFF2-40B4-BE49-F238E27FC236}">
                <a16:creationId xmlns:a16="http://schemas.microsoft.com/office/drawing/2014/main" id="{C0A295FE-FC5B-1034-9AAA-F3CC9D00EDEF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dirty="0" err="1">
                <a:solidFill>
                  <a:srgbClr val="FFFFFF"/>
                </a:solidFill>
                <a:latin typeface="Microsoft JhengHei"/>
              </a:rPr>
              <a:t>Colab</a:t>
            </a:r>
            <a:r>
              <a:rPr lang="en-US" altLang="zh-TW" sz="2600" b="1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zh-TW" altLang="en-US" sz="2600" b="1" dirty="0">
                <a:solidFill>
                  <a:srgbClr val="FFFFFF"/>
                </a:solidFill>
                <a:latin typeface="Microsoft JhengHei"/>
              </a:rPr>
              <a:t>模型訓練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pic>
        <p:nvPicPr>
          <p:cNvPr id="57" name="圖片 56">
            <a:extLst>
              <a:ext uri="{FF2B5EF4-FFF2-40B4-BE49-F238E27FC236}">
                <a16:creationId xmlns:a16="http://schemas.microsoft.com/office/drawing/2014/main" id="{95E691FE-6D39-F254-B1C3-A3CDEDB2AD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7082"/>
          <a:stretch>
            <a:fillRect/>
          </a:stretch>
        </p:blipFill>
        <p:spPr>
          <a:xfrm>
            <a:off x="2105267" y="5334747"/>
            <a:ext cx="1877405" cy="11003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B4AE047E-FE76-2957-4913-1B9F1062DA8B}"/>
              </a:ext>
            </a:extLst>
          </p:cNvPr>
          <p:cNvSpPr txBox="1"/>
          <p:nvPr/>
        </p:nvSpPr>
        <p:spPr>
          <a:xfrm>
            <a:off x="4002993" y="5438861"/>
            <a:ext cx="2519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Colab</a:t>
            </a:r>
            <a:r>
              <a:rPr lang="zh-TW" altLang="en-US" dirty="0"/>
              <a:t>執行過程會建立資料集 ，將圖片放進</a:t>
            </a:r>
            <a:r>
              <a:rPr lang="en-US" altLang="zh-TW" dirty="0"/>
              <a:t>Dataset</a:t>
            </a:r>
            <a:r>
              <a:rPr lang="zh-TW" altLang="en-US" dirty="0"/>
              <a:t>資料夾。</a:t>
            </a:r>
          </a:p>
        </p:txBody>
      </p:sp>
      <p:cxnSp>
        <p:nvCxnSpPr>
          <p:cNvPr id="60" name="接點: 肘形 59">
            <a:extLst>
              <a:ext uri="{FF2B5EF4-FFF2-40B4-BE49-F238E27FC236}">
                <a16:creationId xmlns:a16="http://schemas.microsoft.com/office/drawing/2014/main" id="{208A3239-D50D-D673-4A89-C49DA8704347}"/>
              </a:ext>
            </a:extLst>
          </p:cNvPr>
          <p:cNvCxnSpPr>
            <a:stCxn id="32" idx="2"/>
            <a:endCxn id="57" idx="1"/>
          </p:cNvCxnSpPr>
          <p:nvPr/>
        </p:nvCxnSpPr>
        <p:spPr>
          <a:xfrm rot="16200000" flipH="1">
            <a:off x="1580728" y="5360402"/>
            <a:ext cx="605194" cy="4438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3369EDE1-E552-0FD8-E7DC-D7DD3EBEF0D6}"/>
              </a:ext>
            </a:extLst>
          </p:cNvPr>
          <p:cNvSpPr txBox="1"/>
          <p:nvPr/>
        </p:nvSpPr>
        <p:spPr>
          <a:xfrm>
            <a:off x="746039" y="845221"/>
            <a:ext cx="6138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solidFill>
                  <a:schemeClr val="bg1"/>
                </a:solidFill>
              </a:rPr>
              <a:t>YOLOv4Tiny_AutoTrain.ipynb</a:t>
            </a:r>
          </a:p>
        </p:txBody>
      </p:sp>
    </p:spTree>
    <p:extLst>
      <p:ext uri="{BB962C8B-B14F-4D97-AF65-F5344CB8AC3E}">
        <p14:creationId xmlns:p14="http://schemas.microsoft.com/office/powerpoint/2010/main" val="36735158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2">
            <a:extLst>
              <a:ext uri="{FF2B5EF4-FFF2-40B4-BE49-F238E27FC236}">
                <a16:creationId xmlns:a16="http://schemas.microsoft.com/office/drawing/2014/main" id="{361C6EA3-66D7-36A8-3946-A2F24A575506}"/>
              </a:ext>
            </a:extLst>
          </p:cNvPr>
          <p:cNvSpPr/>
          <p:nvPr/>
        </p:nvSpPr>
        <p:spPr>
          <a:xfrm>
            <a:off x="6100000" y="1020000"/>
            <a:ext cx="5800000" cy="545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0822DA1E-3C6E-251B-2006-7F05ACE07F83}"/>
              </a:ext>
            </a:extLst>
          </p:cNvPr>
          <p:cNvSpPr/>
          <p:nvPr/>
        </p:nvSpPr>
        <p:spPr>
          <a:xfrm>
            <a:off x="6100000" y="1020000"/>
            <a:ext cx="5800000" cy="4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A5E1F4C-BF0A-003E-21C3-F7AF46F4B15C}"/>
              </a:ext>
            </a:extLst>
          </p:cNvPr>
          <p:cNvSpPr txBox="1"/>
          <p:nvPr/>
        </p:nvSpPr>
        <p:spPr>
          <a:xfrm>
            <a:off x="6280000" y="1120000"/>
            <a:ext cx="55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JhengHei"/>
              </a:rPr>
              <a:t>建立後的 Drive 資料夾結構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3C29A5C5-FBBD-0C58-545A-7BD0AB28B635}"/>
              </a:ext>
            </a:extLst>
          </p:cNvPr>
          <p:cNvSpPr/>
          <p:nvPr/>
        </p:nvSpPr>
        <p:spPr>
          <a:xfrm>
            <a:off x="6260000" y="1540000"/>
            <a:ext cx="5480000" cy="240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A4D9DE02-F3C3-DD28-3DC9-19C2A20625E5}"/>
              </a:ext>
            </a:extLst>
          </p:cNvPr>
          <p:cNvSpPr txBox="1"/>
          <p:nvPr/>
        </p:nvSpPr>
        <p:spPr>
          <a:xfrm>
            <a:off x="6350000" y="1600000"/>
            <a:ext cx="5300000" cy="2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ourier New"/>
              </a:rPr>
              <a:t>MyDrive/</a:t>
            </a:r>
          </a:p>
          <a:p>
            <a:r>
              <a:rPr sz="1100" b="0">
                <a:solidFill>
                  <a:srgbClr val="FFFFFF"/>
                </a:solidFill>
                <a:latin typeface="Courier New"/>
              </a:rPr>
              <a:t>└── yolov4_tiny_training/</a:t>
            </a:r>
          </a:p>
          <a:p>
            <a:r>
              <a:rPr sz="1100" b="0">
                <a:solidFill>
                  <a:srgbClr val="FFFFFF"/>
                </a:solidFill>
                <a:latin typeface="Courier New"/>
              </a:rPr>
              <a:t>    ├── dataset/    ← 放圖片 + .txt</a:t>
            </a:r>
          </a:p>
          <a:p>
            <a:r>
              <a:rPr sz="1100" b="0">
                <a:solidFill>
                  <a:srgbClr val="FFFFFF"/>
                </a:solidFill>
                <a:latin typeface="Courier New"/>
              </a:rPr>
              <a:t>    ├── backup/     ← weights 輸出</a:t>
            </a:r>
          </a:p>
          <a:p>
            <a:r>
              <a:rPr sz="1100" b="0">
                <a:solidFill>
                  <a:srgbClr val="FFFFFF"/>
                </a:solidFill>
                <a:latin typeface="Courier New"/>
              </a:rPr>
              <a:t>    └── logs/       ← log &amp; 圖表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CA3E6B6C-C9AD-0CEB-184B-E22783189236}"/>
              </a:ext>
            </a:extLst>
          </p:cNvPr>
          <p:cNvSpPr/>
          <p:nvPr/>
        </p:nvSpPr>
        <p:spPr>
          <a:xfrm>
            <a:off x="6260000" y="4140000"/>
            <a:ext cx="548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D6F0C05E-28B9-48B9-6229-1407F1CB26AA}"/>
              </a:ext>
            </a:extLst>
          </p:cNvPr>
          <p:cNvSpPr/>
          <p:nvPr/>
        </p:nvSpPr>
        <p:spPr>
          <a:xfrm>
            <a:off x="6260000" y="4140000"/>
            <a:ext cx="80000" cy="700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9">
            <a:extLst>
              <a:ext uri="{FF2B5EF4-FFF2-40B4-BE49-F238E27FC236}">
                <a16:creationId xmlns:a16="http://schemas.microsoft.com/office/drawing/2014/main" id="{7D92A154-3450-8640-7667-EF3C366AE212}"/>
              </a:ext>
            </a:extLst>
          </p:cNvPr>
          <p:cNvSpPr txBox="1"/>
          <p:nvPr/>
        </p:nvSpPr>
        <p:spPr>
          <a:xfrm>
            <a:off x="6420000" y="422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ourier New"/>
              </a:rPr>
              <a:t>dataset/</a:t>
            </a:r>
          </a:p>
        </p:txBody>
      </p:sp>
      <p:sp>
        <p:nvSpPr>
          <p:cNvPr id="15" name="TextBox 20">
            <a:extLst>
              <a:ext uri="{FF2B5EF4-FFF2-40B4-BE49-F238E27FC236}">
                <a16:creationId xmlns:a16="http://schemas.microsoft.com/office/drawing/2014/main" id="{384611DD-7381-5E7A-F03F-1E88A2605455}"/>
              </a:ext>
            </a:extLst>
          </p:cNvPr>
          <p:cNvSpPr txBox="1"/>
          <p:nvPr/>
        </p:nvSpPr>
        <p:spPr>
          <a:xfrm>
            <a:off x="8000000" y="422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Microsoft JhengHei"/>
              </a:rPr>
              <a:t>放圖片與 .txt 標註</a:t>
            </a: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7D282010-3A4A-B3C8-2A8A-96EF3F1F306D}"/>
              </a:ext>
            </a:extLst>
          </p:cNvPr>
          <p:cNvSpPr/>
          <p:nvPr/>
        </p:nvSpPr>
        <p:spPr>
          <a:xfrm>
            <a:off x="6260000" y="4960000"/>
            <a:ext cx="548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257A1504-82A9-26F8-72A2-FDC85C8A3F71}"/>
              </a:ext>
            </a:extLst>
          </p:cNvPr>
          <p:cNvSpPr/>
          <p:nvPr/>
        </p:nvSpPr>
        <p:spPr>
          <a:xfrm>
            <a:off x="6260000" y="4960000"/>
            <a:ext cx="80000" cy="7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CC8D83DE-007E-113D-A876-A6BE62C7FA4C}"/>
              </a:ext>
            </a:extLst>
          </p:cNvPr>
          <p:cNvSpPr txBox="1"/>
          <p:nvPr/>
        </p:nvSpPr>
        <p:spPr>
          <a:xfrm>
            <a:off x="6420000" y="504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ourier New"/>
              </a:rPr>
              <a:t>backup/</a:t>
            </a:r>
          </a:p>
        </p:txBody>
      </p:sp>
      <p:sp>
        <p:nvSpPr>
          <p:cNvPr id="19" name="TextBox 24">
            <a:extLst>
              <a:ext uri="{FF2B5EF4-FFF2-40B4-BE49-F238E27FC236}">
                <a16:creationId xmlns:a16="http://schemas.microsoft.com/office/drawing/2014/main" id="{81C575D4-A8FC-29B3-9941-0F9EF2909956}"/>
              </a:ext>
            </a:extLst>
          </p:cNvPr>
          <p:cNvSpPr txBox="1"/>
          <p:nvPr/>
        </p:nvSpPr>
        <p:spPr>
          <a:xfrm>
            <a:off x="8000000" y="504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Microsoft JhengHei"/>
              </a:rPr>
              <a:t>weights 每 1000 iter 自動存</a:t>
            </a:r>
          </a:p>
        </p:txBody>
      </p:sp>
      <p:sp>
        <p:nvSpPr>
          <p:cNvPr id="20" name="Rectangle 25">
            <a:extLst>
              <a:ext uri="{FF2B5EF4-FFF2-40B4-BE49-F238E27FC236}">
                <a16:creationId xmlns:a16="http://schemas.microsoft.com/office/drawing/2014/main" id="{68B7492E-8AEF-6F43-ED2C-B94DA39DF57C}"/>
              </a:ext>
            </a:extLst>
          </p:cNvPr>
          <p:cNvSpPr/>
          <p:nvPr/>
        </p:nvSpPr>
        <p:spPr>
          <a:xfrm>
            <a:off x="6260000" y="5780000"/>
            <a:ext cx="5480000" cy="7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6">
            <a:extLst>
              <a:ext uri="{FF2B5EF4-FFF2-40B4-BE49-F238E27FC236}">
                <a16:creationId xmlns:a16="http://schemas.microsoft.com/office/drawing/2014/main" id="{F534B2FC-3363-C5F0-D0DA-03C767B9C25E}"/>
              </a:ext>
            </a:extLst>
          </p:cNvPr>
          <p:cNvSpPr/>
          <p:nvPr/>
        </p:nvSpPr>
        <p:spPr>
          <a:xfrm>
            <a:off x="6260000" y="5780000"/>
            <a:ext cx="80000" cy="70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7">
            <a:extLst>
              <a:ext uri="{FF2B5EF4-FFF2-40B4-BE49-F238E27FC236}">
                <a16:creationId xmlns:a16="http://schemas.microsoft.com/office/drawing/2014/main" id="{BA009EC3-F14D-BBA7-2DFF-55C98BA52E79}"/>
              </a:ext>
            </a:extLst>
          </p:cNvPr>
          <p:cNvSpPr txBox="1"/>
          <p:nvPr/>
        </p:nvSpPr>
        <p:spPr>
          <a:xfrm>
            <a:off x="6420000" y="5860000"/>
            <a:ext cx="15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Courier New"/>
              </a:rPr>
              <a:t>logs/</a:t>
            </a:r>
          </a:p>
        </p:txBody>
      </p:sp>
      <p:sp>
        <p:nvSpPr>
          <p:cNvPr id="23" name="TextBox 28">
            <a:extLst>
              <a:ext uri="{FF2B5EF4-FFF2-40B4-BE49-F238E27FC236}">
                <a16:creationId xmlns:a16="http://schemas.microsoft.com/office/drawing/2014/main" id="{41993D65-802C-CAAB-6860-09D7A8F37B0C}"/>
              </a:ext>
            </a:extLst>
          </p:cNvPr>
          <p:cNvSpPr txBox="1"/>
          <p:nvPr/>
        </p:nvSpPr>
        <p:spPr>
          <a:xfrm>
            <a:off x="8000000" y="5860000"/>
            <a:ext cx="37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3864"/>
                </a:solidFill>
                <a:latin typeface="Microsoft JhengHei"/>
              </a:rPr>
              <a:t>training_log.txt &amp; loss_curve.png</a:t>
            </a:r>
          </a:p>
        </p:txBody>
      </p:sp>
      <p:sp>
        <p:nvSpPr>
          <p:cNvPr id="24" name="Rectangle 31">
            <a:extLst>
              <a:ext uri="{FF2B5EF4-FFF2-40B4-BE49-F238E27FC236}">
                <a16:creationId xmlns:a16="http://schemas.microsoft.com/office/drawing/2014/main" id="{42BEA6D2-84B5-5C6C-55A3-20FBB80B6966}"/>
              </a:ext>
            </a:extLst>
          </p:cNvPr>
          <p:cNvSpPr/>
          <p:nvPr/>
        </p:nvSpPr>
        <p:spPr>
          <a:xfrm>
            <a:off x="128825" y="1120000"/>
            <a:ext cx="5800000" cy="54500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32">
            <a:extLst>
              <a:ext uri="{FF2B5EF4-FFF2-40B4-BE49-F238E27FC236}">
                <a16:creationId xmlns:a16="http://schemas.microsoft.com/office/drawing/2014/main" id="{BE309A9E-9A72-5C21-BCE5-70FFAE100E3C}"/>
              </a:ext>
            </a:extLst>
          </p:cNvPr>
          <p:cNvSpPr/>
          <p:nvPr/>
        </p:nvSpPr>
        <p:spPr>
          <a:xfrm>
            <a:off x="128825" y="1120000"/>
            <a:ext cx="5800000" cy="42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33">
            <a:extLst>
              <a:ext uri="{FF2B5EF4-FFF2-40B4-BE49-F238E27FC236}">
                <a16:creationId xmlns:a16="http://schemas.microsoft.com/office/drawing/2014/main" id="{9CA3D9BC-2517-4AD0-EF93-78688F9A9CE6}"/>
              </a:ext>
            </a:extLst>
          </p:cNvPr>
          <p:cNvSpPr txBox="1"/>
          <p:nvPr/>
        </p:nvSpPr>
        <p:spPr>
          <a:xfrm>
            <a:off x="308825" y="1220000"/>
            <a:ext cx="552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Microsoft JhengHei"/>
              </a:rPr>
              <a:t>分割比例視覺化（預設 70/20/10）</a:t>
            </a:r>
          </a:p>
        </p:txBody>
      </p:sp>
      <p:sp>
        <p:nvSpPr>
          <p:cNvPr id="27" name="Rectangle 34">
            <a:extLst>
              <a:ext uri="{FF2B5EF4-FFF2-40B4-BE49-F238E27FC236}">
                <a16:creationId xmlns:a16="http://schemas.microsoft.com/office/drawing/2014/main" id="{79B2E718-093F-ADC8-5CC6-65B302A935B1}"/>
              </a:ext>
            </a:extLst>
          </p:cNvPr>
          <p:cNvSpPr/>
          <p:nvPr/>
        </p:nvSpPr>
        <p:spPr>
          <a:xfrm>
            <a:off x="378825" y="1720000"/>
            <a:ext cx="3709999" cy="58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35">
            <a:extLst>
              <a:ext uri="{FF2B5EF4-FFF2-40B4-BE49-F238E27FC236}">
                <a16:creationId xmlns:a16="http://schemas.microsoft.com/office/drawing/2014/main" id="{E5D4FA93-2E1A-9BE9-08FD-C1A6944EE368}"/>
              </a:ext>
            </a:extLst>
          </p:cNvPr>
          <p:cNvSpPr/>
          <p:nvPr/>
        </p:nvSpPr>
        <p:spPr>
          <a:xfrm>
            <a:off x="4088824" y="1720000"/>
            <a:ext cx="1060000" cy="58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36">
            <a:extLst>
              <a:ext uri="{FF2B5EF4-FFF2-40B4-BE49-F238E27FC236}">
                <a16:creationId xmlns:a16="http://schemas.microsoft.com/office/drawing/2014/main" id="{A6AFF1A5-0003-E448-9A40-DA8BA9162390}"/>
              </a:ext>
            </a:extLst>
          </p:cNvPr>
          <p:cNvSpPr/>
          <p:nvPr/>
        </p:nvSpPr>
        <p:spPr>
          <a:xfrm>
            <a:off x="5148824" y="1720000"/>
            <a:ext cx="530001" cy="58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37">
            <a:extLst>
              <a:ext uri="{FF2B5EF4-FFF2-40B4-BE49-F238E27FC236}">
                <a16:creationId xmlns:a16="http://schemas.microsoft.com/office/drawing/2014/main" id="{99F4C03D-6E2D-9B5F-2A77-373F3C73908B}"/>
              </a:ext>
            </a:extLst>
          </p:cNvPr>
          <p:cNvSpPr txBox="1"/>
          <p:nvPr/>
        </p:nvSpPr>
        <p:spPr>
          <a:xfrm>
            <a:off x="438825" y="1890000"/>
            <a:ext cx="3629999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Train  70%</a:t>
            </a:r>
          </a:p>
        </p:txBody>
      </p:sp>
      <p:sp>
        <p:nvSpPr>
          <p:cNvPr id="31" name="TextBox 38">
            <a:extLst>
              <a:ext uri="{FF2B5EF4-FFF2-40B4-BE49-F238E27FC236}">
                <a16:creationId xmlns:a16="http://schemas.microsoft.com/office/drawing/2014/main" id="{7BA00391-1DD6-C614-7FCD-5E81AE3DB12B}"/>
              </a:ext>
            </a:extLst>
          </p:cNvPr>
          <p:cNvSpPr txBox="1"/>
          <p:nvPr/>
        </p:nvSpPr>
        <p:spPr>
          <a:xfrm>
            <a:off x="4128824" y="1840000"/>
            <a:ext cx="10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Val
20%</a:t>
            </a:r>
          </a:p>
        </p:txBody>
      </p:sp>
      <p:sp>
        <p:nvSpPr>
          <p:cNvPr id="32" name="TextBox 39">
            <a:extLst>
              <a:ext uri="{FF2B5EF4-FFF2-40B4-BE49-F238E27FC236}">
                <a16:creationId xmlns:a16="http://schemas.microsoft.com/office/drawing/2014/main" id="{D7097D7C-C859-3BC6-21FC-266285B5F82B}"/>
              </a:ext>
            </a:extLst>
          </p:cNvPr>
          <p:cNvSpPr txBox="1"/>
          <p:nvPr/>
        </p:nvSpPr>
        <p:spPr>
          <a:xfrm>
            <a:off x="5168824" y="1920000"/>
            <a:ext cx="490001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10%</a:t>
            </a:r>
          </a:p>
        </p:txBody>
      </p:sp>
      <p:sp>
        <p:nvSpPr>
          <p:cNvPr id="33" name="Rectangle 40">
            <a:extLst>
              <a:ext uri="{FF2B5EF4-FFF2-40B4-BE49-F238E27FC236}">
                <a16:creationId xmlns:a16="http://schemas.microsoft.com/office/drawing/2014/main" id="{DD0F9F28-9B62-2F2B-C21B-39B4ECD065AB}"/>
              </a:ext>
            </a:extLst>
          </p:cNvPr>
          <p:cNvSpPr/>
          <p:nvPr/>
        </p:nvSpPr>
        <p:spPr>
          <a:xfrm>
            <a:off x="278825" y="2520000"/>
            <a:ext cx="55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41">
            <a:extLst>
              <a:ext uri="{FF2B5EF4-FFF2-40B4-BE49-F238E27FC236}">
                <a16:creationId xmlns:a16="http://schemas.microsoft.com/office/drawing/2014/main" id="{01569913-1228-DF89-1978-61D3515EACD7}"/>
              </a:ext>
            </a:extLst>
          </p:cNvPr>
          <p:cNvSpPr/>
          <p:nvPr/>
        </p:nvSpPr>
        <p:spPr>
          <a:xfrm>
            <a:off x="278825" y="2520000"/>
            <a:ext cx="80000" cy="72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42">
            <a:extLst>
              <a:ext uri="{FF2B5EF4-FFF2-40B4-BE49-F238E27FC236}">
                <a16:creationId xmlns:a16="http://schemas.microsoft.com/office/drawing/2014/main" id="{9107A4AF-5F5F-FFA4-8C1E-2ADA3DAC13A5}"/>
              </a:ext>
            </a:extLst>
          </p:cNvPr>
          <p:cNvSpPr txBox="1"/>
          <p:nvPr/>
        </p:nvSpPr>
        <p:spPr>
          <a:xfrm>
            <a:off x="438825" y="2600000"/>
            <a:ext cx="52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urier New"/>
              </a:rPr>
              <a:t>train.txt</a:t>
            </a:r>
          </a:p>
        </p:txBody>
      </p:sp>
      <p:sp>
        <p:nvSpPr>
          <p:cNvPr id="36" name="TextBox 43">
            <a:extLst>
              <a:ext uri="{FF2B5EF4-FFF2-40B4-BE49-F238E27FC236}">
                <a16:creationId xmlns:a16="http://schemas.microsoft.com/office/drawing/2014/main" id="{71E47AE8-E6EC-0C1D-A453-10A623324FB8}"/>
              </a:ext>
            </a:extLst>
          </p:cNvPr>
          <p:cNvSpPr txBox="1"/>
          <p:nvPr/>
        </p:nvSpPr>
        <p:spPr>
          <a:xfrm>
            <a:off x="438825" y="2900000"/>
            <a:ext cx="5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Microsoft JhengHei"/>
              </a:rPr>
              <a:t>Train 集圖片路徑清單</a:t>
            </a:r>
          </a:p>
        </p:txBody>
      </p:sp>
      <p:sp>
        <p:nvSpPr>
          <p:cNvPr id="37" name="Rectangle 44">
            <a:extLst>
              <a:ext uri="{FF2B5EF4-FFF2-40B4-BE49-F238E27FC236}">
                <a16:creationId xmlns:a16="http://schemas.microsoft.com/office/drawing/2014/main" id="{237ED15B-4DA1-97FE-29C3-81D9C76ECF60}"/>
              </a:ext>
            </a:extLst>
          </p:cNvPr>
          <p:cNvSpPr/>
          <p:nvPr/>
        </p:nvSpPr>
        <p:spPr>
          <a:xfrm>
            <a:off x="278825" y="3350000"/>
            <a:ext cx="55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45">
            <a:extLst>
              <a:ext uri="{FF2B5EF4-FFF2-40B4-BE49-F238E27FC236}">
                <a16:creationId xmlns:a16="http://schemas.microsoft.com/office/drawing/2014/main" id="{07DB07B6-0238-0072-FF36-7071E96FB461}"/>
              </a:ext>
            </a:extLst>
          </p:cNvPr>
          <p:cNvSpPr/>
          <p:nvPr/>
        </p:nvSpPr>
        <p:spPr>
          <a:xfrm>
            <a:off x="278825" y="3350000"/>
            <a:ext cx="80000" cy="72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46">
            <a:extLst>
              <a:ext uri="{FF2B5EF4-FFF2-40B4-BE49-F238E27FC236}">
                <a16:creationId xmlns:a16="http://schemas.microsoft.com/office/drawing/2014/main" id="{BBB2721D-1E50-CC6E-26D6-3D18FAF35D88}"/>
              </a:ext>
            </a:extLst>
          </p:cNvPr>
          <p:cNvSpPr txBox="1"/>
          <p:nvPr/>
        </p:nvSpPr>
        <p:spPr>
          <a:xfrm>
            <a:off x="438825" y="3430000"/>
            <a:ext cx="52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urier New"/>
              </a:rPr>
              <a:t>val.txt</a:t>
            </a:r>
          </a:p>
        </p:txBody>
      </p:sp>
      <p:sp>
        <p:nvSpPr>
          <p:cNvPr id="40" name="TextBox 47">
            <a:extLst>
              <a:ext uri="{FF2B5EF4-FFF2-40B4-BE49-F238E27FC236}">
                <a16:creationId xmlns:a16="http://schemas.microsoft.com/office/drawing/2014/main" id="{7D527444-142C-92B9-8428-94E204D27DFF}"/>
              </a:ext>
            </a:extLst>
          </p:cNvPr>
          <p:cNvSpPr txBox="1"/>
          <p:nvPr/>
        </p:nvSpPr>
        <p:spPr>
          <a:xfrm>
            <a:off x="438825" y="3730000"/>
            <a:ext cx="5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Microsoft JhengHei"/>
              </a:rPr>
              <a:t>Validation 集路徑清單</a:t>
            </a:r>
          </a:p>
        </p:txBody>
      </p:sp>
      <p:sp>
        <p:nvSpPr>
          <p:cNvPr id="41" name="Rectangle 48">
            <a:extLst>
              <a:ext uri="{FF2B5EF4-FFF2-40B4-BE49-F238E27FC236}">
                <a16:creationId xmlns:a16="http://schemas.microsoft.com/office/drawing/2014/main" id="{7394FA02-8884-0A1F-D822-2F54176EE1CB}"/>
              </a:ext>
            </a:extLst>
          </p:cNvPr>
          <p:cNvSpPr/>
          <p:nvPr/>
        </p:nvSpPr>
        <p:spPr>
          <a:xfrm>
            <a:off x="278825" y="4180000"/>
            <a:ext cx="5500000" cy="7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9">
            <a:extLst>
              <a:ext uri="{FF2B5EF4-FFF2-40B4-BE49-F238E27FC236}">
                <a16:creationId xmlns:a16="http://schemas.microsoft.com/office/drawing/2014/main" id="{B6371BAD-A3E4-9E2C-3F5F-D780F0ECB4CC}"/>
              </a:ext>
            </a:extLst>
          </p:cNvPr>
          <p:cNvSpPr/>
          <p:nvPr/>
        </p:nvSpPr>
        <p:spPr>
          <a:xfrm>
            <a:off x="278825" y="4180000"/>
            <a:ext cx="80000" cy="72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50">
            <a:extLst>
              <a:ext uri="{FF2B5EF4-FFF2-40B4-BE49-F238E27FC236}">
                <a16:creationId xmlns:a16="http://schemas.microsoft.com/office/drawing/2014/main" id="{A2A8DB18-C736-3842-C9D1-C61432ABEDB0}"/>
              </a:ext>
            </a:extLst>
          </p:cNvPr>
          <p:cNvSpPr txBox="1"/>
          <p:nvPr/>
        </p:nvSpPr>
        <p:spPr>
          <a:xfrm>
            <a:off x="438825" y="4260000"/>
            <a:ext cx="52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Courier New"/>
              </a:rPr>
              <a:t>test.txt</a:t>
            </a:r>
          </a:p>
        </p:txBody>
      </p:sp>
      <p:sp>
        <p:nvSpPr>
          <p:cNvPr id="44" name="TextBox 51">
            <a:extLst>
              <a:ext uri="{FF2B5EF4-FFF2-40B4-BE49-F238E27FC236}">
                <a16:creationId xmlns:a16="http://schemas.microsoft.com/office/drawing/2014/main" id="{A9CA31A7-C6FD-7B3D-4716-4B357D9AEC1D}"/>
              </a:ext>
            </a:extLst>
          </p:cNvPr>
          <p:cNvSpPr txBox="1"/>
          <p:nvPr/>
        </p:nvSpPr>
        <p:spPr>
          <a:xfrm>
            <a:off x="438825" y="4560000"/>
            <a:ext cx="5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Microsoft JhengHei"/>
              </a:rPr>
              <a:t>Test 集清單（可選）</a:t>
            </a:r>
          </a:p>
        </p:txBody>
      </p:sp>
      <p:sp>
        <p:nvSpPr>
          <p:cNvPr id="45" name="Rectangle 52">
            <a:extLst>
              <a:ext uri="{FF2B5EF4-FFF2-40B4-BE49-F238E27FC236}">
                <a16:creationId xmlns:a16="http://schemas.microsoft.com/office/drawing/2014/main" id="{3B24ECCE-7A00-8635-1CE2-0DD8C6DAD80C}"/>
              </a:ext>
            </a:extLst>
          </p:cNvPr>
          <p:cNvSpPr/>
          <p:nvPr/>
        </p:nvSpPr>
        <p:spPr>
          <a:xfrm>
            <a:off x="278825" y="5210000"/>
            <a:ext cx="5500000" cy="900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53">
            <a:extLst>
              <a:ext uri="{FF2B5EF4-FFF2-40B4-BE49-F238E27FC236}">
                <a16:creationId xmlns:a16="http://schemas.microsoft.com/office/drawing/2014/main" id="{7FA96353-B480-BA53-6174-E092E321CECD}"/>
              </a:ext>
            </a:extLst>
          </p:cNvPr>
          <p:cNvSpPr/>
          <p:nvPr/>
        </p:nvSpPr>
        <p:spPr>
          <a:xfrm>
            <a:off x="278825" y="5210000"/>
            <a:ext cx="80000" cy="90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54">
            <a:extLst>
              <a:ext uri="{FF2B5EF4-FFF2-40B4-BE49-F238E27FC236}">
                <a16:creationId xmlns:a16="http://schemas.microsoft.com/office/drawing/2014/main" id="{50555AA7-A53A-CF5E-2C54-E1C221BFFC75}"/>
              </a:ext>
            </a:extLst>
          </p:cNvPr>
          <p:cNvSpPr txBox="1"/>
          <p:nvPr/>
        </p:nvSpPr>
        <p:spPr>
          <a:xfrm>
            <a:off x="438825" y="5290000"/>
            <a:ext cx="528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D7D31"/>
                </a:solidFill>
                <a:latin typeface="Microsoft JhengHei"/>
              </a:rPr>
              <a:t>⚠  圖片數 &lt; BATCH_SIZE</a:t>
            </a:r>
          </a:p>
        </p:txBody>
      </p:sp>
      <p:sp>
        <p:nvSpPr>
          <p:cNvPr id="48" name="TextBox 55">
            <a:extLst>
              <a:ext uri="{FF2B5EF4-FFF2-40B4-BE49-F238E27FC236}">
                <a16:creationId xmlns:a16="http://schemas.microsoft.com/office/drawing/2014/main" id="{9D18AC4C-1C1D-DB91-B5D0-E563F7895164}"/>
              </a:ext>
            </a:extLst>
          </p:cNvPr>
          <p:cNvSpPr txBox="1"/>
          <p:nvPr/>
        </p:nvSpPr>
        <p:spPr>
          <a:xfrm>
            <a:off x="438825" y="5590000"/>
            <a:ext cx="528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3864"/>
                </a:solidFill>
                <a:latin typeface="Microsoft JhengHei"/>
              </a:rPr>
              <a:t>請回設定區調低 BATCH_SIZE（建議 8 或 16）</a:t>
            </a:r>
          </a:p>
        </p:txBody>
      </p:sp>
      <p:sp>
        <p:nvSpPr>
          <p:cNvPr id="49" name="TextBox 5">
            <a:extLst>
              <a:ext uri="{FF2B5EF4-FFF2-40B4-BE49-F238E27FC236}">
                <a16:creationId xmlns:a16="http://schemas.microsoft.com/office/drawing/2014/main" id="{B94D5D16-81E0-6F52-929E-161A69159D88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21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50" name="TextBox 6">
            <a:extLst>
              <a:ext uri="{FF2B5EF4-FFF2-40B4-BE49-F238E27FC236}">
                <a16:creationId xmlns:a16="http://schemas.microsoft.com/office/drawing/2014/main" id="{C0F5C0E8-E32D-5E6A-6783-05F7D7DE9264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 圖片路徑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82036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6CA8BCC3-7196-6675-122F-EF406C414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270" y="1391363"/>
            <a:ext cx="9026611" cy="4544830"/>
          </a:xfrm>
          <a:prstGeom prst="rect">
            <a:avLst/>
          </a:prstGeom>
        </p:spPr>
      </p:pic>
      <p:sp>
        <p:nvSpPr>
          <p:cNvPr id="2" name="TextBox 5">
            <a:extLst>
              <a:ext uri="{FF2B5EF4-FFF2-40B4-BE49-F238E27FC236}">
                <a16:creationId xmlns:a16="http://schemas.microsoft.com/office/drawing/2014/main" id="{3D073AE1-223B-53AB-356D-560502F4BAE2}"/>
              </a:ext>
            </a:extLst>
          </p:cNvPr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21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411F892A-CE08-44D9-2332-4A33C80AFF88}"/>
              </a:ext>
            </a:extLst>
          </p:cNvPr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YOLO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v4 </a:t>
            </a:r>
            <a:r>
              <a:rPr lang="en-US" altLang="zh-TW" sz="2600" b="1" i="0" dirty="0" err="1">
                <a:solidFill>
                  <a:srgbClr val="FFFFFF"/>
                </a:solidFill>
                <a:latin typeface="Microsoft JhengHei"/>
              </a:rPr>
              <a:t>tiny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訓練流程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lang="en-US" altLang="zh-TW" sz="2600" b="1" i="0" dirty="0">
                <a:solidFill>
                  <a:srgbClr val="FFFFFF"/>
                </a:solidFill>
                <a:latin typeface="Microsoft JhengHei"/>
              </a:rPr>
              <a:t>–</a:t>
            </a:r>
            <a:r>
              <a:rPr lang="zh-TW" altLang="en-US" sz="2600" b="1" i="0" dirty="0">
                <a:solidFill>
                  <a:srgbClr val="FFFFFF"/>
                </a:solidFill>
                <a:latin typeface="Microsoft JhengHei"/>
              </a:rPr>
              <a:t>  圖片路徑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579FFED-C99E-EFF6-4615-46566BA0D1B1}"/>
              </a:ext>
            </a:extLst>
          </p:cNvPr>
          <p:cNvSpPr txBox="1"/>
          <p:nvPr/>
        </p:nvSpPr>
        <p:spPr>
          <a:xfrm>
            <a:off x="7259594" y="5936193"/>
            <a:ext cx="3462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有看到此狀況 代表訓練正在進行</a:t>
            </a:r>
          </a:p>
        </p:txBody>
      </p:sp>
    </p:spTree>
    <p:extLst>
      <p:ext uri="{BB962C8B-B14F-4D97-AF65-F5344CB8AC3E}">
        <p14:creationId xmlns:p14="http://schemas.microsoft.com/office/powerpoint/2010/main" val="14210481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22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模型格式轉換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：</a:t>
            </a:r>
            <a:r>
              <a:rPr lang="en-US" altLang="zh-TW" sz="2600" b="1" dirty="0">
                <a:solidFill>
                  <a:srgbClr val="FFFFFF"/>
                </a:solidFill>
                <a:latin typeface="Microsoft JhengHei"/>
              </a:rPr>
              <a:t> yolov4_tiny .weight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→ </a:t>
            </a:r>
            <a:r>
              <a:rPr lang="en-US" sz="2600" b="1" i="0" dirty="0">
                <a:solidFill>
                  <a:srgbClr val="FFFFFF"/>
                </a:solidFill>
                <a:latin typeface="Microsoft JhengHei"/>
              </a:rPr>
              <a:t>yolov4_tiny</a:t>
            </a:r>
            <a:r>
              <a:rPr sz="2600" b="1" i="0" dirty="0">
                <a:solidFill>
                  <a:srgbClr val="FFFFFF"/>
                </a:solidFill>
                <a:latin typeface="Microsoft JhengHei"/>
              </a:rPr>
              <a:t> .</a:t>
            </a:r>
            <a:r>
              <a:rPr sz="2600" b="1" i="0" dirty="0" err="1">
                <a:solidFill>
                  <a:srgbClr val="FFFFFF"/>
                </a:solidFill>
                <a:latin typeface="Microsoft JhengHei"/>
              </a:rPr>
              <a:t>nb</a:t>
            </a:r>
            <a:endParaRPr sz="2600" b="1" i="0" dirty="0">
              <a:solidFill>
                <a:srgbClr val="FFFFFF"/>
              </a:solidFill>
              <a:latin typeface="Microsoft JhengHei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65F251F-113A-4355-0D4D-A89E23974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29" y="2779664"/>
            <a:ext cx="5262811" cy="30839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4CFA38A-2B7F-FC7C-8EFF-CE324C341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9620" y="1751972"/>
            <a:ext cx="4031110" cy="32194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B4AE7931-65C5-8E8E-DE71-4E228DFA9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150" y="5105026"/>
            <a:ext cx="1076475" cy="5334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文字方塊 31">
            <a:extLst>
              <a:ext uri="{FF2B5EF4-FFF2-40B4-BE49-F238E27FC236}">
                <a16:creationId xmlns:a16="http://schemas.microsoft.com/office/drawing/2014/main" id="{705B5A4C-8AF2-0B94-2FF3-F6985F0BB0CF}"/>
              </a:ext>
            </a:extLst>
          </p:cNvPr>
          <p:cNvSpPr txBox="1"/>
          <p:nvPr/>
        </p:nvSpPr>
        <p:spPr>
          <a:xfrm>
            <a:off x="312420" y="1462495"/>
            <a:ext cx="61341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透過瑞昱的線上模型轉換工具，協助將</a:t>
            </a:r>
            <a:r>
              <a:rPr lang="en-US" altLang="zh-TW" dirty="0"/>
              <a:t>weight</a:t>
            </a:r>
            <a:r>
              <a:rPr lang="zh-TW" altLang="en-US" dirty="0"/>
              <a:t>檔案轉換成能讓</a:t>
            </a:r>
            <a:r>
              <a:rPr lang="en-US" altLang="zh-TW" dirty="0"/>
              <a:t>hub8735ultra</a:t>
            </a:r>
            <a:r>
              <a:rPr lang="zh-TW" altLang="en-US" dirty="0"/>
              <a:t>能使用的格式https://www.amebaiot.com/en/amebapro2-ai-convert-model/</a:t>
            </a: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4DB17216-9C1C-12A3-7B74-EC54168F0FA6}"/>
              </a:ext>
            </a:extLst>
          </p:cNvPr>
          <p:cNvSpPr txBox="1"/>
          <p:nvPr/>
        </p:nvSpPr>
        <p:spPr>
          <a:xfrm>
            <a:off x="1838522" y="586384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使用此功能前需要先登入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F5F62AE8-B65C-9C6D-29F3-DD6E70559C06}"/>
              </a:ext>
            </a:extLst>
          </p:cNvPr>
          <p:cNvSpPr txBox="1"/>
          <p:nvPr/>
        </p:nvSpPr>
        <p:spPr>
          <a:xfrm>
            <a:off x="8234625" y="5071379"/>
            <a:ext cx="3885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依照網站需求上傳相關檔案，並點選</a:t>
            </a:r>
            <a:r>
              <a:rPr lang="en-US" altLang="zh-TW" dirty="0"/>
              <a:t>submit</a:t>
            </a:r>
            <a:r>
              <a:rPr lang="zh-TW" altLang="en-US" dirty="0"/>
              <a:t>，並等待回信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23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系統架構總覽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DD7EE"/>
                </a:solidFill>
                <a:latin typeface="Microsoft JhengHei"/>
              </a:rPr>
              <a:t>AI-</a:t>
            </a:r>
            <a:r>
              <a:rPr lang="en-US" sz="1000" b="0" i="0" dirty="0">
                <a:solidFill>
                  <a:srgbClr val="BDD7EE"/>
                </a:solidFill>
                <a:latin typeface="Microsoft JhengHei"/>
              </a:rPr>
              <a:t>PEN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手寫計算機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 |  Arduino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教學專題</a:t>
            </a:r>
            <a:endParaRPr sz="10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2336" y="1463040"/>
            <a:ext cx="205740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572768"/>
            <a:ext cx="187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 err="1">
                <a:solidFill>
                  <a:srgbClr val="FFFFFF"/>
                </a:solidFill>
                <a:latin typeface="Microsoft JhengHei"/>
              </a:rPr>
              <a:t>手寫輸入</a:t>
            </a:r>
            <a:r>
              <a:rPr sz="1600" b="1" i="0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lang="en-US" sz="16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endParaRPr sz="16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776" y="2441448"/>
            <a:ext cx="187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 err="1">
                <a:solidFill>
                  <a:srgbClr val="BDD7EE"/>
                </a:solidFill>
                <a:latin typeface="Microsoft JhengHei"/>
              </a:rPr>
              <a:t>筆跡</a:t>
            </a:r>
            <a:r>
              <a:rPr sz="1400" b="0" i="0" dirty="0">
                <a:solidFill>
                  <a:srgbClr val="BDD7EE"/>
                </a:solidFill>
                <a:latin typeface="Microsoft JhengHei"/>
              </a:rPr>
              <a:t> X/Y </a:t>
            </a:r>
            <a:r>
              <a:rPr sz="1400" b="0" i="0" dirty="0" err="1">
                <a:solidFill>
                  <a:srgbClr val="BDD7EE"/>
                </a:solidFill>
                <a:latin typeface="Microsoft JhengHei"/>
              </a:rPr>
              <a:t>座標</a:t>
            </a:r>
            <a:r>
              <a:rPr sz="1400" b="0" i="0" dirty="0">
                <a:solidFill>
                  <a:srgbClr val="BDD7EE"/>
                </a:solidFill>
                <a:latin typeface="Microsoft JhengHei"/>
              </a:rPr>
              <a:t>
Serial3 115200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8024" y="21488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34056" y="1463040"/>
            <a:ext cx="2057400" cy="1645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25496" y="1572768"/>
            <a:ext cx="187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座標處理
HUB 8735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2441448"/>
            <a:ext cx="187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Microsoft JhengHei"/>
              </a:rPr>
              <a:t>autoFit()
renderToBmp()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1488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65776" y="1463040"/>
            <a:ext cx="2057400" cy="1645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7216" y="1572768"/>
            <a:ext cx="187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AI 推論
YOLOv4-Tiny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441448"/>
            <a:ext cx="187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Microsoft JhengHei"/>
              </a:rPr>
              <a:t>BMP→SD→推論
讀取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21488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97496" y="1463040"/>
            <a:ext cx="2057400" cy="1645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88936" y="1572768"/>
            <a:ext cx="187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算式解析
HUB 8735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441448"/>
            <a:ext cx="187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Microsoft JhengHei"/>
              </a:rPr>
              <a:t>appendToken()
evaluate()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3184" y="21488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29216" y="1463040"/>
            <a:ext cx="2057400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20656" y="1572768"/>
            <a:ext cx="18745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</a:rPr>
              <a:t>結果顯示
SSD1306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0656" y="2441448"/>
            <a:ext cx="1874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DD7EE"/>
                </a:solidFill>
                <a:latin typeface="Microsoft JhengHei"/>
              </a:rPr>
              <a:t>OLED 128×32
I2C 介面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337560"/>
            <a:ext cx="1170432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338328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硬體連接一覽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767328"/>
            <a:ext cx="1170432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3813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裝置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813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介面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813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接至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81304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參數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133087"/>
            <a:ext cx="1170432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4178807"/>
            <a:ext cx="2834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1" i="0" dirty="0">
                <a:solidFill>
                  <a:srgbClr val="2E75B6"/>
                </a:solidFill>
                <a:latin typeface="Microsoft JhengHei"/>
              </a:rPr>
              <a:t>HUB-PAA5163D</a:t>
            </a:r>
            <a:endParaRPr sz="1100" b="1" i="0" dirty="0">
              <a:solidFill>
                <a:srgbClr val="2E75B6"/>
              </a:solidFill>
              <a:latin typeface="Microsoft JhengHe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246120" y="4178807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UART Serial3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178807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 Pin 5/6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178807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115200 bps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4480559"/>
            <a:ext cx="11704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0040" y="452627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472C4"/>
                </a:solidFill>
                <a:latin typeface="Microsoft JhengHei"/>
              </a:rPr>
              <a:t>SSD1306 OLED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52627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I2C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52627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 Pin 0/1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526279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400 kHz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4828031"/>
            <a:ext cx="11704320" cy="32918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4873751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按鈕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873751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GPIO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873751"/>
            <a:ext cx="28346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303040"/>
                </a:solidFill>
                <a:latin typeface="Microsoft JhengHei"/>
              </a:rPr>
              <a:t>HUB 8735 Ultra Pin </a:t>
            </a:r>
            <a:r>
              <a:rPr lang="en-US" altLang="zh-TW" sz="1100" b="0" i="0" dirty="0">
                <a:solidFill>
                  <a:srgbClr val="303040"/>
                </a:solidFill>
                <a:latin typeface="Microsoft JhengHei"/>
              </a:rPr>
              <a:t>15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098280" y="4873751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active-low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5175503"/>
            <a:ext cx="117043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0040" y="52212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0AD47"/>
                </a:solidFill>
                <a:latin typeface="Microsoft JhengHei"/>
              </a:rPr>
              <a:t>SD 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2212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內建插槽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2212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HUB 8735 Ultra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5221223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模型+資料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5577840"/>
            <a:ext cx="11704320" cy="34747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56235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JhengHei"/>
              </a:rPr>
              <a:t>SD 卡檔案結構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6007608"/>
            <a:ext cx="2346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latin typeface="Microsoft JhengHei"/>
              </a:rPr>
              <a:t>/sd/yolov4_tiny.nb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57830" y="6007608"/>
            <a:ext cx="2346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latin typeface="Microsoft JhengHei"/>
              </a:rPr>
              <a:t>/sd/char.bmp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95620" y="6007608"/>
            <a:ext cx="2346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latin typeface="Microsoft JhengHei"/>
              </a:rPr>
              <a:t>/sd/char.json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3411" y="6007608"/>
            <a:ext cx="2346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latin typeface="Microsoft JhengHei"/>
              </a:rPr>
              <a:t>/sd/calc_state.txt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71201" y="6007608"/>
            <a:ext cx="23463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latin typeface="Microsoft JhengHei"/>
              </a:rPr>
              <a:t>/sd/dataset/img_XXXXX.bmp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24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韌體設計 — 按鈕狀態機（Button FSM）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DD7EE"/>
                </a:solidFill>
                <a:latin typeface="Microsoft JhengHei"/>
              </a:rPr>
              <a:t>AI-</a:t>
            </a:r>
            <a:r>
              <a:rPr lang="en-US" sz="1000" b="0" i="0" dirty="0">
                <a:solidFill>
                  <a:srgbClr val="BDD7EE"/>
                </a:solidFill>
                <a:latin typeface="Microsoft JhengHei"/>
              </a:rPr>
              <a:t>PEN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手寫計算機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 |  Arduino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教學專題</a:t>
            </a:r>
            <a:endParaRPr sz="10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1170432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為什麼要設計狀態機？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117043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303040"/>
                </a:solidFill>
                <a:latin typeface="Microsoft JhengHei"/>
              </a:rPr>
              <a:t>手寫計算機需要區分不同操作模式：等待輸入、正在書寫、辨識中。用「狀態機」可以明確管理這些狀態之間的切換，避免邏輯混亂。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6716" y="2606040"/>
            <a:ext cx="2926080" cy="13716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48156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RUN_IDLE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8156" y="326440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Microsoft JhengHei"/>
              </a:rPr>
              <a:t>待機狀態
等待長按按鈕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01084" y="2971800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JhengHei"/>
              </a:rPr>
              <a:t>長按
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1436" y="2606040"/>
            <a:ext cx="2926080" cy="13716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2876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RUN_CAPTURING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2876" y="326440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Microsoft JhengHei"/>
              </a:rPr>
              <a:t>書寫狀態
持續記錄座標點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75804" y="2971800"/>
            <a:ext cx="51206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Microsoft JhengHei"/>
              </a:rPr>
              <a:t>長按
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6156" y="2606040"/>
            <a:ext cx="2926080" cy="1371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97596" y="26974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RUN_RECOGNIZING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7596" y="3264408"/>
            <a:ext cx="2743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Microsoft JhengHei"/>
              </a:rPr>
              <a:t>辨識狀態
儲存BMP→AI推論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7596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72C4"/>
                </a:solidFill>
                <a:latin typeface="Microsoft JhengHei"/>
              </a:rPr>
              <a:t>雙擊 → 辨識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1916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辨識完成 → sys_reset() ↩ IDLE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224528"/>
            <a:ext cx="11704320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0040" y="427024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ai_</a:t>
            </a:r>
            <a:r>
              <a:rPr lang="en-US" sz="1300" b="1" i="0" dirty="0" err="1">
                <a:solidFill>
                  <a:srgbClr val="FFFFFF"/>
                </a:solidFill>
                <a:latin typeface="Microsoft JhengHei"/>
              </a:rPr>
              <a:t>PEN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.ino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狀態機核心邏輯</a:t>
            </a:r>
            <a:endParaRPr sz="13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28600" y="4663440"/>
            <a:ext cx="11704320" cy="157276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" y="4682222"/>
            <a:ext cx="1152144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8D8A8"/>
                </a:solidFill>
                <a:latin typeface="Microsoft JhengHei"/>
              </a:rPr>
              <a:t>void loop() {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processBtnEvents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();  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偵測按鈕事件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
 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processSensorData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(); 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讀取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</a:t>
            </a:r>
            <a:r>
              <a:rPr lang="en-US" sz="1100" b="0" i="0" dirty="0">
                <a:solidFill>
                  <a:srgbClr val="A8D8A8"/>
                </a:solidFill>
                <a:latin typeface="Microsoft JhengHei"/>
              </a:rPr>
              <a:t>HUB-PAA5163D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資料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
  switch (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run_state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) {
    case RUN_IDLE:       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等待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BTN_LONG_START →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切換到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CAPTURING
    case RUN_CAPTURING:  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累積座標點，等待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BTN_DOUBLE →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切換到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RECOGNIZING
    case RUN_RECOGNIZING: //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autoFit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+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renderToBmp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+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AI推論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→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解析結果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 → </a:t>
            </a:r>
            <a:r>
              <a:rPr sz="1100" b="0" i="0" dirty="0" err="1">
                <a:solidFill>
                  <a:srgbClr val="A8D8A8"/>
                </a:solidFill>
                <a:latin typeface="Microsoft JhengHei"/>
              </a:rPr>
              <a:t>sys_reset</a:t>
            </a:r>
            <a:r>
              <a:rPr sz="1100" b="0" i="0" dirty="0">
                <a:solidFill>
                  <a:srgbClr val="A8D8A8"/>
                </a:solidFill>
                <a:latin typeface="Microsoft JhengHei"/>
              </a:rPr>
              <a:t>()
  }
}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25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韌體設計 — autoFit() 座標正規化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0972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BDD7EE"/>
                </a:solidFill>
                <a:latin typeface="Microsoft JhengHei"/>
              </a:rPr>
              <a:t>AI-</a:t>
            </a:r>
            <a:r>
              <a:rPr lang="en-US" sz="1000" b="0" i="0" dirty="0">
                <a:solidFill>
                  <a:srgbClr val="BDD7EE"/>
                </a:solidFill>
                <a:latin typeface="Microsoft JhengHei"/>
              </a:rPr>
              <a:t>PEN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手寫計算機</a:t>
            </a:r>
            <a:r>
              <a:rPr sz="1000" b="0" i="0" dirty="0">
                <a:solidFill>
                  <a:srgbClr val="BDD7EE"/>
                </a:solidFill>
                <a:latin typeface="Microsoft JhengHei"/>
              </a:rPr>
              <a:t>  |  Arduino </a:t>
            </a:r>
            <a:r>
              <a:rPr sz="1000" b="0" i="0" dirty="0" err="1">
                <a:solidFill>
                  <a:srgbClr val="BDD7EE"/>
                </a:solidFill>
                <a:latin typeface="Microsoft JhengHei"/>
              </a:rPr>
              <a:t>教學專題</a:t>
            </a:r>
            <a:endParaRPr sz="10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486400" cy="4114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為什麼需要 autoFit()？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54864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828800"/>
            <a:ext cx="525780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US" sz="1200" b="0" dirty="0">
                <a:solidFill>
                  <a:srgbClr val="303040"/>
                </a:solidFill>
                <a:latin typeface="Microsoft JhengHei"/>
              </a:rPr>
              <a:t>HUB-PAA5163D</a:t>
            </a:r>
            <a:r>
              <a:rPr sz="1200" b="0" dirty="0">
                <a:solidFill>
                  <a:srgbClr val="303040"/>
                </a:solidFill>
                <a:latin typeface="Microsoft JhengHei"/>
              </a:rPr>
              <a:t> </a:t>
            </a:r>
            <a:r>
              <a:rPr sz="1200" b="0" dirty="0" err="1">
                <a:solidFill>
                  <a:srgbClr val="303040"/>
                </a:solidFill>
                <a:latin typeface="Microsoft JhengHei"/>
              </a:rPr>
              <a:t>輸出的是原始位移累積值，數值範圍不固定（可能是幾百到幾千</a:t>
            </a:r>
            <a:r>
              <a:rPr sz="1200" b="0" dirty="0">
                <a:solidFill>
                  <a:srgbClr val="303040"/>
                </a:solidFill>
                <a:latin typeface="Microsoft JhengHei"/>
              </a:rPr>
              <a:t>）。</a:t>
            </a:r>
          </a:p>
          <a:p>
            <a:pPr>
              <a:spcBef>
                <a:spcPts val="300"/>
              </a:spcBef>
            </a:pPr>
            <a:r>
              <a:rPr sz="1200" b="0" dirty="0" err="1">
                <a:solidFill>
                  <a:srgbClr val="303040"/>
                </a:solidFill>
                <a:latin typeface="Microsoft JhengHei"/>
              </a:rPr>
              <a:t>要讓</a:t>
            </a:r>
            <a:r>
              <a:rPr sz="1200" b="0" dirty="0">
                <a:solidFill>
                  <a:srgbClr val="303040"/>
                </a:solidFill>
                <a:latin typeface="Microsoft JhengHei"/>
              </a:rPr>
              <a:t> AI </a:t>
            </a:r>
            <a:r>
              <a:rPr sz="1200" b="0" dirty="0" err="1">
                <a:solidFill>
                  <a:srgbClr val="303040"/>
                </a:solidFill>
                <a:latin typeface="Microsoft JhengHei"/>
              </a:rPr>
              <a:t>模型能辨識，必須將筆跡統一縮放至</a:t>
            </a:r>
            <a:r>
              <a:rPr sz="1200" b="0" dirty="0">
                <a:solidFill>
                  <a:srgbClr val="303040"/>
                </a:solidFill>
                <a:latin typeface="Microsoft JhengHei"/>
              </a:rPr>
              <a:t> 128×128 </a:t>
            </a:r>
            <a:r>
              <a:rPr sz="1200" b="0" dirty="0" err="1">
                <a:solidFill>
                  <a:srgbClr val="303040"/>
                </a:solidFill>
                <a:latin typeface="Microsoft JhengHei"/>
              </a:rPr>
              <a:t>像素的畫布中</a:t>
            </a:r>
            <a:r>
              <a:rPr sz="1200" b="0" dirty="0">
                <a:solidFill>
                  <a:srgbClr val="303040"/>
                </a:solidFill>
                <a:latin typeface="Microsoft JhengHei"/>
              </a:rPr>
              <a:t>。</a:t>
            </a:r>
          </a:p>
          <a:p>
            <a:pPr>
              <a:spcBef>
                <a:spcPts val="300"/>
              </a:spcBef>
            </a:pPr>
            <a:r>
              <a:rPr sz="1200" b="1" dirty="0" err="1">
                <a:solidFill>
                  <a:srgbClr val="2E75B6"/>
                </a:solidFill>
                <a:latin typeface="Microsoft JhengHei"/>
              </a:rPr>
              <a:t>autoFit</a:t>
            </a:r>
            <a:r>
              <a:rPr sz="1200" b="1" dirty="0">
                <a:solidFill>
                  <a:srgbClr val="2E75B6"/>
                </a:solidFill>
                <a:latin typeface="Microsoft JhengHei"/>
              </a:rPr>
              <a:t>() </a:t>
            </a:r>
            <a:r>
              <a:rPr sz="1200" b="1" dirty="0" err="1">
                <a:solidFill>
                  <a:srgbClr val="2E75B6"/>
                </a:solidFill>
                <a:latin typeface="Microsoft JhengHei"/>
              </a:rPr>
              <a:t>負責這個正規化工作，同時保持字符的長寬比</a:t>
            </a:r>
            <a:r>
              <a:rPr sz="1200" b="1" dirty="0">
                <a:solidFill>
                  <a:srgbClr val="2E75B6"/>
                </a:solidFill>
                <a:latin typeface="Microsoft Jheng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907792"/>
            <a:ext cx="548640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9535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autoFit() 演算法步驟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3364992"/>
            <a:ext cx="5486400" cy="4206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34381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① 計算邊界框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4381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找出所有座標點的最小/最大 X, Y 值（即原始筆跡的邊界框）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803904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387705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② 去除離群點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7705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排除距離中心最遠的 5% 座標點（去雜訊）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242816"/>
            <a:ext cx="5486400" cy="4206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43159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③ 計算長寬比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1596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bbox_w / bbox_h，決定主要方向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681728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" y="47548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④ 計算縮放比例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7548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scale = min(110/bbox_w, 110/bbox_h)（留 9px 邊距）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5120640"/>
            <a:ext cx="5486400" cy="420624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⑤ 平移+縮放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19379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所有座標點：norm_x = (x - min_x) * scale + 9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559552"/>
            <a:ext cx="54864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0040" y="563270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Microsoft JhengHei"/>
              </a:rPr>
              <a:t>⑥ 輸出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63270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回傳 norm_pts[]，範圍保證在 [9, 119] 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1280160"/>
            <a:ext cx="598932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3504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autoFit() 核心程式碼片段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1737360"/>
            <a:ext cx="598932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53328" y="1828800"/>
            <a:ext cx="58064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A8"/>
                </a:solidFill>
                <a:latin typeface="Microsoft JhengHei"/>
              </a:rPr>
              <a:t>void autoFit() {
  // 1. 找邊界框
  int min_x=INT_MAX, max_x=INT_MIN;
  int min_y=INT_MAX, max_y=INT_MIN;
  for (int i=0; i&lt;pt_count; i++) {
    min_x = min(min_x, raw_pts[i].x);
    max_x = max(max_x, raw_pts[i].x);
    // ... same for y
  }
  // 2. 計算縮放比例（保持長寬比）
  float bbox_w = max_x - min_x;
  float bbox_h = max_y - min_y;
  float scale = min(110.0f/bbox_w, 110.0f/bbox_h);
  // 3. 正規化座標到 [9, 119]
  float off_x = (128 - bbox_w*scale) / 2.0f;
  float off_y = (128 - bbox_h*scale) / 2.0f;
  for (int i=0; i&lt;pt_count; i++) {
    norm_pts[i].x = (raw_pts[i].x - min_x)*scale + off_x;
    norm_pts[i].y = (raw_pts[i].y - min_y)*scale + off_y;
  }
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26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韌體設計 — renderToBmp() 與 SD 卡 I/O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54864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renderToBmp() — 將筆跡繪製成點陣圖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993392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828800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Microsoft JhengHei"/>
              </a:rPr>
              <a:t>① 初始化畫布：uint8_t bmp[128][128] = {0}  所有像素設為黑色（0）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68880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" y="2304288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Microsoft JhengHei"/>
              </a:rPr>
              <a:t>② Bresenham 直線：對相鄰兩個正規化座標點，用 Bresenham 直線算法填充像素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44368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" y="2779776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Microsoft JhengHei"/>
              </a:rPr>
              <a:t>③ 筆寬模擬：在每個繪製點周圍畫 3×3 正方形，模擬真實筆跡粗細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19856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3255264"/>
            <a:ext cx="4892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864"/>
                </a:solidFill>
                <a:latin typeface="Microsoft JhengHei"/>
              </a:rPr>
              <a:t>④ 存成 BMP：以 24-bit BMP 格式（RGB 各 8bit）寫入 SD 卡 /sd/char.bmp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840480"/>
            <a:ext cx="548640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" y="393192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A8"/>
                </a:solidFill>
                <a:latin typeface="Microsoft JhengHei"/>
              </a:rPr>
              <a:t>void renderToBmp() {
  uint8_t bmp[128][128] = {}; // 全黑
  for (int i=0; i&lt;pt_count-1; i++) {
    // Bresenham 直線算法
    bresenham(bmp,
      norm_pts[i].x, norm_pts[i].y,
      norm_pts[i+1].x, norm_pts[i+1].y);
  }
  // 寫入 24-bit BMP 到 SD 卡
  saveBMP24("/sd/char.bmp", bmp, 128, 128);
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1280160"/>
            <a:ext cx="5989320" cy="4114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SD 卡 I/O 流程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828800"/>
            <a:ext cx="777240" cy="7498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71032" y="199339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828800"/>
            <a:ext cx="5166360" cy="7498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0" y="18653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寫入 char.bmp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1579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renderToBmp() 將 128×128 BMP 存到 /sd/char.bmp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697480"/>
            <a:ext cx="777240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71032" y="28620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0" y="2697480"/>
            <a:ext cx="5166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273405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觸發推論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02666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呼叫 NNObjectDetectionImage API，指定 /sd/char.bmp 作為輸入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3566160"/>
            <a:ext cx="777240" cy="7498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71032" y="373075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Wait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566160"/>
            <a:ext cx="5166360" cy="7498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0" y="36027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等待結果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89534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模型推論完成後，結果存入 /sd/char.json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434840"/>
            <a:ext cx="777240" cy="7498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971032" y="4599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Read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4434840"/>
            <a:ext cx="516636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58000" y="447141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讀取 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476402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用 cJSON 函式庫解析 char.json，取得 class, confidence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43600" y="5303520"/>
            <a:ext cx="777240" cy="749808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71032" y="546811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5303520"/>
            <a:ext cx="5166360" cy="749808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0" y="534009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顯示結果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63270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根據辨識結果呼叫 appendRecognizedToken()，更新 OLED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9F01D07-E3A9-924A-B012-DD5363273EBD}"/>
              </a:ext>
            </a:extLst>
          </p:cNvPr>
          <p:cNvSpPr txBox="1"/>
          <p:nvPr/>
        </p:nvSpPr>
        <p:spPr>
          <a:xfrm>
            <a:off x="5971032" y="6089904"/>
            <a:ext cx="3117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0" i="0" dirty="0">
                <a:effectLst/>
                <a:latin typeface="Consolas" panose="020B0609020204030204" pitchFamily="49" charset="0"/>
              </a:rPr>
              <a:t>NN_MDL</a:t>
            </a:r>
            <a:r>
              <a:rPr lang="en-US" altLang="zh-TW" dirty="0">
                <a:latin typeface="Consolas" panose="020B0609020204030204" pitchFamily="49" charset="0"/>
              </a:rPr>
              <a:t>/yolov4_tiny.nb</a:t>
            </a:r>
            <a:endParaRPr lang="zh-TW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BDD7EE"/>
                </a:solidFill>
                <a:latin typeface="Microsoft JhengHei"/>
              </a:rPr>
              <a:t>27</a:t>
            </a:r>
            <a:endParaRPr sz="3600" b="1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韌體設計 — 算式解析引擎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280160"/>
            <a:ext cx="1170432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25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辨識完一個字符後，如何組成算式並計算？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37360"/>
            <a:ext cx="530352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appendRecognizedToken() — 語法驗證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167128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258568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每次辨識完一個字符，呼叫此函式將 Token 加入算式。</a:t>
            </a:r>
          </a:p>
          <a:p>
            <a:pPr>
              <a:spcBef>
                <a:spcPts val="300"/>
              </a:spcBef>
            </a:pPr>
            <a:endParaRPr sz="1200" b="0">
              <a:solidFill>
                <a:srgbClr val="303040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sz="1200" b="1">
                <a:solidFill>
                  <a:srgbClr val="1F3864"/>
                </a:solidFill>
                <a:latin typeface="Microsoft JhengHei"/>
              </a:rPr>
              <a:t>語法規則（enforced）：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算式必須遵循「數字 [運算子 數字]」的模式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不允許連續兩個運算子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不允許算式開頭是運算子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違反規則的 Token 直接捨棄，OLED 顯示錯誤提示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544568"/>
            <a:ext cx="5303520" cy="38404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040" y="459028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evaluateExpression() — 計算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5020056"/>
            <a:ext cx="530352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5111496"/>
            <a:ext cx="5074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當算式完整後（數字 運算子 數字），雙擊觸發計算：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支援整數四則運算（+, -, ×, ÷）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C03030"/>
                </a:solidFill>
                <a:latin typeface="Microsoft JhengHei"/>
              </a:rPr>
              <a:t>· 除以零 → 顯示 "ERR"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303040"/>
                </a:solidFill>
                <a:latin typeface="Microsoft JhengHei"/>
              </a:rPr>
              <a:t>· 結果存入 calc_state.txt 持久化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280160"/>
            <a:ext cx="5989320" cy="4114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1325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Microsoft JhengHei"/>
              </a:rPr>
              <a:t>程式碼示例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737360"/>
            <a:ext cx="5989320" cy="2834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53328" y="1828800"/>
            <a:ext cx="58064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A8"/>
                </a:solidFill>
                <a:latin typeface="Microsoft JhengHei"/>
              </a:rPr>
              <a:t>void appendRecognizedToken(int cls, float conf) {
  if (conf &lt; 0.25) return;  // 信心值門檻
  bool is_op = (cls &gt;= 10);  // 10=+, 11=-, 12=x, 13=/
  bool last_is_op = isLastTokenOperator();
  // 語法驗證
  if (expr_len == 0 &amp;&amp; is_op) return;  // 開頭不能是運算子
  if (last_is_op &amp;&amp; is_op) return;     // 不能連續運算子
  addToken(cls);  // 加入算式
  updateOLED();   // 更新顯示
  saveState();    // 持久化到 SD 卡
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4663440"/>
            <a:ext cx="5989320" cy="1600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53328" y="4754880"/>
            <a:ext cx="5806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8D8A8"/>
                </a:solidFill>
                <a:latin typeface="Microsoft JhengHei"/>
              </a:rPr>
              <a:t>float evaluateExpression() {
  float a = tokens[0], b = tokens[2];
  switch (tokens[1]) {
    case 10: return a + b;  // +
    case 11: return a - b;  // -
    case 12: return a * b;  // x
    case 13: if (b==0) { showError("ERR"); return 0; }
             return a / b;  // /
  }
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系統整合與完整部署流程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415661"/>
            <a:ext cx="1737360" cy="128016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25880" y="1488813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資料集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1918581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15661"/>
            <a:ext cx="1737360" cy="1280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46120" y="1488813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訓練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010021"/>
            <a:ext cx="164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BDD7EE"/>
                </a:solidFill>
                <a:latin typeface="Microsoft JhengHei"/>
              </a:rPr>
              <a:t>YOLOv4Tiny_AutoTrain.ipynb</a:t>
            </a:r>
            <a:endParaRPr sz="9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83480" y="1879326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48072" y="1403199"/>
            <a:ext cx="1737360" cy="12801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93792" y="147635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.nb
轉換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93792" y="1997559"/>
            <a:ext cx="1645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BDD7EE"/>
                </a:solidFill>
                <a:latin typeface="Microsoft JhengHei"/>
              </a:rPr>
              <a:t>Realtek online converter</a:t>
            </a:r>
            <a:endParaRPr sz="900" b="0" i="0" dirty="0">
              <a:solidFill>
                <a:srgbClr val="BDD7EE"/>
              </a:solidFill>
              <a:latin typeface="Microsoft JhengHe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190611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68312" y="1403199"/>
            <a:ext cx="1737360" cy="128016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14032" y="147635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韌體
燒錄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199755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Microsoft JhengHei"/>
              </a:rPr>
              <a:t>Arduino IDE
→ .ino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1906119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F3864"/>
                </a:solidFill>
                <a:latin typeface="Microsoft JhengHe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88552" y="1403199"/>
            <a:ext cx="1737360" cy="128016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034272" y="1476351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icrosoft JhengHei"/>
              </a:rPr>
              <a:t>SD卡
複製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34272" y="1997559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DD7EE"/>
                </a:solidFill>
                <a:latin typeface="Microsoft JhengHei"/>
              </a:rPr>
              <a:t>/sd/
yolov4_tiny.nb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926080"/>
            <a:ext cx="5486400" cy="38404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0040" y="297180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Arduino 必要函式庫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3383280"/>
            <a:ext cx="18288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320" y="3474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Adafruit GFX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8840" y="3474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OLED 圖形基礎層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950208"/>
            <a:ext cx="182880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404164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FFFFFF"/>
                </a:solidFill>
                <a:latin typeface="Microsoft JhengHei"/>
              </a:rPr>
              <a:t>Adafruit SSD1306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48840" y="404164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SSD1306 驅動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4517136"/>
            <a:ext cx="182880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74320" y="460857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cJSON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460857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JSON 解析（讀推論結果）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8600" y="5084064"/>
            <a:ext cx="182880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74320" y="517550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Microsoft JhengHei"/>
              </a:rPr>
              <a:t>NNObjectDetectionImage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48840" y="51755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Realtek AI 推論 API（平台SDK）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2926080"/>
            <a:ext cx="598932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35040" y="297180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JhengHei"/>
              </a:rPr>
              <a:t>部署 Checklist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401568"/>
            <a:ext cx="384048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61888" y="349300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3438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yolov4_tiny.nb 複製到 SD 卡 /sd/ 目錄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3657600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必要，模型不存在則無法推論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0" y="3904488"/>
            <a:ext cx="384048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61888" y="399592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94106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SD 卡格式化為 FAT32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160520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HUB 8735 Ultra 要求 FAT32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0" y="4407408"/>
            <a:ext cx="384048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449884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444398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Arduino IDE 選擇正確開發板與 COM 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663440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上傳前確認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3600" y="4910328"/>
            <a:ext cx="384048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61888" y="500176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494690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進入燒錄模式再上傳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0" y="5166360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長按功能鍵 + Reset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5413248"/>
            <a:ext cx="384048" cy="43891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961888" y="5504688"/>
            <a:ext cx="3474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5449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Microsoft JhengHei"/>
              </a:rPr>
              <a:t>上傳成功後 Reset 重啟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0" y="5669280"/>
            <a:ext cx="5394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3040"/>
                </a:solidFill>
                <a:latin typeface="Microsoft JhengHei"/>
              </a:rPr>
              <a:t>觀察 OLED 是否正常初始化</a:t>
            </a:r>
          </a:p>
        </p:txBody>
      </p:sp>
    </p:spTree>
    <p:extLst>
      <p:ext uri="{BB962C8B-B14F-4D97-AF65-F5344CB8AC3E}">
        <p14:creationId xmlns:p14="http://schemas.microsoft.com/office/powerpoint/2010/main" val="4011160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28600" y="9144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BDD7EE"/>
                </a:solidFill>
                <a:latin typeface="Microsoft JhengHei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286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JhengHei"/>
              </a:rPr>
              <a:t>學習重點回顧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325880"/>
            <a:ext cx="5760720" cy="502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3502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開發板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
HUB 8735 Ultra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828800"/>
            <a:ext cx="5760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066544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" y="19019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RTL8735B：32-bit ARM @500MHz，比 Uno 快 30 倍以上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208" y="23500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內建 Wi-Fi/BLE，支援 AI 推論硬體加速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62656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" y="279806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Arduino IDE 開發，降低嵌入式入門門檻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10712"/>
            <a:ext cx="100584" cy="10058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" y="32461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燒錄需要進入 Bootloader 模式（長按功能鍵 + Reset）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325880"/>
            <a:ext cx="5760720" cy="5029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7648" y="1353312"/>
            <a:ext cx="5577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感測器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lang="en-US" sz="1300" b="1" i="0" dirty="0">
                <a:solidFill>
                  <a:srgbClr val="FFFFFF"/>
                </a:solidFill>
                <a:latin typeface="Microsoft JhengHei"/>
              </a:rPr>
              <a:t>HUB-PAA5163D</a:t>
            </a:r>
            <a:endParaRPr sz="13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217920" y="1828800"/>
            <a:ext cx="5760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066544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8" y="19019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光學流量感測：底部鏡頭比對像素移動，輸出 X/Y 位移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514600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235000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UART 介面（115200bps）輸出"X=NNN Y=NNN"格式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962656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279806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整合 6 軸 IMU（ICM42688）+ 電子羅盤（QMC5883P）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410712"/>
            <a:ext cx="100584" cy="10058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10528" y="324612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感測高度 5–40mm，適合懸空手寫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3867912"/>
            <a:ext cx="5760720" cy="502920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8328" y="388620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Microsoft JhengHei"/>
              </a:rPr>
              <a:t>AI 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模型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
YOLOv4-Tiny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4370832"/>
            <a:ext cx="5760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608576"/>
            <a:ext cx="100584" cy="10058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1208" y="444398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YOLO：一次前向傳播，同時偵測所有目標的位置+類別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56632"/>
            <a:ext cx="100584" cy="10058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8" y="48920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14 個輸出類別：數字 0–9 + 四則運算子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504688"/>
            <a:ext cx="100584" cy="10058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21208" y="5340096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訓練資料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：</a:t>
            </a:r>
            <a:r>
              <a:rPr lang="zh-TW" altLang="en-US" sz="1100" b="0" i="0" dirty="0">
                <a:solidFill>
                  <a:srgbClr val="303040"/>
                </a:solidFill>
                <a:latin typeface="Microsoft JhengHei"/>
              </a:rPr>
              <a:t>手寫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，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每類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 300 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952744"/>
            <a:ext cx="100584" cy="100584"/>
          </a:xfrm>
          <a:prstGeom prst="rect">
            <a:avLst/>
          </a:prstGeom>
          <a:solidFill>
            <a:srgbClr val="C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21208" y="5788152"/>
            <a:ext cx="53035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轉換流程</a:t>
            </a:r>
            <a:r>
              <a:rPr sz="1100" b="0" i="0" dirty="0">
                <a:solidFill>
                  <a:srgbClr val="303040"/>
                </a:solidFill>
                <a:latin typeface="Microsoft JhengHei"/>
              </a:rPr>
              <a:t>：.weights → Realtek .</a:t>
            </a:r>
            <a:r>
              <a:rPr sz="1100" b="0" i="0" dirty="0" err="1">
                <a:solidFill>
                  <a:srgbClr val="303040"/>
                </a:solidFill>
                <a:latin typeface="Microsoft JhengHei"/>
              </a:rPr>
              <a:t>nb</a:t>
            </a:r>
            <a:endParaRPr sz="1100" b="0" i="0" dirty="0">
              <a:solidFill>
                <a:srgbClr val="303040"/>
              </a:solidFill>
              <a:latin typeface="Microsoft Jheng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17920" y="3867912"/>
            <a:ext cx="5760720" cy="502920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27648" y="3892296"/>
            <a:ext cx="55778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嵌入式韌體</a:t>
            </a:r>
            <a:r>
              <a:rPr sz="1300" b="1" i="0" dirty="0">
                <a:solidFill>
                  <a:srgbClr val="FFFFFF"/>
                </a:solidFill>
                <a:latin typeface="Microsoft JhengHei"/>
              </a:rPr>
              <a:t>
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ai_</a:t>
            </a:r>
            <a:r>
              <a:rPr lang="en-US" sz="1300" b="1" i="0" dirty="0" err="1">
                <a:solidFill>
                  <a:srgbClr val="FFFFFF"/>
                </a:solidFill>
                <a:latin typeface="Microsoft JhengHei"/>
              </a:rPr>
              <a:t>PEN</a:t>
            </a:r>
            <a:r>
              <a:rPr sz="1300" b="1" i="0" dirty="0" err="1">
                <a:solidFill>
                  <a:srgbClr val="FFFFFF"/>
                </a:solidFill>
                <a:latin typeface="Microsoft JhengHei"/>
              </a:rPr>
              <a:t>.ino</a:t>
            </a:r>
            <a:endParaRPr sz="1300" b="1" i="0" dirty="0">
              <a:solidFill>
                <a:srgbClr val="FFFFFF"/>
              </a:solidFill>
              <a:latin typeface="Microsoft Jheng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217920" y="4370832"/>
            <a:ext cx="576072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355080" y="4608576"/>
            <a:ext cx="100584" cy="100584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10528" y="444398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狀態機：IDLE → CAPTURING（長按） → RECOGNIZING（雙擊）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56632"/>
            <a:ext cx="100584" cy="100584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0528" y="48920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autoFit()：正規化座標到 128×128，保持長寬比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504688"/>
            <a:ext cx="100584" cy="100584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10528" y="53400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renderToBmp()：Bresenham 算法繪製筆跡到點陣圖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5952744"/>
            <a:ext cx="100584" cy="100584"/>
          </a:xfrm>
          <a:prstGeom prst="rect">
            <a:avLst/>
          </a:prstGeom>
          <a:solidFill>
            <a:srgbClr val="FF9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0528" y="578815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03040"/>
                </a:solidFill>
                <a:latin typeface="Microsoft JhengHei"/>
              </a:rPr>
              <a:t>算式引擎：語法驗證 + 四則運算 + 除以零保護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3">
      <a:majorFont>
        <a:latin typeface="Aptos Display"/>
        <a:ea typeface="微軟正黑體"/>
        <a:cs typeface=""/>
      </a:majorFont>
      <a:minorFont>
        <a:latin typeface="Aptos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2637</TotalTime>
  <Words>4689</Words>
  <Application>Microsoft Office PowerPoint</Application>
  <PresentationFormat>自訂</PresentationFormat>
  <Paragraphs>795</Paragraphs>
  <Slides>43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43</vt:i4>
      </vt:variant>
    </vt:vector>
  </HeadingPairs>
  <TitlesOfParts>
    <vt:vector size="51" baseType="lpstr">
      <vt:lpstr>微軟正黑體</vt:lpstr>
      <vt:lpstr>微軟正黑體</vt:lpstr>
      <vt:lpstr>Aptos</vt:lpstr>
      <vt:lpstr>Aptos Display</vt:lpstr>
      <vt:lpstr>Arial</vt:lpstr>
      <vt:lpstr>Consolas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Roger Zhu</dc:creator>
  <cp:keywords/>
  <dc:description>generated using python-pptx</dc:description>
  <cp:lastModifiedBy>Roger</cp:lastModifiedBy>
  <cp:revision>44</cp:revision>
  <dcterms:created xsi:type="dcterms:W3CDTF">2013-01-27T09:14:16Z</dcterms:created>
  <dcterms:modified xsi:type="dcterms:W3CDTF">2026-05-12T02:34:00Z</dcterms:modified>
  <cp:category/>
</cp:coreProperties>
</file>